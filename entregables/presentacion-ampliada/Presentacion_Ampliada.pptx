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10 segundos.</a:t>
            </a:r>
          </a:p>
          <a:p/>
          <a:p>
            <a:r>
              <a:t>Territorio Preparado expresa el propósito: preparar espacios para emergencias. El sistema conecta ubicación, capacidad propuesta, servicios y comunicación. La imagen es conceptual: no acredita que un parque esté construido o habilitado así.</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15 segundos.</a:t>
            </a:r>
          </a:p>
          <a:p/>
          <a:p>
            <a:r>
              <a:t>Tomemos un escenario simulado de 300 personas. No basta elegir el parque más cercano. Debemos revisar amenaza, espacio disponible y servicios. El producto prepara una propuesta que se puede revisar; no toma la decisión de activación.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15 segundos.</a:t>
            </a:r>
          </a:p>
          <a:p/>
          <a:p>
            <a:r>
              <a:t>El equipo prepara; la autoridad decide; la comunidad aprende y se informa. Son roles del proceso propuesto, no una afirmación de que ya existe integración con las entidades ni un sistema de permisos operativos validado.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20 segundos.</a:t>
            </a:r>
          </a:p>
          <a:p/>
          <a:p>
            <a:r>
              <a:t>La base contiene 1.970 registros de espacio público efectivo. Conservamos fuente, geometría y cruces por amenaza. No sumamos puntos deportivos duplicables como lugares únicos. El caso que vamos a seguir es epou-9465, en Colinas del Sur: su existencia y área cartográfica no prueban disponibilidad.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25 segundos.</a:t>
            </a:r>
          </a:p>
          <a:p/>
          <a:p>
            <a:r>
              <a:t>La aptitud depende de la amenaza. Inundación y sismo usan cruces públicos disponibles. En incendios y sequía faltan evidencias para preseleccionar: el prototipo no inventa esa aptitud. Para sismo sigue siendo necesaria la evaluación correspondiente; no se certifican estructuras ni seguridad contra incendios.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25 segundos.</a:t>
            </a:r>
          </a:p>
          <a:p/>
          <a:p>
            <a:r>
              <a:t>El flujo permite detenerse y volver. Sin evidencia, queda pendiente; con restricciones, se revisa otro espacio; con sobreocupación, se recalcula. Incluso un borrador completo no invita a acudir hasta que la apertura esté confirmada. La preselección considera tres candidatos cercanos por distancia en línea recta, no rutas seguras.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20 segundos.</a:t>
            </a:r>
          </a:p>
          <a:p/>
          <a:p>
            <a:r>
              <a:t>Esta imagen conceptual muestra por qué no todo el predio es almacenamiento. Se necesitan áreas diferenciadas de atención, circulación y servicios. No es la distribución del parque del caso ni una obra diseñada por el sistema. Las cubiertas y el tanque ilustran funciones, no inventario ni capacidad verificadas.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30 segundos.</a:t>
            </a:r>
          </a:p>
          <a:p/>
          <a:p>
            <a:r>
              <a:t>Usamos la huella real de Colinas del Sur. Los descuentos son un ejemplo simulado: 100 metros no utilizables, 80 de circulación, 60 de atención y 40 de otros usos. No son mediciones. El resultado es 167,21 metros cuadrados. Un campo sin dato no vale cero; sin polígono o con datos incompletos, no se calcula capacidad utilizable.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25 segundos.</a:t>
            </a:r>
          </a:p>
          <a:p/>
          <a:p>
            <a:r>
              <a:t>Comprobamos la regla en la aplicación. Veinte módulos de diez metros cuadrados requieren doscientos y no caben en el balance. Dieciséis requieren ciento sesenta, por lo que se puede incluir la distribución en el borrador. La capacidad operacional sigue sin verificar. No se demuestra encaje en la forma irregular del predio ni aforo de personas.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20 segundos.</a:t>
            </a:r>
          </a:p>
          <a:p/>
          <a:p>
            <a:r>
              <a:t>Las referencias para 300 personas producen estas necesidades. Como no sabemos qué existe, no restamos cero ni afirmamos faltantes reales. Se conserva la brecha por medir y una entidad propuesta. El seguimiento actual es local: no representa asignación aceptada por una entidad externa.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20 segundos.</a:t>
            </a:r>
          </a:p>
          <a:p/>
          <a:p>
            <a:r>
              <a:t>La ciudadanía aprende qué hacer y cómo distinguir los tipos de punto. El aviso se dirige a toda la población, sin identificar quién es damnificado. La captura muestra cien destinatarios ficticios, entregas y pendientes simulados. El borrador mantiene apertura no confirmada; no se invita a acudir a un lugar que solo fue seleccionado en el mapa.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15 segundos.</a:t>
            </a:r>
          </a:p>
          <a:p/>
          <a:p>
            <a:r>
              <a:t>La propuesta es hacer explicable la preparación: criterios visibles, ocupación controlada y comunicación clara. Son capacidades demostradas en un prototipo, no impacto medido en una emergencia. Territorio Preparado propone; la autoridad decide.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arquitectura de esta etapa es un frontend con archivos públicos locales y reglas reproducibles. Los estados de revisión se guardan localmente y se exportan borradores. No hay integración operativa con proveedores SMS o entidades; las capturas de la presentación muestran la implementación real disponible.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controles limitan las afirmaciones del sistema. No presentamos el desconocimiento como cero, la cercanía como seguridad o una captura como autorización. El retorno al uso cotidiano es parte del proceso previsto, no un acto ya realizado. La validación con entidades sigue fuera de esta etapa.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hoja de ruta no contiene fechas o resultados inventados. Para operar hacen falta mediciones, comprobaciones técnicas, integración y validación. En la etapa actual el usuario excluyó la validación con entidades; se conserva como pendiente, no como logro. Los objetivos TRL e IRL del hackathon no se presentan como certificaciones alcanzadas.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Fuentes primarias y trazabilidad. Las imágenes de cartografía derivan del inventario local del proyecto. Las capturas son del frontend con la marca Territorio Preparado. La imagen arquitectónica es una ilustración conceptual generada para esta presentación: no una fotografía de Cali ni un diseño aprobado.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tos.cali.gov.co/dataset/epou-espacio-publico-efectivo" TargetMode="External"/><Relationship Id="rId3" Type="http://schemas.openxmlformats.org/officeDocument/2006/relationships/hyperlink" Target="https://www.datos.gov.co/dataset/Comunas-de-Santiago-de-Cali/dx2g-2mhm" TargetMode="External"/><Relationship Id="rId4" Type="http://schemas.openxmlformats.org/officeDocument/2006/relationships/hyperlink" Target="https://spherestandards.org/wp-content/uploads/Sphere-Handbook-2018-EN.pdf" TargetMode="External"/><Relationship Id="rId5" Type="http://schemas.openxmlformats.org/officeDocument/2006/relationships/hyperlink" Target="https://portal.gestiondelriesgo.gov.co/Paginas/inundaciones.aspx" TargetMode="External"/><Relationship Id="rId6" Type="http://schemas.openxmlformats.org/officeDocument/2006/relationships/hyperlink" Target="https://github.com/leonidas452528/hackaton-camaracomercio2026" TargetMode="External"/><Relationship Id="rId7"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530"/>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14323D"/>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FFFFFF"/>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A8C6BE"/>
                </a:solidFill>
                <a:latin typeface="DejaVu Sans"/>
              </a:defRPr>
            </a:pPr>
            <a:r>
              <a:t>PREPARACIÓN DE ESPACIOS + COORDINACIÓN DE AYUDAS</a:t>
            </a:r>
          </a:p>
        </p:txBody>
      </p:sp>
      <p:sp>
        <p:nvSpPr>
          <p:cNvPr id="6" name="Rectangle 5"/>
          <p:cNvSpPr/>
          <p:nvPr/>
        </p:nvSpPr>
        <p:spPr>
          <a:xfrm>
            <a:off x="548640" y="6419088"/>
            <a:ext cx="11064240" cy="10972"/>
          </a:xfrm>
          <a:prstGeom prst="rect">
            <a:avLst/>
          </a:prstGeom>
          <a:solidFill>
            <a:srgbClr val="31505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A8C6BE"/>
                </a:solidFill>
                <a:latin typeface="DejaVu Sans"/>
              </a:defRPr>
            </a:pPr>
            <a:r>
              <a:t>Ilustración conceptual generada con IA · no representa un parque real, inventario ni diseño aprobado</a:t>
            </a:r>
          </a:p>
        </p:txBody>
      </p:sp>
      <p:sp>
        <p:nvSpPr>
          <p:cNvPr id="8" name="TextBox 7"/>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FFFFFF"/>
                </a:solidFill>
                <a:latin typeface="DejaVu Sans"/>
              </a:defRPr>
            </a:pPr>
            <a:r>
              <a:t>01</a:t>
            </a:r>
          </a:p>
        </p:txBody>
      </p:sp>
      <p:pic>
        <p:nvPicPr>
          <p:cNvPr id="9" name="Picture 8" descr="espacio-conceptual.png"/>
          <p:cNvPicPr>
            <a:picLocks noChangeAspect="1"/>
          </p:cNvPicPr>
          <p:nvPr/>
        </p:nvPicPr>
        <p:blipFill>
          <a:blip r:embed="rId2"/>
          <a:stretch>
            <a:fillRect/>
          </a:stretch>
        </p:blipFill>
        <p:spPr>
          <a:xfrm>
            <a:off x="5367528" y="1348925"/>
            <a:ext cx="6400800" cy="3602364"/>
          </a:xfrm>
          <a:prstGeom prst="rect">
            <a:avLst/>
          </a:prstGeom>
        </p:spPr>
      </p:pic>
      <p:sp>
        <p:nvSpPr>
          <p:cNvPr id="10" name="TextBox 9"/>
          <p:cNvSpPr txBox="1"/>
          <p:nvPr/>
        </p:nvSpPr>
        <p:spPr>
          <a:xfrm>
            <a:off x="566928" y="1325880"/>
            <a:ext cx="4709160" cy="1508760"/>
          </a:xfrm>
          <a:prstGeom prst="rect">
            <a:avLst/>
          </a:prstGeom>
          <a:noFill/>
        </p:spPr>
        <p:txBody>
          <a:bodyPr wrap="square" lIns="0" rIns="0" tIns="0" bIns="0">
            <a:spAutoFit/>
          </a:bodyPr>
          <a:lstStyle/>
          <a:p>
            <a:pPr algn="l">
              <a:lnSpc>
                <a:spcPct val="105000"/>
              </a:lnSpc>
              <a:spcBef>
                <a:spcPts val="0"/>
              </a:spcBef>
              <a:spcAft>
                <a:spcPts val="500"/>
              </a:spcAft>
              <a:defRPr sz="4200" b="1">
                <a:solidFill>
                  <a:srgbClr val="FFFFFF"/>
                </a:solidFill>
                <a:latin typeface="DejaVu Sans"/>
              </a:defRPr>
            </a:pPr>
            <a:r>
              <a:t>Territorio</a:t>
            </a:r>
          </a:p>
          <a:p>
            <a:pPr algn="l">
              <a:lnSpc>
                <a:spcPct val="105000"/>
              </a:lnSpc>
              <a:spcBef>
                <a:spcPts val="0"/>
              </a:spcBef>
              <a:spcAft>
                <a:spcPts val="500"/>
              </a:spcAft>
              <a:defRPr sz="4200" b="1">
                <a:solidFill>
                  <a:srgbClr val="FFFFFF"/>
                </a:solidFill>
                <a:latin typeface="DejaVu Sans"/>
              </a:defRPr>
            </a:pPr>
            <a:r>
              <a:t>Preparado</a:t>
            </a:r>
          </a:p>
        </p:txBody>
      </p:sp>
      <p:sp>
        <p:nvSpPr>
          <p:cNvPr id="11" name="TextBox 10"/>
          <p:cNvSpPr txBox="1"/>
          <p:nvPr/>
        </p:nvSpPr>
        <p:spPr>
          <a:xfrm>
            <a:off x="594360" y="3063240"/>
            <a:ext cx="4617720" cy="1097280"/>
          </a:xfrm>
          <a:prstGeom prst="rect">
            <a:avLst/>
          </a:prstGeom>
          <a:noFill/>
        </p:spPr>
        <p:txBody>
          <a:bodyPr wrap="square" lIns="0" rIns="0" tIns="0" bIns="0">
            <a:spAutoFit/>
          </a:bodyPr>
          <a:lstStyle/>
          <a:p>
            <a:pPr algn="l">
              <a:lnSpc>
                <a:spcPct val="105000"/>
              </a:lnSpc>
              <a:spcBef>
                <a:spcPts val="0"/>
              </a:spcBef>
              <a:spcAft>
                <a:spcPts val="500"/>
              </a:spcAft>
              <a:defRPr sz="2400" b="1">
                <a:solidFill>
                  <a:srgbClr val="FFFFFF"/>
                </a:solidFill>
                <a:latin typeface="DejaVu Sans"/>
              </a:defRPr>
            </a:pPr>
            <a:r>
              <a:t>Espacios y ayudas coordinados ante emergencias</a:t>
            </a:r>
          </a:p>
        </p:txBody>
      </p:sp>
      <p:sp>
        <p:nvSpPr>
          <p:cNvPr id="12" name="TextBox 11"/>
          <p:cNvSpPr txBox="1"/>
          <p:nvPr/>
        </p:nvSpPr>
        <p:spPr>
          <a:xfrm>
            <a:off x="594360" y="4352544"/>
            <a:ext cx="4709160" cy="914400"/>
          </a:xfrm>
          <a:prstGeom prst="rect">
            <a:avLst/>
          </a:prstGeom>
          <a:noFill/>
        </p:spPr>
        <p:txBody>
          <a:bodyPr wrap="square" lIns="0" rIns="0" tIns="0" bIns="0">
            <a:spAutoFit/>
          </a:bodyPr>
          <a:lstStyle/>
          <a:p>
            <a:pPr algn="l">
              <a:lnSpc>
                <a:spcPct val="105000"/>
              </a:lnSpc>
              <a:spcBef>
                <a:spcPts val="0"/>
              </a:spcBef>
              <a:spcAft>
                <a:spcPts val="500"/>
              </a:spcAft>
              <a:defRPr sz="2100" b="0">
                <a:solidFill>
                  <a:srgbClr val="C1DADE"/>
                </a:solidFill>
                <a:latin typeface="DejaVu Sans"/>
              </a:defRPr>
            </a:pPr>
            <a:r>
              <a:t>Dónde preparar.</a:t>
            </a:r>
          </a:p>
          <a:p>
            <a:pPr algn="l">
              <a:lnSpc>
                <a:spcPct val="105000"/>
              </a:lnSpc>
              <a:spcBef>
                <a:spcPts val="0"/>
              </a:spcBef>
              <a:spcAft>
                <a:spcPts val="500"/>
              </a:spcAft>
              <a:defRPr sz="2100" b="0">
                <a:solidFill>
                  <a:srgbClr val="C1DADE"/>
                </a:solidFill>
                <a:latin typeface="DejaVu Sans"/>
              </a:defRPr>
            </a:pPr>
            <a:r>
              <a:t>Cuánto proponer.</a:t>
            </a:r>
          </a:p>
          <a:p>
            <a:pPr algn="l">
              <a:lnSpc>
                <a:spcPct val="105000"/>
              </a:lnSpc>
              <a:spcBef>
                <a:spcPts val="0"/>
              </a:spcBef>
              <a:spcAft>
                <a:spcPts val="500"/>
              </a:spcAft>
              <a:defRPr sz="2100" b="0">
                <a:solidFill>
                  <a:srgbClr val="C1DADE"/>
                </a:solidFill>
                <a:latin typeface="DejaVu Sans"/>
              </a:defRPr>
            </a:pPr>
            <a:r>
              <a:t>Qué falta resolver.</a:t>
            </a:r>
          </a:p>
        </p:txBody>
      </p:sp>
      <p:sp>
        <p:nvSpPr>
          <p:cNvPr id="13" name="Rounded Rectangle 12"/>
          <p:cNvSpPr/>
          <p:nvPr/>
        </p:nvSpPr>
        <p:spPr>
          <a:xfrm>
            <a:off x="5522976" y="5440680"/>
            <a:ext cx="1847088" cy="292608"/>
          </a:xfrm>
          <a:prstGeom prst="roundRect">
            <a:avLst>
              <a:gd name="adj" fmla="val 9000"/>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632704" y="5490972"/>
            <a:ext cx="1664208"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4323D"/>
                </a:solidFill>
                <a:latin typeface="DejaVu Sans"/>
              </a:defRPr>
            </a:pPr>
            <a:r>
              <a:t>TERRITORIO</a:t>
            </a:r>
          </a:p>
        </p:txBody>
      </p:sp>
      <p:sp>
        <p:nvSpPr>
          <p:cNvPr id="15" name="Rounded Rectangle 14"/>
          <p:cNvSpPr/>
          <p:nvPr/>
        </p:nvSpPr>
        <p:spPr>
          <a:xfrm>
            <a:off x="7525512" y="5440680"/>
            <a:ext cx="1847088" cy="292608"/>
          </a:xfrm>
          <a:prstGeom prst="roundRect">
            <a:avLst>
              <a:gd name="adj" fmla="val 9000"/>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635240" y="5490972"/>
            <a:ext cx="1664208"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4323D"/>
                </a:solidFill>
                <a:latin typeface="DejaVu Sans"/>
              </a:defRPr>
            </a:pPr>
            <a:r>
              <a:t>CAPACIDAD</a:t>
            </a:r>
          </a:p>
        </p:txBody>
      </p:sp>
      <p:sp>
        <p:nvSpPr>
          <p:cNvPr id="17" name="Rounded Rectangle 16"/>
          <p:cNvSpPr/>
          <p:nvPr/>
        </p:nvSpPr>
        <p:spPr>
          <a:xfrm>
            <a:off x="9528048" y="5440680"/>
            <a:ext cx="1847088" cy="292608"/>
          </a:xfrm>
          <a:prstGeom prst="roundRect">
            <a:avLst>
              <a:gd name="adj" fmla="val 9000"/>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637776" y="5490972"/>
            <a:ext cx="1664208"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4323D"/>
                </a:solidFill>
                <a:latin typeface="DejaVu Sans"/>
              </a:defRPr>
            </a:pPr>
            <a:r>
              <a:t>COMUNIDAD</a:t>
            </a:r>
          </a:p>
        </p:txBody>
      </p:sp>
      <p:sp>
        <p:nvSpPr>
          <p:cNvPr id="19" name="Rounded Rectangle 18"/>
          <p:cNvSpPr/>
          <p:nvPr/>
        </p:nvSpPr>
        <p:spPr>
          <a:xfrm>
            <a:off x="594360" y="5797296"/>
            <a:ext cx="4297680" cy="292608"/>
          </a:xfrm>
          <a:prstGeom prst="roundRect">
            <a:avLst>
              <a:gd name="adj" fmla="val 9000"/>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04088" y="5847588"/>
            <a:ext cx="4114800"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4323D"/>
                </a:solidFill>
                <a:latin typeface="DejaVu Sans"/>
              </a:defRPr>
            </a:pPr>
            <a:r>
              <a:t>PLANEACIÓN PARA EMERGENCIAS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4323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4323D"/>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LA SITUACIÓN QUE DEBEMOS RESOLVER</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4323D"/>
                </a:solidFill>
                <a:latin typeface="DejaVu Sans"/>
              </a:defRPr>
            </a:pPr>
            <a:r>
              <a:t>Hay personas por atender.</a:t>
            </a:r>
          </a:p>
          <a:p>
            <a:pPr algn="l">
              <a:lnSpc>
                <a:spcPct val="105000"/>
              </a:lnSpc>
              <a:spcBef>
                <a:spcPts val="0"/>
              </a:spcBef>
              <a:spcAft>
                <a:spcPts val="500"/>
              </a:spcAft>
              <a:defRPr sz="3200" b="1">
                <a:solidFill>
                  <a:srgbClr val="14323D"/>
                </a:solidFill>
                <a:latin typeface="DejaVu Sans"/>
              </a:defRPr>
            </a:pPr>
            <a:r>
              <a:t>¿Está listo el lugar?</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Producto: Territorio Preparado · Responde al RETO-01 Cali Activa · Prototipo</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4323D"/>
                </a:solidFill>
                <a:latin typeface="DejaVu Sans"/>
              </a:defRPr>
            </a:pPr>
            <a:r>
              <a:t>02</a:t>
            </a:r>
          </a:p>
        </p:txBody>
      </p:sp>
      <p:sp>
        <p:nvSpPr>
          <p:cNvPr id="10" name="Rounded Rectangle 9"/>
          <p:cNvSpPr/>
          <p:nvPr/>
        </p:nvSpPr>
        <p:spPr>
          <a:xfrm>
            <a:off x="594360" y="2331720"/>
            <a:ext cx="5577840" cy="292608"/>
          </a:xfrm>
          <a:prstGeom prst="roundRect">
            <a:avLst>
              <a:gd name="adj" fmla="val 9000"/>
            </a:avLst>
          </a:prstGeom>
          <a:solidFill>
            <a:srgbClr val="E3ECD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04088" y="2382012"/>
            <a:ext cx="5394959"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4323D"/>
                </a:solidFill>
                <a:latin typeface="DejaVu Sans"/>
              </a:defRPr>
            </a:pPr>
            <a:r>
              <a:t>CASO DE DEMOSTRACIÓN · POBLACIÓN SIMULADA</a:t>
            </a:r>
          </a:p>
        </p:txBody>
      </p:sp>
      <p:sp>
        <p:nvSpPr>
          <p:cNvPr id="12" name="TextBox 11"/>
          <p:cNvSpPr txBox="1"/>
          <p:nvPr/>
        </p:nvSpPr>
        <p:spPr>
          <a:xfrm>
            <a:off x="603504" y="2980944"/>
            <a:ext cx="3063240" cy="914400"/>
          </a:xfrm>
          <a:prstGeom prst="rect">
            <a:avLst/>
          </a:prstGeom>
          <a:noFill/>
        </p:spPr>
        <p:txBody>
          <a:bodyPr wrap="square" lIns="0" rIns="0" tIns="0" bIns="0">
            <a:spAutoFit/>
          </a:bodyPr>
          <a:lstStyle/>
          <a:p>
            <a:pPr algn="l">
              <a:lnSpc>
                <a:spcPct val="105000"/>
              </a:lnSpc>
              <a:spcBef>
                <a:spcPts val="0"/>
              </a:spcBef>
              <a:spcAft>
                <a:spcPts val="500"/>
              </a:spcAft>
              <a:defRPr sz="6900" b="1">
                <a:solidFill>
                  <a:srgbClr val="087F80"/>
                </a:solidFill>
                <a:latin typeface="DejaVu Sans"/>
              </a:defRPr>
            </a:pPr>
            <a:r>
              <a:t>300</a:t>
            </a:r>
          </a:p>
        </p:txBody>
      </p:sp>
      <p:sp>
        <p:nvSpPr>
          <p:cNvPr id="13" name="TextBox 12"/>
          <p:cNvSpPr txBox="1"/>
          <p:nvPr/>
        </p:nvSpPr>
        <p:spPr>
          <a:xfrm>
            <a:off x="612648" y="4032504"/>
            <a:ext cx="2971800" cy="612648"/>
          </a:xfrm>
          <a:prstGeom prst="rect">
            <a:avLst/>
          </a:prstGeom>
          <a:noFill/>
        </p:spPr>
        <p:txBody>
          <a:bodyPr wrap="square" lIns="0" rIns="0" tIns="0" bIns="0">
            <a:spAutoFit/>
          </a:bodyPr>
          <a:lstStyle/>
          <a:p>
            <a:pPr algn="l">
              <a:lnSpc>
                <a:spcPct val="105000"/>
              </a:lnSpc>
              <a:spcBef>
                <a:spcPts val="0"/>
              </a:spcBef>
              <a:spcAft>
                <a:spcPts val="500"/>
              </a:spcAft>
              <a:defRPr sz="1900" b="1">
                <a:solidFill>
                  <a:srgbClr val="14323D"/>
                </a:solidFill>
                <a:latin typeface="DejaVu Sans"/>
              </a:defRPr>
            </a:pPr>
            <a:r>
              <a:t>personas en el</a:t>
            </a:r>
          </a:p>
          <a:p>
            <a:pPr algn="l">
              <a:lnSpc>
                <a:spcPct val="105000"/>
              </a:lnSpc>
              <a:spcBef>
                <a:spcPts val="0"/>
              </a:spcBef>
              <a:spcAft>
                <a:spcPts val="500"/>
              </a:spcAft>
              <a:defRPr sz="1900" b="1">
                <a:solidFill>
                  <a:srgbClr val="14323D"/>
                </a:solidFill>
                <a:latin typeface="DejaVu Sans"/>
              </a:defRPr>
            </a:pPr>
            <a:r>
              <a:t>escenario de atención</a:t>
            </a:r>
          </a:p>
        </p:txBody>
      </p:sp>
      <p:sp>
        <p:nvSpPr>
          <p:cNvPr id="14" name="Rectangle 13"/>
          <p:cNvSpPr/>
          <p:nvPr/>
        </p:nvSpPr>
        <p:spPr>
          <a:xfrm>
            <a:off x="4014215" y="2624328"/>
            <a:ext cx="18288"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379976" y="2715768"/>
            <a:ext cx="6620256" cy="310896"/>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087F80"/>
                </a:solidFill>
                <a:latin typeface="DejaVu Sans"/>
              </a:defRPr>
            </a:pPr>
            <a:r>
              <a:t>UBICACIÓN</a:t>
            </a:r>
          </a:p>
        </p:txBody>
      </p:sp>
      <p:sp>
        <p:nvSpPr>
          <p:cNvPr id="16" name="TextBox 15"/>
          <p:cNvSpPr txBox="1"/>
          <p:nvPr/>
        </p:nvSpPr>
        <p:spPr>
          <a:xfrm>
            <a:off x="4379976" y="3099816"/>
            <a:ext cx="6766560" cy="502920"/>
          </a:xfrm>
          <a:prstGeom prst="rect">
            <a:avLst/>
          </a:prstGeom>
          <a:noFill/>
        </p:spPr>
        <p:txBody>
          <a:bodyPr wrap="square" lIns="0" rIns="0" tIns="0" bIns="0">
            <a:spAutoFit/>
          </a:bodyPr>
          <a:lstStyle/>
          <a:p>
            <a:pPr algn="l">
              <a:lnSpc>
                <a:spcPct val="105000"/>
              </a:lnSpc>
              <a:spcBef>
                <a:spcPts val="0"/>
              </a:spcBef>
              <a:spcAft>
                <a:spcPts val="500"/>
              </a:spcAft>
              <a:defRPr sz="1900" b="0">
                <a:solidFill>
                  <a:srgbClr val="14323D"/>
                </a:solidFill>
                <a:latin typeface="DejaVu Sans"/>
              </a:defRPr>
            </a:pPr>
            <a:r>
              <a:t>¿Qué espacios tienen restricciones por la amenaza?</a:t>
            </a:r>
          </a:p>
        </p:txBody>
      </p:sp>
      <p:sp>
        <p:nvSpPr>
          <p:cNvPr id="17" name="TextBox 16"/>
          <p:cNvSpPr txBox="1"/>
          <p:nvPr/>
        </p:nvSpPr>
        <p:spPr>
          <a:xfrm>
            <a:off x="4379976" y="3675888"/>
            <a:ext cx="6620256" cy="310896"/>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087F80"/>
                </a:solidFill>
                <a:latin typeface="DejaVu Sans"/>
              </a:defRPr>
            </a:pPr>
            <a:r>
              <a:t>OCUPACIÓN</a:t>
            </a:r>
          </a:p>
        </p:txBody>
      </p:sp>
      <p:sp>
        <p:nvSpPr>
          <p:cNvPr id="18" name="TextBox 17"/>
          <p:cNvSpPr txBox="1"/>
          <p:nvPr/>
        </p:nvSpPr>
        <p:spPr>
          <a:xfrm>
            <a:off x="4379976" y="4059936"/>
            <a:ext cx="6766560" cy="502920"/>
          </a:xfrm>
          <a:prstGeom prst="rect">
            <a:avLst/>
          </a:prstGeom>
          <a:noFill/>
        </p:spPr>
        <p:txBody>
          <a:bodyPr wrap="square" lIns="0" rIns="0" tIns="0" bIns="0">
            <a:spAutoFit/>
          </a:bodyPr>
          <a:lstStyle/>
          <a:p>
            <a:pPr algn="l">
              <a:lnSpc>
                <a:spcPct val="105000"/>
              </a:lnSpc>
              <a:spcBef>
                <a:spcPts val="0"/>
              </a:spcBef>
              <a:spcAft>
                <a:spcPts val="500"/>
              </a:spcAft>
              <a:defRPr sz="1900" b="0">
                <a:solidFill>
                  <a:srgbClr val="14323D"/>
                </a:solidFill>
                <a:latin typeface="DejaVu Sans"/>
              </a:defRPr>
            </a:pPr>
            <a:r>
              <a:t>¿Qué área queda para acopio, circulación y atención?</a:t>
            </a:r>
          </a:p>
        </p:txBody>
      </p:sp>
      <p:sp>
        <p:nvSpPr>
          <p:cNvPr id="19" name="TextBox 18"/>
          <p:cNvSpPr txBox="1"/>
          <p:nvPr/>
        </p:nvSpPr>
        <p:spPr>
          <a:xfrm>
            <a:off x="4379976" y="4636008"/>
            <a:ext cx="6620256" cy="310896"/>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087F80"/>
                </a:solidFill>
                <a:latin typeface="DejaVu Sans"/>
              </a:defRPr>
            </a:pPr>
            <a:r>
              <a:t>COORDINACIÓN</a:t>
            </a:r>
          </a:p>
        </p:txBody>
      </p:sp>
      <p:sp>
        <p:nvSpPr>
          <p:cNvPr id="20" name="TextBox 19"/>
          <p:cNvSpPr txBox="1"/>
          <p:nvPr/>
        </p:nvSpPr>
        <p:spPr>
          <a:xfrm>
            <a:off x="4379976" y="5020056"/>
            <a:ext cx="6766560" cy="502920"/>
          </a:xfrm>
          <a:prstGeom prst="rect">
            <a:avLst/>
          </a:prstGeom>
          <a:noFill/>
        </p:spPr>
        <p:txBody>
          <a:bodyPr wrap="square" lIns="0" rIns="0" tIns="0" bIns="0">
            <a:spAutoFit/>
          </a:bodyPr>
          <a:lstStyle/>
          <a:p>
            <a:pPr algn="l">
              <a:lnSpc>
                <a:spcPct val="105000"/>
              </a:lnSpc>
              <a:spcBef>
                <a:spcPts val="0"/>
              </a:spcBef>
              <a:spcAft>
                <a:spcPts val="500"/>
              </a:spcAft>
              <a:defRPr sz="1900" b="0">
                <a:solidFill>
                  <a:srgbClr val="14323D"/>
                </a:solidFill>
                <a:latin typeface="DejaVu Sans"/>
              </a:defRPr>
            </a:pPr>
            <a:r>
              <a:t>¿Qué servicios faltan y a quién se propone dar seguimiento?</a:t>
            </a:r>
          </a:p>
        </p:txBody>
      </p:sp>
      <p:sp>
        <p:nvSpPr>
          <p:cNvPr id="21" name="TextBox 20"/>
          <p:cNvSpPr txBox="1"/>
          <p:nvPr/>
        </p:nvSpPr>
        <p:spPr>
          <a:xfrm>
            <a:off x="603504" y="5907024"/>
            <a:ext cx="10972800" cy="347472"/>
          </a:xfrm>
          <a:prstGeom prst="rect">
            <a:avLst/>
          </a:prstGeom>
          <a:noFill/>
        </p:spPr>
        <p:txBody>
          <a:bodyPr wrap="square" lIns="0" rIns="0" tIns="0" bIns="0">
            <a:spAutoFit/>
          </a:bodyPr>
          <a:lstStyle/>
          <a:p>
            <a:pPr algn="l">
              <a:lnSpc>
                <a:spcPct val="105000"/>
              </a:lnSpc>
              <a:spcBef>
                <a:spcPts val="0"/>
              </a:spcBef>
              <a:spcAft>
                <a:spcPts val="500"/>
              </a:spcAft>
              <a:defRPr sz="2000" b="1">
                <a:solidFill>
                  <a:srgbClr val="087F80"/>
                </a:solidFill>
                <a:latin typeface="DejaVu Sans"/>
              </a:defRPr>
            </a:pPr>
            <a:r>
              <a:t>La salida es una propuesta revisable, con criterios y vacíos visibles.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4323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4323D"/>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USUARIOS Y RESPONSABILIDADES</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4323D"/>
                </a:solidFill>
                <a:latin typeface="DejaVu Sans"/>
              </a:defRPr>
            </a:pPr>
            <a:r>
              <a:t>Tres actores. Una información conectada.</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Producto: Territorio Preparado · Responde al RETO-01 Cali Activa · Prototipo</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4323D"/>
                </a:solidFill>
                <a:latin typeface="DejaVu Sans"/>
              </a:defRPr>
            </a:pPr>
            <a:r>
              <a:t>03</a:t>
            </a:r>
          </a:p>
        </p:txBody>
      </p:sp>
      <p:sp>
        <p:nvSpPr>
          <p:cNvPr id="10" name="Rounded Rectangle 9"/>
          <p:cNvSpPr/>
          <p:nvPr/>
        </p:nvSpPr>
        <p:spPr>
          <a:xfrm>
            <a:off x="548640" y="2505456"/>
            <a:ext cx="3493008" cy="3502152"/>
          </a:xfrm>
          <a:prstGeom prst="roundRect">
            <a:avLst>
              <a:gd name="adj" fmla="val 900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722376" y="2688336"/>
            <a:ext cx="3145536" cy="292608"/>
          </a:xfrm>
          <a:prstGeom prst="roundRect">
            <a:avLst>
              <a:gd name="adj" fmla="val 9000"/>
            </a:avLst>
          </a:prstGeom>
          <a:solidFill>
            <a:srgbClr val="E3ECD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32104" y="2738628"/>
            <a:ext cx="2962656"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4323D"/>
                </a:solidFill>
                <a:latin typeface="DejaVu Sans"/>
              </a:defRPr>
            </a:pPr>
            <a:r>
              <a:t>EQUIPO DE PREPARACIÓN</a:t>
            </a:r>
          </a:p>
        </p:txBody>
      </p:sp>
      <p:sp>
        <p:nvSpPr>
          <p:cNvPr id="13" name="TextBox 12"/>
          <p:cNvSpPr txBox="1"/>
          <p:nvPr/>
        </p:nvSpPr>
        <p:spPr>
          <a:xfrm>
            <a:off x="731520" y="3264408"/>
            <a:ext cx="3136392" cy="859536"/>
          </a:xfrm>
          <a:prstGeom prst="rect">
            <a:avLst/>
          </a:prstGeom>
          <a:noFill/>
        </p:spPr>
        <p:txBody>
          <a:bodyPr wrap="square" lIns="0" rIns="0" tIns="0" bIns="0">
            <a:spAutoFit/>
          </a:bodyPr>
          <a:lstStyle/>
          <a:p>
            <a:pPr algn="l">
              <a:lnSpc>
                <a:spcPct val="105000"/>
              </a:lnSpc>
              <a:spcBef>
                <a:spcPts val="0"/>
              </a:spcBef>
              <a:spcAft>
                <a:spcPts val="500"/>
              </a:spcAft>
              <a:defRPr sz="2500" b="1">
                <a:solidFill>
                  <a:srgbClr val="14323D"/>
                </a:solidFill>
                <a:latin typeface="DejaVu Sans"/>
              </a:defRPr>
            </a:pPr>
            <a:r>
              <a:t>Caracteriza y propone</a:t>
            </a:r>
          </a:p>
        </p:txBody>
      </p:sp>
      <p:sp>
        <p:nvSpPr>
          <p:cNvPr id="14" name="TextBox 13"/>
          <p:cNvSpPr txBox="1"/>
          <p:nvPr/>
        </p:nvSpPr>
        <p:spPr>
          <a:xfrm>
            <a:off x="731520" y="4224528"/>
            <a:ext cx="3108960" cy="941832"/>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536D70"/>
                </a:solidFill>
                <a:latin typeface="DejaVu Sans"/>
              </a:defRPr>
            </a:pPr>
            <a:r>
              <a:t>Consulta el territorio, registra supuestos, calcula necesidades y revisa brechas.</a:t>
            </a:r>
          </a:p>
        </p:txBody>
      </p:sp>
      <p:sp>
        <p:nvSpPr>
          <p:cNvPr id="15" name="Rectangle 14"/>
          <p:cNvSpPr/>
          <p:nvPr/>
        </p:nvSpPr>
        <p:spPr>
          <a:xfrm>
            <a:off x="731520" y="5385816"/>
            <a:ext cx="3118104"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31520" y="5550408"/>
            <a:ext cx="3108960" cy="338328"/>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087F80"/>
                </a:solidFill>
                <a:latin typeface="DejaVu Sans"/>
              </a:defRPr>
            </a:pPr>
            <a:r>
              <a:t>Entrega: borrador explicable</a:t>
            </a:r>
          </a:p>
        </p:txBody>
      </p:sp>
      <p:sp>
        <p:nvSpPr>
          <p:cNvPr id="17" name="Rounded Rectangle 16"/>
          <p:cNvSpPr/>
          <p:nvPr/>
        </p:nvSpPr>
        <p:spPr>
          <a:xfrm>
            <a:off x="4352544" y="2505456"/>
            <a:ext cx="3493008" cy="3502152"/>
          </a:xfrm>
          <a:prstGeom prst="roundRect">
            <a:avLst>
              <a:gd name="adj" fmla="val 900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4526280" y="2688336"/>
            <a:ext cx="3145536" cy="292608"/>
          </a:xfrm>
          <a:prstGeom prst="roundRect">
            <a:avLst>
              <a:gd name="adj" fmla="val 9000"/>
            </a:avLst>
          </a:prstGeom>
          <a:solidFill>
            <a:srgbClr val="E3ECD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636008" y="2738628"/>
            <a:ext cx="2962656"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4323D"/>
                </a:solidFill>
                <a:latin typeface="DejaVu Sans"/>
              </a:defRPr>
            </a:pPr>
            <a:r>
              <a:t>AUTORIDAD COMPETENTE</a:t>
            </a:r>
          </a:p>
        </p:txBody>
      </p:sp>
      <p:sp>
        <p:nvSpPr>
          <p:cNvPr id="20" name="TextBox 19"/>
          <p:cNvSpPr txBox="1"/>
          <p:nvPr/>
        </p:nvSpPr>
        <p:spPr>
          <a:xfrm>
            <a:off x="4535424" y="3264408"/>
            <a:ext cx="3136392" cy="859536"/>
          </a:xfrm>
          <a:prstGeom prst="rect">
            <a:avLst/>
          </a:prstGeom>
          <a:noFill/>
        </p:spPr>
        <p:txBody>
          <a:bodyPr wrap="square" lIns="0" rIns="0" tIns="0" bIns="0">
            <a:spAutoFit/>
          </a:bodyPr>
          <a:lstStyle/>
          <a:p>
            <a:pPr algn="l">
              <a:lnSpc>
                <a:spcPct val="105000"/>
              </a:lnSpc>
              <a:spcBef>
                <a:spcPts val="0"/>
              </a:spcBef>
              <a:spcAft>
                <a:spcPts val="500"/>
              </a:spcAft>
              <a:defRPr sz="2500" b="1">
                <a:solidFill>
                  <a:srgbClr val="14323D"/>
                </a:solidFill>
                <a:latin typeface="DejaVu Sans"/>
              </a:defRPr>
            </a:pPr>
            <a:r>
              <a:t>Revisa y decide</a:t>
            </a:r>
          </a:p>
        </p:txBody>
      </p:sp>
      <p:sp>
        <p:nvSpPr>
          <p:cNvPr id="21" name="TextBox 20"/>
          <p:cNvSpPr txBox="1"/>
          <p:nvPr/>
        </p:nvSpPr>
        <p:spPr>
          <a:xfrm>
            <a:off x="4535424" y="4224528"/>
            <a:ext cx="3108960" cy="941832"/>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536D70"/>
                </a:solidFill>
                <a:latin typeface="DejaVu Sans"/>
              </a:defRPr>
            </a:pPr>
            <a:r>
              <a:t>Determina habilitación y condiciones de apertura. La aplicación no sustituye esa decisión.</a:t>
            </a:r>
          </a:p>
        </p:txBody>
      </p:sp>
      <p:sp>
        <p:nvSpPr>
          <p:cNvPr id="22" name="Rectangle 21"/>
          <p:cNvSpPr/>
          <p:nvPr/>
        </p:nvSpPr>
        <p:spPr>
          <a:xfrm>
            <a:off x="4535424" y="5385816"/>
            <a:ext cx="3118104"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535424" y="5550408"/>
            <a:ext cx="3108960" cy="338328"/>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087F80"/>
                </a:solidFill>
                <a:latin typeface="DejaVu Sans"/>
              </a:defRPr>
            </a:pPr>
            <a:r>
              <a:t>Salida externa: decisión de activación</a:t>
            </a:r>
          </a:p>
        </p:txBody>
      </p:sp>
      <p:sp>
        <p:nvSpPr>
          <p:cNvPr id="24" name="Rounded Rectangle 23"/>
          <p:cNvSpPr/>
          <p:nvPr/>
        </p:nvSpPr>
        <p:spPr>
          <a:xfrm>
            <a:off x="8156448" y="2505456"/>
            <a:ext cx="3493008" cy="3502152"/>
          </a:xfrm>
          <a:prstGeom prst="roundRect">
            <a:avLst>
              <a:gd name="adj" fmla="val 900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ounded Rectangle 24"/>
          <p:cNvSpPr/>
          <p:nvPr/>
        </p:nvSpPr>
        <p:spPr>
          <a:xfrm>
            <a:off x="8330183" y="2688336"/>
            <a:ext cx="3145536" cy="292608"/>
          </a:xfrm>
          <a:prstGeom prst="roundRect">
            <a:avLst>
              <a:gd name="adj" fmla="val 9000"/>
            </a:avLst>
          </a:prstGeom>
          <a:solidFill>
            <a:srgbClr val="E3ECD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439911" y="2738628"/>
            <a:ext cx="2962656"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4323D"/>
                </a:solidFill>
                <a:latin typeface="DejaVu Sans"/>
              </a:defRPr>
            </a:pPr>
            <a:r>
              <a:t>COMUNIDAD</a:t>
            </a:r>
          </a:p>
        </p:txBody>
      </p:sp>
      <p:sp>
        <p:nvSpPr>
          <p:cNvPr id="27" name="TextBox 26"/>
          <p:cNvSpPr txBox="1"/>
          <p:nvPr/>
        </p:nvSpPr>
        <p:spPr>
          <a:xfrm>
            <a:off x="8339327" y="3264408"/>
            <a:ext cx="3136392" cy="859536"/>
          </a:xfrm>
          <a:prstGeom prst="rect">
            <a:avLst/>
          </a:prstGeom>
          <a:noFill/>
        </p:spPr>
        <p:txBody>
          <a:bodyPr wrap="square" lIns="0" rIns="0" tIns="0" bIns="0">
            <a:spAutoFit/>
          </a:bodyPr>
          <a:lstStyle/>
          <a:p>
            <a:pPr algn="l">
              <a:lnSpc>
                <a:spcPct val="105000"/>
              </a:lnSpc>
              <a:spcBef>
                <a:spcPts val="0"/>
              </a:spcBef>
              <a:spcAft>
                <a:spcPts val="500"/>
              </a:spcAft>
              <a:defRPr sz="2500" b="1">
                <a:solidFill>
                  <a:srgbClr val="14323D"/>
                </a:solidFill>
                <a:latin typeface="DejaVu Sans"/>
              </a:defRPr>
            </a:pPr>
            <a:r>
              <a:t>Se prepara y se informa</a:t>
            </a:r>
          </a:p>
        </p:txBody>
      </p:sp>
      <p:sp>
        <p:nvSpPr>
          <p:cNvPr id="28" name="TextBox 27"/>
          <p:cNvSpPr txBox="1"/>
          <p:nvPr/>
        </p:nvSpPr>
        <p:spPr>
          <a:xfrm>
            <a:off x="8339327" y="4224528"/>
            <a:ext cx="3108960" cy="941832"/>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536D70"/>
                </a:solidFill>
                <a:latin typeface="DejaVu Sans"/>
              </a:defRPr>
            </a:pPr>
            <a:r>
              <a:t>Aprende por amenaza, consulta avisos oficiales y distingue dónde aportar o recibir información.</a:t>
            </a:r>
          </a:p>
        </p:txBody>
      </p:sp>
      <p:sp>
        <p:nvSpPr>
          <p:cNvPr id="29" name="Rectangle 28"/>
          <p:cNvSpPr/>
          <p:nvPr/>
        </p:nvSpPr>
        <p:spPr>
          <a:xfrm>
            <a:off x="8339327" y="5385816"/>
            <a:ext cx="3118104"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8339327" y="5550408"/>
            <a:ext cx="3108960" cy="338328"/>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087F80"/>
                </a:solidFill>
                <a:latin typeface="DejaVu Sans"/>
              </a:defRPr>
            </a:pPr>
            <a:r>
              <a:t>Canal de demo: SMS simulado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4323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4323D"/>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EVIDENCIA TERRITORIAL</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4323D"/>
                </a:solidFill>
                <a:latin typeface="DejaVu Sans"/>
              </a:defRPr>
            </a:pPr>
            <a:r>
              <a:t>El recorrido empieza en datos públicos de Cali.</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Alcaldía de Santiago de Cali · DAPM / IDESC · corte 25 sep 2026 · adaptaciones CC BY-SA 4.0</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4323D"/>
                </a:solidFill>
                <a:latin typeface="DejaVu Sans"/>
              </a:defRPr>
            </a:pPr>
            <a:r>
              <a:t>04</a:t>
            </a:r>
          </a:p>
        </p:txBody>
      </p:sp>
      <p:pic>
        <p:nvPicPr>
          <p:cNvPr id="10" name="Picture 9" descr="cali-claro.png"/>
          <p:cNvPicPr>
            <a:picLocks noChangeAspect="1"/>
          </p:cNvPicPr>
          <p:nvPr/>
        </p:nvPicPr>
        <p:blipFill>
          <a:blip r:embed="rId2"/>
          <a:stretch>
            <a:fillRect/>
          </a:stretch>
        </p:blipFill>
        <p:spPr>
          <a:xfrm>
            <a:off x="560662" y="2212848"/>
            <a:ext cx="3203786" cy="3931920"/>
          </a:xfrm>
          <a:prstGeom prst="rect">
            <a:avLst/>
          </a:prstGeom>
        </p:spPr>
      </p:pic>
      <p:sp>
        <p:nvSpPr>
          <p:cNvPr id="11" name="TextBox 10"/>
          <p:cNvSpPr txBox="1"/>
          <p:nvPr/>
        </p:nvSpPr>
        <p:spPr>
          <a:xfrm>
            <a:off x="4078224" y="2212848"/>
            <a:ext cx="3191256" cy="777240"/>
          </a:xfrm>
          <a:prstGeom prst="rect">
            <a:avLst/>
          </a:prstGeom>
          <a:noFill/>
        </p:spPr>
        <p:txBody>
          <a:bodyPr wrap="square" lIns="0" rIns="0" tIns="0" bIns="0">
            <a:spAutoFit/>
          </a:bodyPr>
          <a:lstStyle/>
          <a:p>
            <a:pPr algn="l">
              <a:lnSpc>
                <a:spcPct val="105000"/>
              </a:lnSpc>
              <a:spcBef>
                <a:spcPts val="0"/>
              </a:spcBef>
              <a:spcAft>
                <a:spcPts val="500"/>
              </a:spcAft>
              <a:defRPr sz="5400" b="1">
                <a:solidFill>
                  <a:srgbClr val="087F80"/>
                </a:solidFill>
                <a:latin typeface="DejaVu Sans"/>
              </a:defRPr>
            </a:pPr>
            <a:r>
              <a:t>1.970</a:t>
            </a:r>
          </a:p>
        </p:txBody>
      </p:sp>
      <p:sp>
        <p:nvSpPr>
          <p:cNvPr id="12" name="TextBox 11"/>
          <p:cNvSpPr txBox="1"/>
          <p:nvPr/>
        </p:nvSpPr>
        <p:spPr>
          <a:xfrm>
            <a:off x="4087368" y="3054096"/>
            <a:ext cx="6949440" cy="384048"/>
          </a:xfrm>
          <a:prstGeom prst="rect">
            <a:avLst/>
          </a:prstGeom>
          <a:noFill/>
        </p:spPr>
        <p:txBody>
          <a:bodyPr wrap="square" lIns="0" rIns="0" tIns="0" bIns="0">
            <a:spAutoFit/>
          </a:bodyPr>
          <a:lstStyle/>
          <a:p>
            <a:pPr algn="l">
              <a:lnSpc>
                <a:spcPct val="105000"/>
              </a:lnSpc>
              <a:spcBef>
                <a:spcPts val="0"/>
              </a:spcBef>
              <a:spcAft>
                <a:spcPts val="500"/>
              </a:spcAft>
              <a:defRPr sz="2000" b="1">
                <a:solidFill>
                  <a:srgbClr val="14323D"/>
                </a:solidFill>
                <a:latin typeface="DejaVu Sans"/>
              </a:defRPr>
            </a:pPr>
            <a:r>
              <a:t>registros de espacio público efectivo</a:t>
            </a:r>
          </a:p>
        </p:txBody>
      </p:sp>
      <p:sp>
        <p:nvSpPr>
          <p:cNvPr id="13" name="Rounded Rectangle 12"/>
          <p:cNvSpPr/>
          <p:nvPr/>
        </p:nvSpPr>
        <p:spPr>
          <a:xfrm>
            <a:off x="4087368" y="3767328"/>
            <a:ext cx="3392424" cy="1069848"/>
          </a:xfrm>
          <a:prstGeom prst="roundRect">
            <a:avLst>
              <a:gd name="adj" fmla="val 9000"/>
            </a:avLst>
          </a:prstGeom>
          <a:solidFill>
            <a:srgbClr val="FFFFFF"/>
          </a:solidFill>
          <a:ln w="12700">
            <a:solidFill>
              <a:srgbClr val="D4DED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233672" y="3904488"/>
            <a:ext cx="3099816" cy="886968"/>
          </a:xfrm>
          <a:prstGeom prst="rect">
            <a:avLst/>
          </a:prstGeom>
          <a:noFill/>
        </p:spPr>
        <p:txBody>
          <a:bodyPr wrap="square" lIns="0" rIns="0" tIns="0" bIns="0">
            <a:spAutoFit/>
          </a:bodyPr>
          <a:lstStyle/>
          <a:p>
            <a:pPr algn="ctr">
              <a:lnSpc>
                <a:spcPct val="105000"/>
              </a:lnSpc>
              <a:spcBef>
                <a:spcPts val="0"/>
              </a:spcBef>
              <a:spcAft>
                <a:spcPts val="500"/>
              </a:spcAft>
              <a:defRPr sz="1800" b="1">
                <a:solidFill>
                  <a:srgbClr val="14323D"/>
                </a:solidFill>
                <a:latin typeface="DejaVu Sans"/>
              </a:defRPr>
            </a:pPr>
            <a:r>
              <a:t>Geometría + comuna</a:t>
            </a:r>
          </a:p>
          <a:p>
            <a:pPr algn="ctr">
              <a:lnSpc>
                <a:spcPct val="105000"/>
              </a:lnSpc>
              <a:spcBef>
                <a:spcPts val="0"/>
              </a:spcBef>
              <a:spcAft>
                <a:spcPts val="500"/>
              </a:spcAft>
              <a:defRPr sz="1800" b="1">
                <a:solidFill>
                  <a:srgbClr val="14323D"/>
                </a:solidFill>
                <a:latin typeface="DejaVu Sans"/>
              </a:defRPr>
            </a:pPr>
            <a:r>
              <a:t>+ barrio + fuente</a:t>
            </a:r>
          </a:p>
        </p:txBody>
      </p:sp>
      <p:sp>
        <p:nvSpPr>
          <p:cNvPr id="15" name="Rounded Rectangle 14"/>
          <p:cNvSpPr/>
          <p:nvPr/>
        </p:nvSpPr>
        <p:spPr>
          <a:xfrm>
            <a:off x="7763256" y="3767328"/>
            <a:ext cx="3739896" cy="1069848"/>
          </a:xfrm>
          <a:prstGeom prst="roundRect">
            <a:avLst>
              <a:gd name="adj" fmla="val 9000"/>
            </a:avLst>
          </a:prstGeom>
          <a:solidFill>
            <a:srgbClr val="FFFFFF"/>
          </a:solidFill>
          <a:ln w="12700">
            <a:solidFill>
              <a:srgbClr val="D4DED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909560" y="3904488"/>
            <a:ext cx="3447288" cy="886968"/>
          </a:xfrm>
          <a:prstGeom prst="rect">
            <a:avLst/>
          </a:prstGeom>
          <a:noFill/>
        </p:spPr>
        <p:txBody>
          <a:bodyPr wrap="square" lIns="0" rIns="0" tIns="0" bIns="0">
            <a:spAutoFit/>
          </a:bodyPr>
          <a:lstStyle/>
          <a:p>
            <a:pPr algn="ctr">
              <a:lnSpc>
                <a:spcPct val="105000"/>
              </a:lnSpc>
              <a:spcBef>
                <a:spcPts val="0"/>
              </a:spcBef>
              <a:spcAft>
                <a:spcPts val="500"/>
              </a:spcAft>
              <a:defRPr sz="1800" b="1">
                <a:solidFill>
                  <a:srgbClr val="14323D"/>
                </a:solidFill>
                <a:latin typeface="DejaVu Sans"/>
              </a:defRPr>
            </a:pPr>
            <a:r>
              <a:t>Cruces por amenaza</a:t>
            </a:r>
          </a:p>
          <a:p>
            <a:pPr algn="ctr">
              <a:lnSpc>
                <a:spcPct val="105000"/>
              </a:lnSpc>
              <a:spcBef>
                <a:spcPts val="0"/>
              </a:spcBef>
              <a:spcAft>
                <a:spcPts val="500"/>
              </a:spcAft>
              <a:defRPr sz="1800" b="1">
                <a:solidFill>
                  <a:srgbClr val="14323D"/>
                </a:solidFill>
                <a:latin typeface="DejaVu Sans"/>
              </a:defRPr>
            </a:pPr>
            <a:r>
              <a:t>+ restricciones + vacíos</a:t>
            </a:r>
          </a:p>
        </p:txBody>
      </p:sp>
      <p:sp>
        <p:nvSpPr>
          <p:cNvPr id="17" name="Rounded Rectangle 16"/>
          <p:cNvSpPr/>
          <p:nvPr/>
        </p:nvSpPr>
        <p:spPr>
          <a:xfrm>
            <a:off x="4087368" y="5102352"/>
            <a:ext cx="7434072" cy="832104"/>
          </a:xfrm>
          <a:prstGeom prst="roundRect">
            <a:avLst>
              <a:gd name="adj" fmla="val 9000"/>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288536" y="5266944"/>
            <a:ext cx="6995160" cy="493776"/>
          </a:xfrm>
          <a:prstGeom prst="rect">
            <a:avLst/>
          </a:prstGeom>
          <a:noFill/>
        </p:spPr>
        <p:txBody>
          <a:bodyPr wrap="square" lIns="0" rIns="0" tIns="0" bIns="0">
            <a:spAutoFit/>
          </a:bodyPr>
          <a:lstStyle/>
          <a:p>
            <a:pPr algn="l">
              <a:lnSpc>
                <a:spcPct val="105000"/>
              </a:lnSpc>
              <a:spcBef>
                <a:spcPts val="0"/>
              </a:spcBef>
              <a:spcAft>
                <a:spcPts val="500"/>
              </a:spcAft>
              <a:defRPr sz="1600" b="1">
                <a:solidFill>
                  <a:srgbClr val="FFFFFF"/>
                </a:solidFill>
                <a:latin typeface="DejaVu Sans"/>
              </a:defRPr>
            </a:pPr>
            <a:r>
              <a:t>Caso real: epou-9465 · Parque Colinas del Sur</a:t>
            </a:r>
          </a:p>
          <a:p>
            <a:pPr algn="l">
              <a:lnSpc>
                <a:spcPct val="105000"/>
              </a:lnSpc>
              <a:spcBef>
                <a:spcPts val="0"/>
              </a:spcBef>
              <a:spcAft>
                <a:spcPts val="500"/>
              </a:spcAft>
              <a:defRPr sz="1600" b="1">
                <a:solidFill>
                  <a:srgbClr val="FFFFFF"/>
                </a:solidFill>
                <a:latin typeface="DejaVu Sans"/>
              </a:defRPr>
            </a:pPr>
            <a:r>
              <a:t>447,21 m² cartográficos · apertura no confirmada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4323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4323D"/>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LÓGICA MULTIAMENAZA</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4323D"/>
                </a:solidFill>
                <a:latin typeface="DejaVu Sans"/>
              </a:defRPr>
            </a:pPr>
            <a:r>
              <a:t>Cambiar la amenaza cambia la revisión.</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Producto: Territorio Preparado · Responde al RETO-01 Cali Activa · Prototipo</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4323D"/>
                </a:solidFill>
                <a:latin typeface="DejaVu Sans"/>
              </a:defRPr>
            </a:pPr>
            <a:r>
              <a:t>05</a:t>
            </a:r>
          </a:p>
        </p:txBody>
      </p:sp>
      <p:sp>
        <p:nvSpPr>
          <p:cNvPr id="10" name="Rectangle 9"/>
          <p:cNvSpPr/>
          <p:nvPr/>
        </p:nvSpPr>
        <p:spPr>
          <a:xfrm>
            <a:off x="548640" y="2313432"/>
            <a:ext cx="1984248" cy="420624"/>
          </a:xfrm>
          <a:prstGeom prst="rect">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58368" y="2414015"/>
            <a:ext cx="1764792" cy="246888"/>
          </a:xfrm>
          <a:prstGeom prst="rect">
            <a:avLst/>
          </a:prstGeom>
          <a:noFill/>
        </p:spPr>
        <p:txBody>
          <a:bodyPr wrap="square" lIns="0" rIns="0" tIns="0" bIns="0">
            <a:spAutoFit/>
          </a:bodyPr>
          <a:lstStyle/>
          <a:p>
            <a:pPr algn="l">
              <a:lnSpc>
                <a:spcPct val="105000"/>
              </a:lnSpc>
              <a:spcBef>
                <a:spcPts val="0"/>
              </a:spcBef>
              <a:spcAft>
                <a:spcPts val="500"/>
              </a:spcAft>
              <a:defRPr sz="1100" b="1">
                <a:solidFill>
                  <a:srgbClr val="FFFFFF"/>
                </a:solidFill>
                <a:latin typeface="DejaVu Sans"/>
              </a:defRPr>
            </a:pPr>
            <a:r>
              <a:t>AMENAZA</a:t>
            </a:r>
          </a:p>
        </p:txBody>
      </p:sp>
      <p:sp>
        <p:nvSpPr>
          <p:cNvPr id="12" name="Rectangle 11"/>
          <p:cNvSpPr/>
          <p:nvPr/>
        </p:nvSpPr>
        <p:spPr>
          <a:xfrm>
            <a:off x="2532888" y="2313432"/>
            <a:ext cx="4014215" cy="420624"/>
          </a:xfrm>
          <a:prstGeom prst="rect">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2642616" y="2414015"/>
            <a:ext cx="3794759" cy="246888"/>
          </a:xfrm>
          <a:prstGeom prst="rect">
            <a:avLst/>
          </a:prstGeom>
          <a:noFill/>
        </p:spPr>
        <p:txBody>
          <a:bodyPr wrap="square" lIns="0" rIns="0" tIns="0" bIns="0">
            <a:spAutoFit/>
          </a:bodyPr>
          <a:lstStyle/>
          <a:p>
            <a:pPr algn="l">
              <a:lnSpc>
                <a:spcPct val="105000"/>
              </a:lnSpc>
              <a:spcBef>
                <a:spcPts val="0"/>
              </a:spcBef>
              <a:spcAft>
                <a:spcPts val="500"/>
              </a:spcAft>
              <a:defRPr sz="1100" b="1">
                <a:solidFill>
                  <a:srgbClr val="FFFFFF"/>
                </a:solidFill>
                <a:latin typeface="DejaVu Sans"/>
              </a:defRPr>
            </a:pPr>
            <a:r>
              <a:t>CRITERIO ACTUAL</a:t>
            </a:r>
          </a:p>
        </p:txBody>
      </p:sp>
      <p:sp>
        <p:nvSpPr>
          <p:cNvPr id="14" name="Rectangle 13"/>
          <p:cNvSpPr/>
          <p:nvPr/>
        </p:nvSpPr>
        <p:spPr>
          <a:xfrm>
            <a:off x="6547104" y="2313432"/>
            <a:ext cx="5065776" cy="420624"/>
          </a:xfrm>
          <a:prstGeom prst="rect">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656832" y="2414015"/>
            <a:ext cx="4846320" cy="246888"/>
          </a:xfrm>
          <a:prstGeom prst="rect">
            <a:avLst/>
          </a:prstGeom>
          <a:noFill/>
        </p:spPr>
        <p:txBody>
          <a:bodyPr wrap="square" lIns="0" rIns="0" tIns="0" bIns="0">
            <a:spAutoFit/>
          </a:bodyPr>
          <a:lstStyle/>
          <a:p>
            <a:pPr algn="l">
              <a:lnSpc>
                <a:spcPct val="105000"/>
              </a:lnSpc>
              <a:spcBef>
                <a:spcPts val="0"/>
              </a:spcBef>
              <a:spcAft>
                <a:spcPts val="500"/>
              </a:spcAft>
              <a:defRPr sz="1100" b="1">
                <a:solidFill>
                  <a:srgbClr val="FFFFFF"/>
                </a:solidFill>
                <a:latin typeface="DejaVu Sans"/>
              </a:defRPr>
            </a:pPr>
            <a:r>
              <a:t>SALIDA DEL PROTOTIPO</a:t>
            </a:r>
          </a:p>
        </p:txBody>
      </p:sp>
      <p:sp>
        <p:nvSpPr>
          <p:cNvPr id="16" name="Rectangle 15"/>
          <p:cNvSpPr/>
          <p:nvPr/>
        </p:nvSpPr>
        <p:spPr>
          <a:xfrm>
            <a:off x="548640" y="2734056"/>
            <a:ext cx="1984248" cy="61264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58368" y="2862072"/>
            <a:ext cx="1764792" cy="448056"/>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14323D"/>
                </a:solidFill>
                <a:latin typeface="DejaVu Sans"/>
              </a:defRPr>
            </a:pPr>
            <a:r>
              <a:t>Inundación</a:t>
            </a:r>
          </a:p>
        </p:txBody>
      </p:sp>
      <p:sp>
        <p:nvSpPr>
          <p:cNvPr id="18" name="Rectangle 17"/>
          <p:cNvSpPr/>
          <p:nvPr/>
        </p:nvSpPr>
        <p:spPr>
          <a:xfrm>
            <a:off x="2532888" y="2734056"/>
            <a:ext cx="4014215" cy="61264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2642616" y="2862072"/>
            <a:ext cx="3794759" cy="448056"/>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Cruce con capas de inundación.</a:t>
            </a:r>
          </a:p>
        </p:txBody>
      </p:sp>
      <p:sp>
        <p:nvSpPr>
          <p:cNvPr id="20" name="Rectangle 19"/>
          <p:cNvSpPr/>
          <p:nvPr/>
        </p:nvSpPr>
        <p:spPr>
          <a:xfrm>
            <a:off x="6547104" y="2734056"/>
            <a:ext cx="5065776" cy="61264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656832" y="2862072"/>
            <a:ext cx="4846320" cy="448056"/>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Con cruce: descartado. Sin cruce: condicionado.</a:t>
            </a:r>
          </a:p>
        </p:txBody>
      </p:sp>
      <p:sp>
        <p:nvSpPr>
          <p:cNvPr id="22" name="Rectangle 21"/>
          <p:cNvSpPr/>
          <p:nvPr/>
        </p:nvSpPr>
        <p:spPr>
          <a:xfrm>
            <a:off x="548640" y="3346703"/>
            <a:ext cx="1984248" cy="612648"/>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58368" y="3474720"/>
            <a:ext cx="1764792" cy="448056"/>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14323D"/>
                </a:solidFill>
                <a:latin typeface="DejaVu Sans"/>
              </a:defRPr>
            </a:pPr>
            <a:r>
              <a:t>Sismo</a:t>
            </a:r>
          </a:p>
        </p:txBody>
      </p:sp>
      <p:sp>
        <p:nvSpPr>
          <p:cNvPr id="24" name="Rectangle 23"/>
          <p:cNvSpPr/>
          <p:nvPr/>
        </p:nvSpPr>
        <p:spPr>
          <a:xfrm>
            <a:off x="2532888" y="3346703"/>
            <a:ext cx="4014215" cy="612648"/>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2642616" y="3474720"/>
            <a:ext cx="3794759" cy="448056"/>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Cruce de licuación / corrimiento.</a:t>
            </a:r>
          </a:p>
        </p:txBody>
      </p:sp>
      <p:sp>
        <p:nvSpPr>
          <p:cNvPr id="26" name="Rectangle 25"/>
          <p:cNvSpPr/>
          <p:nvPr/>
        </p:nvSpPr>
        <p:spPr>
          <a:xfrm>
            <a:off x="6547104" y="3346703"/>
            <a:ext cx="5065776" cy="612648"/>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656832" y="3474720"/>
            <a:ext cx="4846320" cy="448056"/>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Con cruce: fuera de preselección. Sin cruce: requiere inspección.</a:t>
            </a:r>
          </a:p>
        </p:txBody>
      </p:sp>
      <p:sp>
        <p:nvSpPr>
          <p:cNvPr id="28" name="Rectangle 27"/>
          <p:cNvSpPr/>
          <p:nvPr/>
        </p:nvSpPr>
        <p:spPr>
          <a:xfrm>
            <a:off x="548640" y="3959352"/>
            <a:ext cx="1984248" cy="61264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58368" y="4087368"/>
            <a:ext cx="1764792" cy="448056"/>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14323D"/>
                </a:solidFill>
                <a:latin typeface="DejaVu Sans"/>
              </a:defRPr>
            </a:pPr>
            <a:r>
              <a:t>Incendio forestal</a:t>
            </a:r>
          </a:p>
        </p:txBody>
      </p:sp>
      <p:sp>
        <p:nvSpPr>
          <p:cNvPr id="30" name="Rectangle 29"/>
          <p:cNvSpPr/>
          <p:nvPr/>
        </p:nvSpPr>
        <p:spPr>
          <a:xfrm>
            <a:off x="2532888" y="3959352"/>
            <a:ext cx="4014215" cy="61264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2642616" y="4087368"/>
            <a:ext cx="3794759" cy="448056"/>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Sin evidencia suficiente del incidente y restricciones.</a:t>
            </a:r>
          </a:p>
        </p:txBody>
      </p:sp>
      <p:sp>
        <p:nvSpPr>
          <p:cNvPr id="32" name="Rectangle 31"/>
          <p:cNvSpPr/>
          <p:nvPr/>
        </p:nvSpPr>
        <p:spPr>
          <a:xfrm>
            <a:off x="6547104" y="3959352"/>
            <a:ext cx="5065776" cy="61264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656832" y="4087368"/>
            <a:ext cx="4846320" cy="448056"/>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No se preselecciona; tareas de preparación por revisar.</a:t>
            </a:r>
          </a:p>
        </p:txBody>
      </p:sp>
      <p:sp>
        <p:nvSpPr>
          <p:cNvPr id="34" name="Rectangle 33"/>
          <p:cNvSpPr/>
          <p:nvPr/>
        </p:nvSpPr>
        <p:spPr>
          <a:xfrm>
            <a:off x="548640" y="4572000"/>
            <a:ext cx="1984248" cy="612648"/>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58368" y="4700016"/>
            <a:ext cx="1764792" cy="448056"/>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14323D"/>
                </a:solidFill>
                <a:latin typeface="DejaVu Sans"/>
              </a:defRPr>
            </a:pPr>
            <a:r>
              <a:t>Incendio en edificación</a:t>
            </a:r>
          </a:p>
        </p:txBody>
      </p:sp>
      <p:sp>
        <p:nvSpPr>
          <p:cNvPr id="36" name="Rectangle 35"/>
          <p:cNvSpPr/>
          <p:nvPr/>
        </p:nvSpPr>
        <p:spPr>
          <a:xfrm>
            <a:off x="2532888" y="4572000"/>
            <a:ext cx="4014215" cy="612648"/>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2642616" y="4700016"/>
            <a:ext cx="3794759" cy="448056"/>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Faltan condiciones del incidente y evaluaciones.</a:t>
            </a:r>
          </a:p>
        </p:txBody>
      </p:sp>
      <p:sp>
        <p:nvSpPr>
          <p:cNvPr id="38" name="Rectangle 37"/>
          <p:cNvSpPr/>
          <p:nvPr/>
        </p:nvSpPr>
        <p:spPr>
          <a:xfrm>
            <a:off x="6547104" y="4572000"/>
            <a:ext cx="5065776" cy="612648"/>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656832" y="4700016"/>
            <a:ext cx="4846320" cy="448056"/>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No se preselecciona; no se emiten conceptos de Bomberos.</a:t>
            </a:r>
          </a:p>
        </p:txBody>
      </p:sp>
      <p:sp>
        <p:nvSpPr>
          <p:cNvPr id="40" name="Rectangle 39"/>
          <p:cNvSpPr/>
          <p:nvPr/>
        </p:nvSpPr>
        <p:spPr>
          <a:xfrm>
            <a:off x="548640" y="5184648"/>
            <a:ext cx="1984248" cy="61264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658368" y="5312664"/>
            <a:ext cx="1764792" cy="448056"/>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14323D"/>
                </a:solidFill>
                <a:latin typeface="DejaVu Sans"/>
              </a:defRPr>
            </a:pPr>
            <a:r>
              <a:t>Sequía</a:t>
            </a:r>
          </a:p>
        </p:txBody>
      </p:sp>
      <p:sp>
        <p:nvSpPr>
          <p:cNvPr id="42" name="Rectangle 41"/>
          <p:cNvSpPr/>
          <p:nvPr/>
        </p:nvSpPr>
        <p:spPr>
          <a:xfrm>
            <a:off x="2532888" y="5184648"/>
            <a:ext cx="4014215" cy="61264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2642616" y="5312664"/>
            <a:ext cx="3794759" cy="448056"/>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Sin datos suficientes de sequía y abastecimiento.</a:t>
            </a:r>
          </a:p>
        </p:txBody>
      </p:sp>
      <p:sp>
        <p:nvSpPr>
          <p:cNvPr id="44" name="Rectangle 43"/>
          <p:cNvSpPr/>
          <p:nvPr/>
        </p:nvSpPr>
        <p:spPr>
          <a:xfrm>
            <a:off x="6547104" y="5184648"/>
            <a:ext cx="5065776" cy="61264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6656832" y="5312664"/>
            <a:ext cx="4846320" cy="448056"/>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No se recomienda un espacio por este escenario.</a:t>
            </a:r>
          </a:p>
        </p:txBody>
      </p:sp>
      <p:sp>
        <p:nvSpPr>
          <p:cNvPr id="46" name="TextBox 45"/>
          <p:cNvSpPr txBox="1"/>
          <p:nvPr/>
        </p:nvSpPr>
        <p:spPr>
          <a:xfrm>
            <a:off x="585216" y="5971032"/>
            <a:ext cx="10972800" cy="320040"/>
          </a:xfrm>
          <a:prstGeom prst="rect">
            <a:avLst/>
          </a:prstGeom>
          <a:noFill/>
        </p:spPr>
        <p:txBody>
          <a:bodyPr wrap="square" lIns="0" rIns="0" tIns="0" bIns="0">
            <a:spAutoFit/>
          </a:bodyPr>
          <a:lstStyle/>
          <a:p>
            <a:pPr algn="l">
              <a:lnSpc>
                <a:spcPct val="105000"/>
              </a:lnSpc>
              <a:spcBef>
                <a:spcPts val="0"/>
              </a:spcBef>
              <a:spcAft>
                <a:spcPts val="500"/>
              </a:spcAft>
              <a:defRPr sz="1500" b="1">
                <a:solidFill>
                  <a:srgbClr val="087F80"/>
                </a:solidFill>
                <a:latin typeface="DejaVu Sans"/>
              </a:defRPr>
            </a:pPr>
            <a:r>
              <a:t>Sin cruce detectado ≠ ausencia de riesgo. La evidencia insuficiente no se convierte en aptitud.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2530"/>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14323D"/>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FFFFFF"/>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A8C6BE"/>
                </a:solidFill>
                <a:latin typeface="DejaVu Sans"/>
              </a:defRPr>
            </a:pPr>
            <a:r>
              <a:t>FLUJO DE DECISIÓN</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FFFFFF"/>
                </a:solidFill>
                <a:latin typeface="DejaVu Sans"/>
              </a:defRPr>
            </a:pPr>
            <a:r>
              <a:t>Cada avance tiene una condición.</a:t>
            </a:r>
          </a:p>
        </p:txBody>
      </p:sp>
      <p:sp>
        <p:nvSpPr>
          <p:cNvPr id="7" name="Rectangle 6"/>
          <p:cNvSpPr/>
          <p:nvPr/>
        </p:nvSpPr>
        <p:spPr>
          <a:xfrm>
            <a:off x="548640" y="6419088"/>
            <a:ext cx="11064240" cy="10972"/>
          </a:xfrm>
          <a:prstGeom prst="rect">
            <a:avLst/>
          </a:prstGeom>
          <a:solidFill>
            <a:srgbClr val="31505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A8C6BE"/>
                </a:solidFill>
                <a:latin typeface="DejaVu Sans"/>
              </a:defRPr>
            </a:pPr>
            <a:r>
              <a:t>Producto: Territorio Preparado · Responde al RETO-01 Cali Activa · Prototipo</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FFFFFF"/>
                </a:solidFill>
                <a:latin typeface="DejaVu Sans"/>
              </a:defRPr>
            </a:pPr>
            <a:r>
              <a:t>06</a:t>
            </a:r>
          </a:p>
        </p:txBody>
      </p:sp>
      <p:sp>
        <p:nvSpPr>
          <p:cNvPr id="10" name="Rounded Rectangle 9"/>
          <p:cNvSpPr/>
          <p:nvPr/>
        </p:nvSpPr>
        <p:spPr>
          <a:xfrm>
            <a:off x="603504" y="2578608"/>
            <a:ext cx="2276856" cy="822960"/>
          </a:xfrm>
          <a:prstGeom prst="roundRect">
            <a:avLst>
              <a:gd name="adj" fmla="val 9000"/>
            </a:avLst>
          </a:prstGeom>
          <a:solidFill>
            <a:srgbClr val="E5F2F0"/>
          </a:solidFill>
          <a:ln w="12700">
            <a:solidFill>
              <a:srgbClr val="087F8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49808" y="2715768"/>
            <a:ext cx="1984248" cy="640080"/>
          </a:xfrm>
          <a:prstGeom prst="rect">
            <a:avLst/>
          </a:prstGeom>
          <a:noFill/>
        </p:spPr>
        <p:txBody>
          <a:bodyPr wrap="square" lIns="0" rIns="0" tIns="0" bIns="0">
            <a:spAutoFit/>
          </a:bodyPr>
          <a:lstStyle/>
          <a:p>
            <a:pPr algn="ctr">
              <a:lnSpc>
                <a:spcPct val="105000"/>
              </a:lnSpc>
              <a:spcBef>
                <a:spcPts val="0"/>
              </a:spcBef>
              <a:spcAft>
                <a:spcPts val="500"/>
              </a:spcAft>
              <a:defRPr sz="1700" b="1">
                <a:solidFill>
                  <a:srgbClr val="14323D"/>
                </a:solidFill>
                <a:latin typeface="DejaVu Sans"/>
              </a:defRPr>
            </a:pPr>
            <a:r>
              <a:t>Definir escenario</a:t>
            </a:r>
          </a:p>
        </p:txBody>
      </p:sp>
      <p:sp>
        <p:nvSpPr>
          <p:cNvPr id="12" name="Rounded Rectangle 11"/>
          <p:cNvSpPr/>
          <p:nvPr/>
        </p:nvSpPr>
        <p:spPr>
          <a:xfrm>
            <a:off x="3511296" y="2578608"/>
            <a:ext cx="2276856" cy="822960"/>
          </a:xfrm>
          <a:prstGeom prst="roundRect">
            <a:avLst>
              <a:gd name="adj" fmla="val 9000"/>
            </a:avLst>
          </a:prstGeom>
          <a:solidFill>
            <a:srgbClr val="E5F2F0"/>
          </a:solidFill>
          <a:ln w="12700">
            <a:solidFill>
              <a:srgbClr val="087F8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657600" y="2715768"/>
            <a:ext cx="1984248" cy="640080"/>
          </a:xfrm>
          <a:prstGeom prst="rect">
            <a:avLst/>
          </a:prstGeom>
          <a:noFill/>
        </p:spPr>
        <p:txBody>
          <a:bodyPr wrap="square" lIns="0" rIns="0" tIns="0" bIns="0">
            <a:spAutoFit/>
          </a:bodyPr>
          <a:lstStyle/>
          <a:p>
            <a:pPr algn="ctr">
              <a:lnSpc>
                <a:spcPct val="105000"/>
              </a:lnSpc>
              <a:spcBef>
                <a:spcPts val="0"/>
              </a:spcBef>
              <a:spcAft>
                <a:spcPts val="500"/>
              </a:spcAft>
              <a:defRPr sz="1700" b="1">
                <a:solidFill>
                  <a:srgbClr val="14323D"/>
                </a:solidFill>
                <a:latin typeface="DejaVu Sans"/>
              </a:defRPr>
            </a:pPr>
            <a:r>
              <a:t>Consultar candidatos</a:t>
            </a:r>
          </a:p>
        </p:txBody>
      </p:sp>
      <p:sp>
        <p:nvSpPr>
          <p:cNvPr id="14" name="Rounded Rectangle 13"/>
          <p:cNvSpPr/>
          <p:nvPr/>
        </p:nvSpPr>
        <p:spPr>
          <a:xfrm>
            <a:off x="6419088" y="2578608"/>
            <a:ext cx="2276856" cy="822960"/>
          </a:xfrm>
          <a:prstGeom prst="roundRect">
            <a:avLst>
              <a:gd name="adj" fmla="val 9000"/>
            </a:avLst>
          </a:prstGeom>
          <a:solidFill>
            <a:srgbClr val="E5F2F0"/>
          </a:solidFill>
          <a:ln w="12700">
            <a:solidFill>
              <a:srgbClr val="087F8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565392" y="2715768"/>
            <a:ext cx="1984248" cy="640080"/>
          </a:xfrm>
          <a:prstGeom prst="rect">
            <a:avLst/>
          </a:prstGeom>
          <a:noFill/>
        </p:spPr>
        <p:txBody>
          <a:bodyPr wrap="square" lIns="0" rIns="0" tIns="0" bIns="0">
            <a:spAutoFit/>
          </a:bodyPr>
          <a:lstStyle/>
          <a:p>
            <a:pPr algn="ctr">
              <a:lnSpc>
                <a:spcPct val="105000"/>
              </a:lnSpc>
              <a:spcBef>
                <a:spcPts val="0"/>
              </a:spcBef>
              <a:spcAft>
                <a:spcPts val="500"/>
              </a:spcAft>
              <a:defRPr sz="1700" b="1">
                <a:solidFill>
                  <a:srgbClr val="14323D"/>
                </a:solidFill>
                <a:latin typeface="DejaVu Sans"/>
              </a:defRPr>
            </a:pPr>
            <a:r>
              <a:t>Dimensionar acopio</a:t>
            </a:r>
          </a:p>
        </p:txBody>
      </p:sp>
      <p:sp>
        <p:nvSpPr>
          <p:cNvPr id="16" name="Rounded Rectangle 15"/>
          <p:cNvSpPr/>
          <p:nvPr/>
        </p:nvSpPr>
        <p:spPr>
          <a:xfrm>
            <a:off x="9326880" y="2578608"/>
            <a:ext cx="2276856" cy="822960"/>
          </a:xfrm>
          <a:prstGeom prst="roundRect">
            <a:avLst>
              <a:gd name="adj" fmla="val 9000"/>
            </a:avLst>
          </a:prstGeom>
          <a:solidFill>
            <a:srgbClr val="E5F2F0"/>
          </a:solidFill>
          <a:ln w="12700">
            <a:solidFill>
              <a:srgbClr val="087F8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9473184" y="2715768"/>
            <a:ext cx="1984248" cy="640080"/>
          </a:xfrm>
          <a:prstGeom prst="rect">
            <a:avLst/>
          </a:prstGeom>
          <a:noFill/>
        </p:spPr>
        <p:txBody>
          <a:bodyPr wrap="square" lIns="0" rIns="0" tIns="0" bIns="0">
            <a:spAutoFit/>
          </a:bodyPr>
          <a:lstStyle/>
          <a:p>
            <a:pPr algn="ctr">
              <a:lnSpc>
                <a:spcPct val="105000"/>
              </a:lnSpc>
              <a:spcBef>
                <a:spcPts val="0"/>
              </a:spcBef>
              <a:spcAft>
                <a:spcPts val="500"/>
              </a:spcAft>
              <a:defRPr sz="1700" b="1">
                <a:solidFill>
                  <a:srgbClr val="14323D"/>
                </a:solidFill>
                <a:latin typeface="DejaVu Sans"/>
              </a:defRPr>
            </a:pPr>
            <a:r>
              <a:t>Preparar borrador</a:t>
            </a:r>
          </a:p>
        </p:txBody>
      </p:sp>
      <p:cxnSp>
        <p:nvCxnSpPr>
          <p:cNvPr id="18" name="Connector 17"/>
          <p:cNvCxnSpPr/>
          <p:nvPr/>
        </p:nvCxnSpPr>
        <p:spPr>
          <a:xfrm>
            <a:off x="2880360" y="2990088"/>
            <a:ext cx="630936" cy="0"/>
          </a:xfrm>
          <a:prstGeom prst="line">
            <a:avLst/>
          </a:prstGeom>
          <a:ln w="21590">
            <a:solidFill>
              <a:srgbClr val="6AE9C7"/>
            </a:solidFill>
          </a:ln>
        </p:spPr>
        <p:style>
          <a:lnRef idx="2">
            <a:schemeClr val="accent1"/>
          </a:lnRef>
          <a:fillRef idx="0">
            <a:schemeClr val="accent1"/>
          </a:fillRef>
          <a:effectRef idx="0">
            <a:schemeClr val="accent1"/>
          </a:effectRef>
          <a:fontRef idx="minor">
            <a:schemeClr val="tx1"/>
          </a:fontRef>
        </p:style>
      </p:cxnSp>
      <p:sp>
        <p:nvSpPr>
          <p:cNvPr id="19" name="Isosceles Triangle 18"/>
          <p:cNvSpPr/>
          <p:nvPr/>
        </p:nvSpPr>
        <p:spPr>
          <a:xfrm rot="5400000">
            <a:off x="3461003" y="2939796"/>
            <a:ext cx="100584" cy="100584"/>
          </a:xfrm>
          <a:prstGeom prst="triangle">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a:off x="5788152" y="2990088"/>
            <a:ext cx="630936" cy="0"/>
          </a:xfrm>
          <a:prstGeom prst="line">
            <a:avLst/>
          </a:prstGeom>
          <a:ln w="21590">
            <a:solidFill>
              <a:srgbClr val="6AE9C7"/>
            </a:solidFill>
          </a:ln>
        </p:spPr>
        <p:style>
          <a:lnRef idx="2">
            <a:schemeClr val="accent1"/>
          </a:lnRef>
          <a:fillRef idx="0">
            <a:schemeClr val="accent1"/>
          </a:fillRef>
          <a:effectRef idx="0">
            <a:schemeClr val="accent1"/>
          </a:effectRef>
          <a:fontRef idx="minor">
            <a:schemeClr val="tx1"/>
          </a:fontRef>
        </p:style>
      </p:cxnSp>
      <p:sp>
        <p:nvSpPr>
          <p:cNvPr id="21" name="Isosceles Triangle 20"/>
          <p:cNvSpPr/>
          <p:nvPr/>
        </p:nvSpPr>
        <p:spPr>
          <a:xfrm rot="5400000">
            <a:off x="6368796" y="2939796"/>
            <a:ext cx="100584" cy="100584"/>
          </a:xfrm>
          <a:prstGeom prst="triangle">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8695944" y="2990088"/>
            <a:ext cx="630936" cy="0"/>
          </a:xfrm>
          <a:prstGeom prst="line">
            <a:avLst/>
          </a:prstGeom>
          <a:ln w="21590">
            <a:solidFill>
              <a:srgbClr val="6AE9C7"/>
            </a:solidFill>
          </a:ln>
        </p:spPr>
        <p:style>
          <a:lnRef idx="2">
            <a:schemeClr val="accent1"/>
          </a:lnRef>
          <a:fillRef idx="0">
            <a:schemeClr val="accent1"/>
          </a:fillRef>
          <a:effectRef idx="0">
            <a:schemeClr val="accent1"/>
          </a:effectRef>
          <a:fontRef idx="minor">
            <a:schemeClr val="tx1"/>
          </a:fontRef>
        </p:style>
      </p:cxnSp>
      <p:sp>
        <p:nvSpPr>
          <p:cNvPr id="23" name="Isosceles Triangle 22"/>
          <p:cNvSpPr/>
          <p:nvPr/>
        </p:nvSpPr>
        <p:spPr>
          <a:xfrm rot="5400000">
            <a:off x="9276588" y="2939796"/>
            <a:ext cx="100584" cy="100584"/>
          </a:xfrm>
          <a:prstGeom prst="triangle">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4" name="Connector 23"/>
          <p:cNvCxnSpPr/>
          <p:nvPr/>
        </p:nvCxnSpPr>
        <p:spPr>
          <a:xfrm>
            <a:off x="1746504" y="3401568"/>
            <a:ext cx="0" cy="320040"/>
          </a:xfrm>
          <a:prstGeom prst="line">
            <a:avLst/>
          </a:prstGeom>
          <a:ln w="21590">
            <a:solidFill>
              <a:srgbClr val="6AE9C7"/>
            </a:solidFill>
          </a:ln>
        </p:spPr>
        <p:style>
          <a:lnRef idx="2">
            <a:schemeClr val="accent1"/>
          </a:lnRef>
          <a:fillRef idx="0">
            <a:schemeClr val="accent1"/>
          </a:fillRef>
          <a:effectRef idx="0">
            <a:schemeClr val="accent1"/>
          </a:effectRef>
          <a:fontRef idx="minor">
            <a:schemeClr val="tx1"/>
          </a:fontRef>
        </p:style>
      </p:cxnSp>
      <p:sp>
        <p:nvSpPr>
          <p:cNvPr id="25" name="Isosceles Triangle 24"/>
          <p:cNvSpPr/>
          <p:nvPr/>
        </p:nvSpPr>
        <p:spPr>
          <a:xfrm rot="10800000">
            <a:off x="1696212" y="3671316"/>
            <a:ext cx="100584" cy="100584"/>
          </a:xfrm>
          <a:prstGeom prst="triangle">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603504" y="3840480"/>
            <a:ext cx="2276856" cy="859536"/>
          </a:xfrm>
          <a:prstGeom prst="roundRect">
            <a:avLst>
              <a:gd name="adj" fmla="val 9000"/>
            </a:avLst>
          </a:prstGeom>
          <a:solidFill>
            <a:srgbClr val="163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22376" y="4050791"/>
            <a:ext cx="2039112" cy="576072"/>
          </a:xfrm>
          <a:prstGeom prst="rect">
            <a:avLst/>
          </a:prstGeom>
          <a:noFill/>
        </p:spPr>
        <p:txBody>
          <a:bodyPr wrap="square" lIns="0" rIns="0" tIns="0" bIns="0">
            <a:spAutoFit/>
          </a:bodyPr>
          <a:lstStyle/>
          <a:p>
            <a:pPr algn="ctr">
              <a:lnSpc>
                <a:spcPct val="105000"/>
              </a:lnSpc>
              <a:spcBef>
                <a:spcPts val="0"/>
              </a:spcBef>
              <a:spcAft>
                <a:spcPts val="500"/>
              </a:spcAft>
              <a:defRPr sz="1700" b="1">
                <a:solidFill>
                  <a:srgbClr val="FFFFFF"/>
                </a:solidFill>
                <a:latin typeface="DejaVu Sans"/>
              </a:defRPr>
            </a:pPr>
            <a:r>
              <a:t>¿Evidencia suficiente?</a:t>
            </a:r>
          </a:p>
        </p:txBody>
      </p:sp>
      <p:sp>
        <p:nvSpPr>
          <p:cNvPr id="28" name="TextBox 27"/>
          <p:cNvSpPr txBox="1"/>
          <p:nvPr/>
        </p:nvSpPr>
        <p:spPr>
          <a:xfrm>
            <a:off x="603504" y="5010912"/>
            <a:ext cx="2276856" cy="713232"/>
          </a:xfrm>
          <a:prstGeom prst="rect">
            <a:avLst/>
          </a:prstGeom>
          <a:noFill/>
        </p:spPr>
        <p:txBody>
          <a:bodyPr wrap="square" lIns="0" rIns="0" tIns="0" bIns="0">
            <a:spAutoFit/>
          </a:bodyPr>
          <a:lstStyle/>
          <a:p>
            <a:pPr algn="l">
              <a:lnSpc>
                <a:spcPct val="105000"/>
              </a:lnSpc>
              <a:spcBef>
                <a:spcPts val="0"/>
              </a:spcBef>
              <a:spcAft>
                <a:spcPts val="500"/>
              </a:spcAft>
              <a:defRPr sz="1500" b="1">
                <a:solidFill>
                  <a:srgbClr val="EAB395"/>
                </a:solidFill>
                <a:latin typeface="DejaVu Sans"/>
              </a:defRPr>
            </a:pPr>
            <a:r>
              <a:t>NO → dejar pendiente</a:t>
            </a:r>
          </a:p>
        </p:txBody>
      </p:sp>
      <p:cxnSp>
        <p:nvCxnSpPr>
          <p:cNvPr id="29" name="Connector 28"/>
          <p:cNvCxnSpPr/>
          <p:nvPr/>
        </p:nvCxnSpPr>
        <p:spPr>
          <a:xfrm>
            <a:off x="4654296" y="3401568"/>
            <a:ext cx="0" cy="320040"/>
          </a:xfrm>
          <a:prstGeom prst="line">
            <a:avLst/>
          </a:prstGeom>
          <a:ln w="21590">
            <a:solidFill>
              <a:srgbClr val="6AE9C7"/>
            </a:solidFill>
          </a:ln>
        </p:spPr>
        <p:style>
          <a:lnRef idx="2">
            <a:schemeClr val="accent1"/>
          </a:lnRef>
          <a:fillRef idx="0">
            <a:schemeClr val="accent1"/>
          </a:fillRef>
          <a:effectRef idx="0">
            <a:schemeClr val="accent1"/>
          </a:effectRef>
          <a:fontRef idx="minor">
            <a:schemeClr val="tx1"/>
          </a:fontRef>
        </p:style>
      </p:cxnSp>
      <p:sp>
        <p:nvSpPr>
          <p:cNvPr id="30" name="Isosceles Triangle 29"/>
          <p:cNvSpPr/>
          <p:nvPr/>
        </p:nvSpPr>
        <p:spPr>
          <a:xfrm rot="10800000">
            <a:off x="4604004" y="3671316"/>
            <a:ext cx="100584" cy="100584"/>
          </a:xfrm>
          <a:prstGeom prst="triangle">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3511296" y="3840480"/>
            <a:ext cx="2276856" cy="859536"/>
          </a:xfrm>
          <a:prstGeom prst="roundRect">
            <a:avLst>
              <a:gd name="adj" fmla="val 9000"/>
            </a:avLst>
          </a:prstGeom>
          <a:solidFill>
            <a:srgbClr val="163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3630168" y="4050791"/>
            <a:ext cx="2039112" cy="576072"/>
          </a:xfrm>
          <a:prstGeom prst="rect">
            <a:avLst/>
          </a:prstGeom>
          <a:noFill/>
        </p:spPr>
        <p:txBody>
          <a:bodyPr wrap="square" lIns="0" rIns="0" tIns="0" bIns="0">
            <a:spAutoFit/>
          </a:bodyPr>
          <a:lstStyle/>
          <a:p>
            <a:pPr algn="ctr">
              <a:lnSpc>
                <a:spcPct val="105000"/>
              </a:lnSpc>
              <a:spcBef>
                <a:spcPts val="0"/>
              </a:spcBef>
              <a:spcAft>
                <a:spcPts val="500"/>
              </a:spcAft>
              <a:defRPr sz="1700" b="1">
                <a:solidFill>
                  <a:srgbClr val="FFFFFF"/>
                </a:solidFill>
                <a:latin typeface="DejaVu Sans"/>
              </a:defRPr>
            </a:pPr>
            <a:r>
              <a:t>¿Sin restricción?</a:t>
            </a:r>
          </a:p>
        </p:txBody>
      </p:sp>
      <p:sp>
        <p:nvSpPr>
          <p:cNvPr id="33" name="TextBox 32"/>
          <p:cNvSpPr txBox="1"/>
          <p:nvPr/>
        </p:nvSpPr>
        <p:spPr>
          <a:xfrm>
            <a:off x="3511296" y="5010912"/>
            <a:ext cx="2276856" cy="713232"/>
          </a:xfrm>
          <a:prstGeom prst="rect">
            <a:avLst/>
          </a:prstGeom>
          <a:noFill/>
        </p:spPr>
        <p:txBody>
          <a:bodyPr wrap="square" lIns="0" rIns="0" tIns="0" bIns="0">
            <a:spAutoFit/>
          </a:bodyPr>
          <a:lstStyle/>
          <a:p>
            <a:pPr algn="l">
              <a:lnSpc>
                <a:spcPct val="105000"/>
              </a:lnSpc>
              <a:spcBef>
                <a:spcPts val="0"/>
              </a:spcBef>
              <a:spcAft>
                <a:spcPts val="500"/>
              </a:spcAft>
              <a:defRPr sz="1500" b="1">
                <a:solidFill>
                  <a:srgbClr val="EAB395"/>
                </a:solidFill>
                <a:latin typeface="DejaVu Sans"/>
              </a:defRPr>
            </a:pPr>
            <a:r>
              <a:t>NO → revisar otro espacio</a:t>
            </a:r>
          </a:p>
        </p:txBody>
      </p:sp>
      <p:cxnSp>
        <p:nvCxnSpPr>
          <p:cNvPr id="34" name="Connector 33"/>
          <p:cNvCxnSpPr/>
          <p:nvPr/>
        </p:nvCxnSpPr>
        <p:spPr>
          <a:xfrm>
            <a:off x="7562088" y="3401568"/>
            <a:ext cx="0" cy="320040"/>
          </a:xfrm>
          <a:prstGeom prst="line">
            <a:avLst/>
          </a:prstGeom>
          <a:ln w="21590">
            <a:solidFill>
              <a:srgbClr val="6AE9C7"/>
            </a:solidFill>
          </a:ln>
        </p:spPr>
        <p:style>
          <a:lnRef idx="2">
            <a:schemeClr val="accent1"/>
          </a:lnRef>
          <a:fillRef idx="0">
            <a:schemeClr val="accent1"/>
          </a:fillRef>
          <a:effectRef idx="0">
            <a:schemeClr val="accent1"/>
          </a:effectRef>
          <a:fontRef idx="minor">
            <a:schemeClr val="tx1"/>
          </a:fontRef>
        </p:style>
      </p:cxnSp>
      <p:sp>
        <p:nvSpPr>
          <p:cNvPr id="35" name="Isosceles Triangle 34"/>
          <p:cNvSpPr/>
          <p:nvPr/>
        </p:nvSpPr>
        <p:spPr>
          <a:xfrm rot="10800000">
            <a:off x="7511796" y="3671316"/>
            <a:ext cx="100584" cy="100584"/>
          </a:xfrm>
          <a:prstGeom prst="triangle">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6419088" y="3840480"/>
            <a:ext cx="2276856" cy="859536"/>
          </a:xfrm>
          <a:prstGeom prst="roundRect">
            <a:avLst>
              <a:gd name="adj" fmla="val 9000"/>
            </a:avLst>
          </a:prstGeom>
          <a:solidFill>
            <a:srgbClr val="163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6537959" y="4050791"/>
            <a:ext cx="2039112" cy="576072"/>
          </a:xfrm>
          <a:prstGeom prst="rect">
            <a:avLst/>
          </a:prstGeom>
          <a:noFill/>
        </p:spPr>
        <p:txBody>
          <a:bodyPr wrap="square" lIns="0" rIns="0" tIns="0" bIns="0">
            <a:spAutoFit/>
          </a:bodyPr>
          <a:lstStyle/>
          <a:p>
            <a:pPr algn="ctr">
              <a:lnSpc>
                <a:spcPct val="105000"/>
              </a:lnSpc>
              <a:spcBef>
                <a:spcPts val="0"/>
              </a:spcBef>
              <a:spcAft>
                <a:spcPts val="500"/>
              </a:spcAft>
              <a:defRPr sz="1700" b="1">
                <a:solidFill>
                  <a:srgbClr val="FFFFFF"/>
                </a:solidFill>
                <a:latin typeface="DejaVu Sans"/>
              </a:defRPr>
            </a:pPr>
            <a:r>
              <a:t>¿Cabe por superficie?</a:t>
            </a:r>
          </a:p>
        </p:txBody>
      </p:sp>
      <p:sp>
        <p:nvSpPr>
          <p:cNvPr id="38" name="TextBox 37"/>
          <p:cNvSpPr txBox="1"/>
          <p:nvPr/>
        </p:nvSpPr>
        <p:spPr>
          <a:xfrm>
            <a:off x="6419088" y="5010912"/>
            <a:ext cx="2276856" cy="713232"/>
          </a:xfrm>
          <a:prstGeom prst="rect">
            <a:avLst/>
          </a:prstGeom>
          <a:noFill/>
        </p:spPr>
        <p:txBody>
          <a:bodyPr wrap="square" lIns="0" rIns="0" tIns="0" bIns="0">
            <a:spAutoFit/>
          </a:bodyPr>
          <a:lstStyle/>
          <a:p>
            <a:pPr algn="l">
              <a:lnSpc>
                <a:spcPct val="105000"/>
              </a:lnSpc>
              <a:spcBef>
                <a:spcPts val="0"/>
              </a:spcBef>
              <a:spcAft>
                <a:spcPts val="500"/>
              </a:spcAft>
              <a:defRPr sz="1500" b="1">
                <a:solidFill>
                  <a:srgbClr val="EAB395"/>
                </a:solidFill>
                <a:latin typeface="DejaVu Sans"/>
              </a:defRPr>
            </a:pPr>
            <a:r>
              <a:t>NO → ajustar y recalcular</a:t>
            </a:r>
          </a:p>
        </p:txBody>
      </p:sp>
      <p:cxnSp>
        <p:nvCxnSpPr>
          <p:cNvPr id="39" name="Connector 38"/>
          <p:cNvCxnSpPr/>
          <p:nvPr/>
        </p:nvCxnSpPr>
        <p:spPr>
          <a:xfrm>
            <a:off x="10469880" y="3401568"/>
            <a:ext cx="0" cy="320040"/>
          </a:xfrm>
          <a:prstGeom prst="line">
            <a:avLst/>
          </a:prstGeom>
          <a:ln w="21590">
            <a:solidFill>
              <a:srgbClr val="6AE9C7"/>
            </a:solidFill>
          </a:ln>
        </p:spPr>
        <p:style>
          <a:lnRef idx="2">
            <a:schemeClr val="accent1"/>
          </a:lnRef>
          <a:fillRef idx="0">
            <a:schemeClr val="accent1"/>
          </a:fillRef>
          <a:effectRef idx="0">
            <a:schemeClr val="accent1"/>
          </a:effectRef>
          <a:fontRef idx="minor">
            <a:schemeClr val="tx1"/>
          </a:fontRef>
        </p:style>
      </p:cxnSp>
      <p:sp>
        <p:nvSpPr>
          <p:cNvPr id="40" name="Isosceles Triangle 39"/>
          <p:cNvSpPr/>
          <p:nvPr/>
        </p:nvSpPr>
        <p:spPr>
          <a:xfrm rot="10800000">
            <a:off x="10419588" y="3671316"/>
            <a:ext cx="100584" cy="100584"/>
          </a:xfrm>
          <a:prstGeom prst="triangle">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9326880" y="3840480"/>
            <a:ext cx="2276856" cy="859536"/>
          </a:xfrm>
          <a:prstGeom prst="roundRect">
            <a:avLst>
              <a:gd name="adj" fmla="val 9000"/>
            </a:avLst>
          </a:prstGeom>
          <a:solidFill>
            <a:srgbClr val="163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9445752" y="4050791"/>
            <a:ext cx="2039112" cy="576072"/>
          </a:xfrm>
          <a:prstGeom prst="rect">
            <a:avLst/>
          </a:prstGeom>
          <a:noFill/>
        </p:spPr>
        <p:txBody>
          <a:bodyPr wrap="square" lIns="0" rIns="0" tIns="0" bIns="0">
            <a:spAutoFit/>
          </a:bodyPr>
          <a:lstStyle/>
          <a:p>
            <a:pPr algn="ctr">
              <a:lnSpc>
                <a:spcPct val="105000"/>
              </a:lnSpc>
              <a:spcBef>
                <a:spcPts val="0"/>
              </a:spcBef>
              <a:spcAft>
                <a:spcPts val="500"/>
              </a:spcAft>
              <a:defRPr sz="1700" b="1">
                <a:solidFill>
                  <a:srgbClr val="FFFFFF"/>
                </a:solidFill>
                <a:latin typeface="DejaVu Sans"/>
              </a:defRPr>
            </a:pPr>
            <a:r>
              <a:t>¿Apertura confirmada?</a:t>
            </a:r>
          </a:p>
        </p:txBody>
      </p:sp>
      <p:sp>
        <p:nvSpPr>
          <p:cNvPr id="43" name="TextBox 42"/>
          <p:cNvSpPr txBox="1"/>
          <p:nvPr/>
        </p:nvSpPr>
        <p:spPr>
          <a:xfrm>
            <a:off x="9326880" y="5010912"/>
            <a:ext cx="2276856" cy="713232"/>
          </a:xfrm>
          <a:prstGeom prst="rect">
            <a:avLst/>
          </a:prstGeom>
          <a:noFill/>
        </p:spPr>
        <p:txBody>
          <a:bodyPr wrap="square" lIns="0" rIns="0" tIns="0" bIns="0">
            <a:spAutoFit/>
          </a:bodyPr>
          <a:lstStyle/>
          <a:p>
            <a:pPr algn="l">
              <a:lnSpc>
                <a:spcPct val="105000"/>
              </a:lnSpc>
              <a:spcBef>
                <a:spcPts val="0"/>
              </a:spcBef>
              <a:spcAft>
                <a:spcPts val="500"/>
              </a:spcAft>
              <a:defRPr sz="1500" b="1">
                <a:solidFill>
                  <a:srgbClr val="EAB395"/>
                </a:solidFill>
                <a:latin typeface="DejaVu Sans"/>
              </a:defRPr>
            </a:pPr>
            <a:r>
              <a:t>NO → no invitar a acudir</a:t>
            </a:r>
          </a:p>
        </p:txBody>
      </p:sp>
      <p:sp>
        <p:nvSpPr>
          <p:cNvPr id="44" name="TextBox 43"/>
          <p:cNvSpPr txBox="1"/>
          <p:nvPr/>
        </p:nvSpPr>
        <p:spPr>
          <a:xfrm>
            <a:off x="612648" y="5879592"/>
            <a:ext cx="10954512" cy="292608"/>
          </a:xfrm>
          <a:prstGeom prst="rect">
            <a:avLst/>
          </a:prstGeom>
          <a:noFill/>
        </p:spPr>
        <p:txBody>
          <a:bodyPr wrap="square" lIns="0" rIns="0" tIns="0" bIns="0">
            <a:spAutoFit/>
          </a:bodyPr>
          <a:lstStyle/>
          <a:p>
            <a:pPr algn="l">
              <a:lnSpc>
                <a:spcPct val="105000"/>
              </a:lnSpc>
              <a:spcBef>
                <a:spcPts val="0"/>
              </a:spcBef>
              <a:spcAft>
                <a:spcPts val="500"/>
              </a:spcAft>
              <a:defRPr sz="1700" b="0">
                <a:solidFill>
                  <a:srgbClr val="FFFFFF"/>
                </a:solidFill>
                <a:latin typeface="DejaVu Sans"/>
              </a:defRPr>
            </a:pPr>
            <a:r>
              <a:t>Con datos y condiciones favorables se continúa; activar sigue siendo decisión de la autoridad.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4323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4323D"/>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ORGANIZACIÓN DEL ESPACIO</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4323D"/>
                </a:solidFill>
                <a:latin typeface="DejaVu Sans"/>
              </a:defRPr>
            </a:pPr>
            <a:r>
              <a:t>El acopio convive con atención, acceso y servicios.</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Ilustración conceptual generada con IA · no es implantación automática, parque real ni diseño técnico aprobado</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4323D"/>
                </a:solidFill>
                <a:latin typeface="DejaVu Sans"/>
              </a:defRPr>
            </a:pPr>
            <a:r>
              <a:t>07</a:t>
            </a:r>
          </a:p>
        </p:txBody>
      </p:sp>
      <p:pic>
        <p:nvPicPr>
          <p:cNvPr id="10" name="Picture 9" descr="espacio-conceptual.png"/>
          <p:cNvPicPr>
            <a:picLocks noChangeAspect="1"/>
          </p:cNvPicPr>
          <p:nvPr/>
        </p:nvPicPr>
        <p:blipFill>
          <a:blip r:embed="rId2"/>
          <a:stretch>
            <a:fillRect/>
          </a:stretch>
        </p:blipFill>
        <p:spPr>
          <a:xfrm>
            <a:off x="719786" y="2267712"/>
            <a:ext cx="7457539" cy="4197096"/>
          </a:xfrm>
          <a:prstGeom prst="rect">
            <a:avLst/>
          </a:prstGeom>
        </p:spPr>
      </p:pic>
      <p:sp>
        <p:nvSpPr>
          <p:cNvPr id="11" name="Oval 10"/>
          <p:cNvSpPr/>
          <p:nvPr/>
        </p:nvSpPr>
        <p:spPr>
          <a:xfrm>
            <a:off x="2002536" y="2980944"/>
            <a:ext cx="338328" cy="338328"/>
          </a:xfrm>
          <a:prstGeom prst="ellipse">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052828" y="3046780"/>
            <a:ext cx="237744" cy="201168"/>
          </a:xfrm>
          <a:prstGeom prst="rect">
            <a:avLst/>
          </a:prstGeom>
          <a:noFill/>
        </p:spPr>
        <p:txBody>
          <a:bodyPr wrap="square" lIns="0" rIns="0" tIns="0" bIns="0">
            <a:spAutoFit/>
          </a:bodyPr>
          <a:lstStyle/>
          <a:p>
            <a:pPr algn="ctr">
              <a:lnSpc>
                <a:spcPct val="105000"/>
              </a:lnSpc>
              <a:spcBef>
                <a:spcPts val="0"/>
              </a:spcBef>
              <a:spcAft>
                <a:spcPts val="500"/>
              </a:spcAft>
              <a:defRPr sz="1100" b="1">
                <a:solidFill>
                  <a:srgbClr val="FFFFFF"/>
                </a:solidFill>
                <a:latin typeface="DejaVu Sans"/>
              </a:defRPr>
            </a:pPr>
            <a:r>
              <a:t>1</a:t>
            </a:r>
          </a:p>
        </p:txBody>
      </p:sp>
      <p:sp>
        <p:nvSpPr>
          <p:cNvPr id="13" name="Oval 12"/>
          <p:cNvSpPr/>
          <p:nvPr/>
        </p:nvSpPr>
        <p:spPr>
          <a:xfrm>
            <a:off x="3968496" y="3886200"/>
            <a:ext cx="338328" cy="338328"/>
          </a:xfrm>
          <a:prstGeom prst="ellipse">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018787" y="3952036"/>
            <a:ext cx="237744" cy="201168"/>
          </a:xfrm>
          <a:prstGeom prst="rect">
            <a:avLst/>
          </a:prstGeom>
          <a:noFill/>
        </p:spPr>
        <p:txBody>
          <a:bodyPr wrap="square" lIns="0" rIns="0" tIns="0" bIns="0">
            <a:spAutoFit/>
          </a:bodyPr>
          <a:lstStyle/>
          <a:p>
            <a:pPr algn="ctr">
              <a:lnSpc>
                <a:spcPct val="105000"/>
              </a:lnSpc>
              <a:spcBef>
                <a:spcPts val="0"/>
              </a:spcBef>
              <a:spcAft>
                <a:spcPts val="500"/>
              </a:spcAft>
              <a:defRPr sz="1100" b="1">
                <a:solidFill>
                  <a:srgbClr val="FFFFFF"/>
                </a:solidFill>
                <a:latin typeface="DejaVu Sans"/>
              </a:defRPr>
            </a:pPr>
            <a:r>
              <a:t>2</a:t>
            </a:r>
          </a:p>
        </p:txBody>
      </p:sp>
      <p:sp>
        <p:nvSpPr>
          <p:cNvPr id="15" name="Oval 14"/>
          <p:cNvSpPr/>
          <p:nvPr/>
        </p:nvSpPr>
        <p:spPr>
          <a:xfrm>
            <a:off x="4937760" y="3136392"/>
            <a:ext cx="338328" cy="338328"/>
          </a:xfrm>
          <a:prstGeom prst="ellipse">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988052" y="3202228"/>
            <a:ext cx="237744" cy="201168"/>
          </a:xfrm>
          <a:prstGeom prst="rect">
            <a:avLst/>
          </a:prstGeom>
          <a:noFill/>
        </p:spPr>
        <p:txBody>
          <a:bodyPr wrap="square" lIns="0" rIns="0" tIns="0" bIns="0">
            <a:spAutoFit/>
          </a:bodyPr>
          <a:lstStyle/>
          <a:p>
            <a:pPr algn="ctr">
              <a:lnSpc>
                <a:spcPct val="105000"/>
              </a:lnSpc>
              <a:spcBef>
                <a:spcPts val="0"/>
              </a:spcBef>
              <a:spcAft>
                <a:spcPts val="500"/>
              </a:spcAft>
              <a:defRPr sz="1100" b="1">
                <a:solidFill>
                  <a:srgbClr val="FFFFFF"/>
                </a:solidFill>
                <a:latin typeface="DejaVu Sans"/>
              </a:defRPr>
            </a:pPr>
            <a:r>
              <a:t>3</a:t>
            </a:r>
          </a:p>
        </p:txBody>
      </p:sp>
      <p:sp>
        <p:nvSpPr>
          <p:cNvPr id="17" name="Oval 16"/>
          <p:cNvSpPr/>
          <p:nvPr/>
        </p:nvSpPr>
        <p:spPr>
          <a:xfrm>
            <a:off x="6254496" y="5129784"/>
            <a:ext cx="338328" cy="338328"/>
          </a:xfrm>
          <a:prstGeom prst="ellipse">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304788" y="5195620"/>
            <a:ext cx="237744" cy="201168"/>
          </a:xfrm>
          <a:prstGeom prst="rect">
            <a:avLst/>
          </a:prstGeom>
          <a:noFill/>
        </p:spPr>
        <p:txBody>
          <a:bodyPr wrap="square" lIns="0" rIns="0" tIns="0" bIns="0">
            <a:spAutoFit/>
          </a:bodyPr>
          <a:lstStyle/>
          <a:p>
            <a:pPr algn="ctr">
              <a:lnSpc>
                <a:spcPct val="105000"/>
              </a:lnSpc>
              <a:spcBef>
                <a:spcPts val="0"/>
              </a:spcBef>
              <a:spcAft>
                <a:spcPts val="500"/>
              </a:spcAft>
              <a:defRPr sz="1100" b="1">
                <a:solidFill>
                  <a:srgbClr val="FFFFFF"/>
                </a:solidFill>
                <a:latin typeface="DejaVu Sans"/>
              </a:defRPr>
            </a:pPr>
            <a:r>
              <a:t>4</a:t>
            </a:r>
          </a:p>
        </p:txBody>
      </p:sp>
      <p:sp>
        <p:nvSpPr>
          <p:cNvPr id="19" name="Oval 18"/>
          <p:cNvSpPr/>
          <p:nvPr/>
        </p:nvSpPr>
        <p:spPr>
          <a:xfrm>
            <a:off x="8659368" y="2359152"/>
            <a:ext cx="274320" cy="274320"/>
          </a:xfrm>
          <a:prstGeom prst="ellipse">
            <a:avLst/>
          </a:prstGeom>
          <a:solidFill>
            <a:srgbClr val="087F8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695944" y="2409444"/>
            <a:ext cx="210312" cy="173736"/>
          </a:xfrm>
          <a:prstGeom prst="rect">
            <a:avLst/>
          </a:prstGeom>
          <a:noFill/>
        </p:spPr>
        <p:txBody>
          <a:bodyPr wrap="square" lIns="0" rIns="0" tIns="0" bIns="0">
            <a:spAutoFit/>
          </a:bodyPr>
          <a:lstStyle/>
          <a:p>
            <a:pPr algn="ctr">
              <a:lnSpc>
                <a:spcPct val="105000"/>
              </a:lnSpc>
              <a:spcBef>
                <a:spcPts val="0"/>
              </a:spcBef>
              <a:spcAft>
                <a:spcPts val="500"/>
              </a:spcAft>
              <a:defRPr sz="900" b="1">
                <a:solidFill>
                  <a:srgbClr val="FFFFFF"/>
                </a:solidFill>
                <a:latin typeface="DejaVu Sans"/>
              </a:defRPr>
            </a:pPr>
            <a:r>
              <a:t>1</a:t>
            </a:r>
          </a:p>
        </p:txBody>
      </p:sp>
      <p:sp>
        <p:nvSpPr>
          <p:cNvPr id="21" name="TextBox 20"/>
          <p:cNvSpPr txBox="1"/>
          <p:nvPr/>
        </p:nvSpPr>
        <p:spPr>
          <a:xfrm>
            <a:off x="9089136" y="2359152"/>
            <a:ext cx="2523744" cy="256032"/>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087F80"/>
                </a:solidFill>
                <a:latin typeface="DejaVu Sans"/>
              </a:defRPr>
            </a:pPr>
            <a:r>
              <a:t>ALMACENAMIENTO</a:t>
            </a:r>
          </a:p>
        </p:txBody>
      </p:sp>
      <p:sp>
        <p:nvSpPr>
          <p:cNvPr id="22" name="TextBox 21"/>
          <p:cNvSpPr txBox="1"/>
          <p:nvPr/>
        </p:nvSpPr>
        <p:spPr>
          <a:xfrm>
            <a:off x="9089136" y="2715768"/>
            <a:ext cx="2487168" cy="521207"/>
          </a:xfrm>
          <a:prstGeom prst="rect">
            <a:avLst/>
          </a:prstGeom>
          <a:noFill/>
        </p:spPr>
        <p:txBody>
          <a:bodyPr wrap="square" lIns="0" rIns="0" tIns="0" bIns="0">
            <a:spAutoFit/>
          </a:bodyPr>
          <a:lstStyle/>
          <a:p>
            <a:pPr algn="l">
              <a:lnSpc>
                <a:spcPct val="105000"/>
              </a:lnSpc>
              <a:spcBef>
                <a:spcPts val="0"/>
              </a:spcBef>
              <a:spcAft>
                <a:spcPts val="500"/>
              </a:spcAft>
              <a:defRPr sz="1500" b="0">
                <a:solidFill>
                  <a:srgbClr val="14323D"/>
                </a:solidFill>
                <a:latin typeface="DejaVu Sans"/>
              </a:defRPr>
            </a:pPr>
            <a:r>
              <a:t>Ayudas protegidas y ordenadas.</a:t>
            </a:r>
          </a:p>
        </p:txBody>
      </p:sp>
      <p:sp>
        <p:nvSpPr>
          <p:cNvPr id="23" name="Oval 22"/>
          <p:cNvSpPr/>
          <p:nvPr/>
        </p:nvSpPr>
        <p:spPr>
          <a:xfrm>
            <a:off x="8659368" y="3264408"/>
            <a:ext cx="274320" cy="274320"/>
          </a:xfrm>
          <a:prstGeom prst="ellipse">
            <a:avLst/>
          </a:prstGeom>
          <a:solidFill>
            <a:srgbClr val="087F8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695944" y="3314700"/>
            <a:ext cx="210312" cy="173736"/>
          </a:xfrm>
          <a:prstGeom prst="rect">
            <a:avLst/>
          </a:prstGeom>
          <a:noFill/>
        </p:spPr>
        <p:txBody>
          <a:bodyPr wrap="square" lIns="0" rIns="0" tIns="0" bIns="0">
            <a:spAutoFit/>
          </a:bodyPr>
          <a:lstStyle/>
          <a:p>
            <a:pPr algn="ctr">
              <a:lnSpc>
                <a:spcPct val="105000"/>
              </a:lnSpc>
              <a:spcBef>
                <a:spcPts val="0"/>
              </a:spcBef>
              <a:spcAft>
                <a:spcPts val="500"/>
              </a:spcAft>
              <a:defRPr sz="900" b="1">
                <a:solidFill>
                  <a:srgbClr val="FFFFFF"/>
                </a:solidFill>
                <a:latin typeface="DejaVu Sans"/>
              </a:defRPr>
            </a:pPr>
            <a:r>
              <a:t>2</a:t>
            </a:r>
          </a:p>
        </p:txBody>
      </p:sp>
      <p:sp>
        <p:nvSpPr>
          <p:cNvPr id="25" name="TextBox 24"/>
          <p:cNvSpPr txBox="1"/>
          <p:nvPr/>
        </p:nvSpPr>
        <p:spPr>
          <a:xfrm>
            <a:off x="9089136" y="3264408"/>
            <a:ext cx="2523744" cy="256032"/>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087F80"/>
                </a:solidFill>
                <a:latin typeface="DejaVu Sans"/>
              </a:defRPr>
            </a:pPr>
            <a:r>
              <a:t>ATENCIÓN</a:t>
            </a:r>
          </a:p>
        </p:txBody>
      </p:sp>
      <p:sp>
        <p:nvSpPr>
          <p:cNvPr id="26" name="TextBox 25"/>
          <p:cNvSpPr txBox="1"/>
          <p:nvPr/>
        </p:nvSpPr>
        <p:spPr>
          <a:xfrm>
            <a:off x="9089136" y="3621024"/>
            <a:ext cx="2487168" cy="521207"/>
          </a:xfrm>
          <a:prstGeom prst="rect">
            <a:avLst/>
          </a:prstGeom>
          <a:noFill/>
        </p:spPr>
        <p:txBody>
          <a:bodyPr wrap="square" lIns="0" rIns="0" tIns="0" bIns="0">
            <a:spAutoFit/>
          </a:bodyPr>
          <a:lstStyle/>
          <a:p>
            <a:pPr algn="l">
              <a:lnSpc>
                <a:spcPct val="105000"/>
              </a:lnSpc>
              <a:spcBef>
                <a:spcPts val="0"/>
              </a:spcBef>
              <a:spcAft>
                <a:spcPts val="500"/>
              </a:spcAft>
              <a:defRPr sz="1500" b="0">
                <a:solidFill>
                  <a:srgbClr val="14323D"/>
                </a:solidFill>
                <a:latin typeface="DejaVu Sans"/>
              </a:defRPr>
            </a:pPr>
            <a:r>
              <a:t>Recepción, entrega y espera.</a:t>
            </a:r>
          </a:p>
        </p:txBody>
      </p:sp>
      <p:sp>
        <p:nvSpPr>
          <p:cNvPr id="27" name="Oval 26"/>
          <p:cNvSpPr/>
          <p:nvPr/>
        </p:nvSpPr>
        <p:spPr>
          <a:xfrm>
            <a:off x="8659368" y="4169664"/>
            <a:ext cx="274320" cy="274320"/>
          </a:xfrm>
          <a:prstGeom prst="ellipse">
            <a:avLst/>
          </a:prstGeom>
          <a:solidFill>
            <a:srgbClr val="087F8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8695944" y="4219956"/>
            <a:ext cx="210312" cy="173736"/>
          </a:xfrm>
          <a:prstGeom prst="rect">
            <a:avLst/>
          </a:prstGeom>
          <a:noFill/>
        </p:spPr>
        <p:txBody>
          <a:bodyPr wrap="square" lIns="0" rIns="0" tIns="0" bIns="0">
            <a:spAutoFit/>
          </a:bodyPr>
          <a:lstStyle/>
          <a:p>
            <a:pPr algn="ctr">
              <a:lnSpc>
                <a:spcPct val="105000"/>
              </a:lnSpc>
              <a:spcBef>
                <a:spcPts val="0"/>
              </a:spcBef>
              <a:spcAft>
                <a:spcPts val="500"/>
              </a:spcAft>
              <a:defRPr sz="900" b="1">
                <a:solidFill>
                  <a:srgbClr val="FFFFFF"/>
                </a:solidFill>
                <a:latin typeface="DejaVu Sans"/>
              </a:defRPr>
            </a:pPr>
            <a:r>
              <a:t>3</a:t>
            </a:r>
          </a:p>
        </p:txBody>
      </p:sp>
      <p:sp>
        <p:nvSpPr>
          <p:cNvPr id="29" name="TextBox 28"/>
          <p:cNvSpPr txBox="1"/>
          <p:nvPr/>
        </p:nvSpPr>
        <p:spPr>
          <a:xfrm>
            <a:off x="9089136" y="4169664"/>
            <a:ext cx="2523744" cy="256032"/>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087F80"/>
                </a:solidFill>
                <a:latin typeface="DejaVu Sans"/>
              </a:defRPr>
            </a:pPr>
            <a:r>
              <a:t>SERVICIOS</a:t>
            </a:r>
          </a:p>
        </p:txBody>
      </p:sp>
      <p:sp>
        <p:nvSpPr>
          <p:cNvPr id="30" name="TextBox 29"/>
          <p:cNvSpPr txBox="1"/>
          <p:nvPr/>
        </p:nvSpPr>
        <p:spPr>
          <a:xfrm>
            <a:off x="9089136" y="4526280"/>
            <a:ext cx="2487168" cy="521207"/>
          </a:xfrm>
          <a:prstGeom prst="rect">
            <a:avLst/>
          </a:prstGeom>
          <a:noFill/>
        </p:spPr>
        <p:txBody>
          <a:bodyPr wrap="square" lIns="0" rIns="0" tIns="0" bIns="0">
            <a:spAutoFit/>
          </a:bodyPr>
          <a:lstStyle/>
          <a:p>
            <a:pPr algn="l">
              <a:lnSpc>
                <a:spcPct val="105000"/>
              </a:lnSpc>
              <a:spcBef>
                <a:spcPts val="0"/>
              </a:spcBef>
              <a:spcAft>
                <a:spcPts val="500"/>
              </a:spcAft>
              <a:defRPr sz="1500" b="0">
                <a:solidFill>
                  <a:srgbClr val="14323D"/>
                </a:solidFill>
                <a:latin typeface="DejaVu Sans"/>
              </a:defRPr>
            </a:pPr>
            <a:r>
              <a:t>Agua y operación por verificar.</a:t>
            </a:r>
          </a:p>
        </p:txBody>
      </p:sp>
      <p:sp>
        <p:nvSpPr>
          <p:cNvPr id="31" name="Oval 30"/>
          <p:cNvSpPr/>
          <p:nvPr/>
        </p:nvSpPr>
        <p:spPr>
          <a:xfrm>
            <a:off x="8659368" y="5074920"/>
            <a:ext cx="274320" cy="274320"/>
          </a:xfrm>
          <a:prstGeom prst="ellipse">
            <a:avLst/>
          </a:prstGeom>
          <a:solidFill>
            <a:srgbClr val="087F8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695944" y="5125212"/>
            <a:ext cx="210312" cy="173736"/>
          </a:xfrm>
          <a:prstGeom prst="rect">
            <a:avLst/>
          </a:prstGeom>
          <a:noFill/>
        </p:spPr>
        <p:txBody>
          <a:bodyPr wrap="square" lIns="0" rIns="0" tIns="0" bIns="0">
            <a:spAutoFit/>
          </a:bodyPr>
          <a:lstStyle/>
          <a:p>
            <a:pPr algn="ctr">
              <a:lnSpc>
                <a:spcPct val="105000"/>
              </a:lnSpc>
              <a:spcBef>
                <a:spcPts val="0"/>
              </a:spcBef>
              <a:spcAft>
                <a:spcPts val="500"/>
              </a:spcAft>
              <a:defRPr sz="900" b="1">
                <a:solidFill>
                  <a:srgbClr val="FFFFFF"/>
                </a:solidFill>
                <a:latin typeface="DejaVu Sans"/>
              </a:defRPr>
            </a:pPr>
            <a:r>
              <a:t>4</a:t>
            </a:r>
          </a:p>
        </p:txBody>
      </p:sp>
      <p:sp>
        <p:nvSpPr>
          <p:cNvPr id="33" name="TextBox 32"/>
          <p:cNvSpPr txBox="1"/>
          <p:nvPr/>
        </p:nvSpPr>
        <p:spPr>
          <a:xfrm>
            <a:off x="9089136" y="5074920"/>
            <a:ext cx="2523744" cy="256032"/>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087F80"/>
                </a:solidFill>
                <a:latin typeface="DejaVu Sans"/>
              </a:defRPr>
            </a:pPr>
            <a:r>
              <a:t>CIRCULACIÓN</a:t>
            </a:r>
          </a:p>
        </p:txBody>
      </p:sp>
      <p:sp>
        <p:nvSpPr>
          <p:cNvPr id="34" name="TextBox 33"/>
          <p:cNvSpPr txBox="1"/>
          <p:nvPr/>
        </p:nvSpPr>
        <p:spPr>
          <a:xfrm>
            <a:off x="9089136" y="5431536"/>
            <a:ext cx="2487168" cy="521207"/>
          </a:xfrm>
          <a:prstGeom prst="rect">
            <a:avLst/>
          </a:prstGeom>
          <a:noFill/>
        </p:spPr>
        <p:txBody>
          <a:bodyPr wrap="square" lIns="0" rIns="0" tIns="0" bIns="0">
            <a:spAutoFit/>
          </a:bodyPr>
          <a:lstStyle/>
          <a:p>
            <a:pPr algn="l">
              <a:lnSpc>
                <a:spcPct val="105000"/>
              </a:lnSpc>
              <a:spcBef>
                <a:spcPts val="0"/>
              </a:spcBef>
              <a:spcAft>
                <a:spcPts val="500"/>
              </a:spcAft>
              <a:defRPr sz="1500" b="0">
                <a:solidFill>
                  <a:srgbClr val="14323D"/>
                </a:solidFill>
                <a:latin typeface="DejaVu Sans"/>
              </a:defRPr>
            </a:pPr>
            <a:r>
              <a:t>Accesos libres y rutas revisables.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4323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4323D"/>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CASO REAL + SUPUESTOS</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4323D"/>
                </a:solidFill>
                <a:latin typeface="DejaVu Sans"/>
              </a:defRPr>
            </a:pPr>
            <a:r>
              <a:t>De 447,21 m² a 167,21 m² para proponer acopio.</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Área real epou-9465: 447,2149007 m² · reservas SIMULADAS · cálculo del frontend, sin aforo certificado</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4323D"/>
                </a:solidFill>
                <a:latin typeface="DejaVu Sans"/>
              </a:defRPr>
            </a:pPr>
            <a:r>
              <a:t>08</a:t>
            </a:r>
          </a:p>
        </p:txBody>
      </p:sp>
      <p:sp>
        <p:nvSpPr>
          <p:cNvPr id="10" name="TextBox 9"/>
          <p:cNvSpPr txBox="1"/>
          <p:nvPr/>
        </p:nvSpPr>
        <p:spPr>
          <a:xfrm>
            <a:off x="576072" y="2468880"/>
            <a:ext cx="5065776" cy="393192"/>
          </a:xfrm>
          <a:prstGeom prst="rect">
            <a:avLst/>
          </a:prstGeom>
          <a:noFill/>
        </p:spPr>
        <p:txBody>
          <a:bodyPr wrap="square" lIns="0" rIns="0" tIns="0" bIns="0">
            <a:spAutoFit/>
          </a:bodyPr>
          <a:lstStyle/>
          <a:p>
            <a:pPr algn="l">
              <a:lnSpc>
                <a:spcPct val="105000"/>
              </a:lnSpc>
              <a:spcBef>
                <a:spcPts val="0"/>
              </a:spcBef>
              <a:spcAft>
                <a:spcPts val="500"/>
              </a:spcAft>
              <a:defRPr sz="2300" b="1">
                <a:solidFill>
                  <a:srgbClr val="14323D"/>
                </a:solidFill>
                <a:latin typeface="DejaVu Sans"/>
              </a:defRPr>
            </a:pPr>
            <a:r>
              <a:t>¿Qué se descuenta?</a:t>
            </a:r>
          </a:p>
        </p:txBody>
      </p:sp>
      <p:sp>
        <p:nvSpPr>
          <p:cNvPr id="11" name="Rectangle 10"/>
          <p:cNvSpPr/>
          <p:nvPr/>
        </p:nvSpPr>
        <p:spPr>
          <a:xfrm>
            <a:off x="594360" y="3136392"/>
            <a:ext cx="2453585" cy="859536"/>
          </a:xfrm>
          <a:prstGeom prst="rect">
            <a:avLst/>
          </a:prstGeom>
          <a:solidFill>
            <a:srgbClr val="879B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30936" y="3383280"/>
            <a:ext cx="2380433" cy="292608"/>
          </a:xfrm>
          <a:prstGeom prst="rect">
            <a:avLst/>
          </a:prstGeom>
          <a:noFill/>
        </p:spPr>
        <p:txBody>
          <a:bodyPr wrap="square" lIns="0" rIns="0" tIns="0" bIns="0">
            <a:spAutoFit/>
          </a:bodyPr>
          <a:lstStyle/>
          <a:p>
            <a:pPr algn="ctr">
              <a:lnSpc>
                <a:spcPct val="105000"/>
              </a:lnSpc>
              <a:spcBef>
                <a:spcPts val="0"/>
              </a:spcBef>
              <a:spcAft>
                <a:spcPts val="500"/>
              </a:spcAft>
              <a:defRPr sz="1800" b="1">
                <a:solidFill>
                  <a:srgbClr val="14323D"/>
                </a:solidFill>
                <a:latin typeface="DejaVu Sans"/>
              </a:defRPr>
            </a:pPr>
            <a:r>
              <a:t>100</a:t>
            </a:r>
          </a:p>
        </p:txBody>
      </p:sp>
      <p:sp>
        <p:nvSpPr>
          <p:cNvPr id="13" name="Rectangle 12"/>
          <p:cNvSpPr/>
          <p:nvPr/>
        </p:nvSpPr>
        <p:spPr>
          <a:xfrm>
            <a:off x="3047945" y="3136392"/>
            <a:ext cx="1962868" cy="859536"/>
          </a:xfrm>
          <a:prstGeom prst="rect">
            <a:avLst/>
          </a:prstGeom>
          <a:solidFill>
            <a:srgbClr val="B7C8C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084521" y="3383280"/>
            <a:ext cx="1889716" cy="292608"/>
          </a:xfrm>
          <a:prstGeom prst="rect">
            <a:avLst/>
          </a:prstGeom>
          <a:noFill/>
        </p:spPr>
        <p:txBody>
          <a:bodyPr wrap="square" lIns="0" rIns="0" tIns="0" bIns="0">
            <a:spAutoFit/>
          </a:bodyPr>
          <a:lstStyle/>
          <a:p>
            <a:pPr algn="ctr">
              <a:lnSpc>
                <a:spcPct val="105000"/>
              </a:lnSpc>
              <a:spcBef>
                <a:spcPts val="0"/>
              </a:spcBef>
              <a:spcAft>
                <a:spcPts val="500"/>
              </a:spcAft>
              <a:defRPr sz="1800" b="1">
                <a:solidFill>
                  <a:srgbClr val="14323D"/>
                </a:solidFill>
                <a:latin typeface="DejaVu Sans"/>
              </a:defRPr>
            </a:pPr>
            <a:r>
              <a:t>80</a:t>
            </a:r>
          </a:p>
        </p:txBody>
      </p:sp>
      <p:sp>
        <p:nvSpPr>
          <p:cNvPr id="15" name="Rectangle 14"/>
          <p:cNvSpPr/>
          <p:nvPr/>
        </p:nvSpPr>
        <p:spPr>
          <a:xfrm>
            <a:off x="5010813" y="3136392"/>
            <a:ext cx="1472151" cy="859536"/>
          </a:xfrm>
          <a:prstGeom prst="rect">
            <a:avLst/>
          </a:prstGeom>
          <a:solidFill>
            <a:srgbClr val="F1B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047389" y="3383280"/>
            <a:ext cx="1398999" cy="292608"/>
          </a:xfrm>
          <a:prstGeom prst="rect">
            <a:avLst/>
          </a:prstGeom>
          <a:noFill/>
        </p:spPr>
        <p:txBody>
          <a:bodyPr wrap="square" lIns="0" rIns="0" tIns="0" bIns="0">
            <a:spAutoFit/>
          </a:bodyPr>
          <a:lstStyle/>
          <a:p>
            <a:pPr algn="ctr">
              <a:lnSpc>
                <a:spcPct val="105000"/>
              </a:lnSpc>
              <a:spcBef>
                <a:spcPts val="0"/>
              </a:spcBef>
              <a:spcAft>
                <a:spcPts val="500"/>
              </a:spcAft>
              <a:defRPr sz="1800" b="1">
                <a:solidFill>
                  <a:srgbClr val="14323D"/>
                </a:solidFill>
                <a:latin typeface="DejaVu Sans"/>
              </a:defRPr>
            </a:pPr>
            <a:r>
              <a:t>60</a:t>
            </a:r>
          </a:p>
        </p:txBody>
      </p:sp>
      <p:sp>
        <p:nvSpPr>
          <p:cNvPr id="17" name="Rectangle 16"/>
          <p:cNvSpPr/>
          <p:nvPr/>
        </p:nvSpPr>
        <p:spPr>
          <a:xfrm>
            <a:off x="6482965" y="3136392"/>
            <a:ext cx="981434" cy="859536"/>
          </a:xfrm>
          <a:prstGeom prst="rect">
            <a:avLst/>
          </a:prstGeom>
          <a:solidFill>
            <a:srgbClr val="C5D8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519541" y="3383280"/>
            <a:ext cx="908282" cy="292608"/>
          </a:xfrm>
          <a:prstGeom prst="rect">
            <a:avLst/>
          </a:prstGeom>
          <a:noFill/>
        </p:spPr>
        <p:txBody>
          <a:bodyPr wrap="square" lIns="0" rIns="0" tIns="0" bIns="0">
            <a:spAutoFit/>
          </a:bodyPr>
          <a:lstStyle/>
          <a:p>
            <a:pPr algn="ctr">
              <a:lnSpc>
                <a:spcPct val="105000"/>
              </a:lnSpc>
              <a:spcBef>
                <a:spcPts val="0"/>
              </a:spcBef>
              <a:spcAft>
                <a:spcPts val="500"/>
              </a:spcAft>
              <a:defRPr sz="1800" b="1">
                <a:solidFill>
                  <a:srgbClr val="14323D"/>
                </a:solidFill>
                <a:latin typeface="DejaVu Sans"/>
              </a:defRPr>
            </a:pPr>
            <a:r>
              <a:t>40</a:t>
            </a:r>
          </a:p>
        </p:txBody>
      </p:sp>
      <p:sp>
        <p:nvSpPr>
          <p:cNvPr id="19" name="Rectangle 18"/>
          <p:cNvSpPr/>
          <p:nvPr/>
        </p:nvSpPr>
        <p:spPr>
          <a:xfrm>
            <a:off x="7464399" y="3136392"/>
            <a:ext cx="4102760" cy="859536"/>
          </a:xfrm>
          <a:prstGeom prst="rect">
            <a:avLst/>
          </a:prstGeom>
          <a:solidFill>
            <a:srgbClr val="087F8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00975" y="3383280"/>
            <a:ext cx="4029608" cy="292608"/>
          </a:xfrm>
          <a:prstGeom prst="rect">
            <a:avLst/>
          </a:prstGeom>
          <a:noFill/>
        </p:spPr>
        <p:txBody>
          <a:bodyPr wrap="square" lIns="0" rIns="0" tIns="0" bIns="0">
            <a:spAutoFit/>
          </a:bodyPr>
          <a:lstStyle/>
          <a:p>
            <a:pPr algn="ctr">
              <a:lnSpc>
                <a:spcPct val="105000"/>
              </a:lnSpc>
              <a:spcBef>
                <a:spcPts val="0"/>
              </a:spcBef>
              <a:spcAft>
                <a:spcPts val="500"/>
              </a:spcAft>
              <a:defRPr sz="1800" b="1">
                <a:solidFill>
                  <a:srgbClr val="FFFFFF"/>
                </a:solidFill>
                <a:latin typeface="DejaVu Sans"/>
              </a:defRPr>
            </a:pPr>
            <a:r>
              <a:t>167,21</a:t>
            </a:r>
          </a:p>
        </p:txBody>
      </p:sp>
      <p:sp>
        <p:nvSpPr>
          <p:cNvPr id="21" name="Oval 20"/>
          <p:cNvSpPr/>
          <p:nvPr/>
        </p:nvSpPr>
        <p:spPr>
          <a:xfrm>
            <a:off x="603504" y="4315968"/>
            <a:ext cx="137160" cy="137160"/>
          </a:xfrm>
          <a:prstGeom prst="ellipse">
            <a:avLst/>
          </a:prstGeom>
          <a:solidFill>
            <a:srgbClr val="879B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 y="4251960"/>
            <a:ext cx="1865376" cy="768096"/>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14323D"/>
                </a:solidFill>
                <a:latin typeface="DejaVu Sans"/>
              </a:defRPr>
            </a:pPr>
            <a:r>
              <a:t>Área no utilizable</a:t>
            </a:r>
          </a:p>
        </p:txBody>
      </p:sp>
      <p:sp>
        <p:nvSpPr>
          <p:cNvPr id="23" name="Oval 22"/>
          <p:cNvSpPr/>
          <p:nvPr/>
        </p:nvSpPr>
        <p:spPr>
          <a:xfrm>
            <a:off x="2825496" y="4315968"/>
            <a:ext cx="137160" cy="137160"/>
          </a:xfrm>
          <a:prstGeom prst="ellipse">
            <a:avLst/>
          </a:prstGeom>
          <a:solidFill>
            <a:srgbClr val="B7C8C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054096" y="4251960"/>
            <a:ext cx="1865376" cy="768096"/>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14323D"/>
                </a:solidFill>
                <a:latin typeface="DejaVu Sans"/>
              </a:defRPr>
            </a:pPr>
            <a:r>
              <a:t>Circulación y accesos</a:t>
            </a:r>
          </a:p>
        </p:txBody>
      </p:sp>
      <p:sp>
        <p:nvSpPr>
          <p:cNvPr id="25" name="Oval 24"/>
          <p:cNvSpPr/>
          <p:nvPr/>
        </p:nvSpPr>
        <p:spPr>
          <a:xfrm>
            <a:off x="5047488" y="4315968"/>
            <a:ext cx="137160" cy="137160"/>
          </a:xfrm>
          <a:prstGeom prst="ellipse">
            <a:avLst/>
          </a:prstGeom>
          <a:solidFill>
            <a:srgbClr val="F1B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276088" y="4251960"/>
            <a:ext cx="1865376" cy="768096"/>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14323D"/>
                </a:solidFill>
                <a:latin typeface="DejaVu Sans"/>
              </a:defRPr>
            </a:pPr>
            <a:r>
              <a:t>Atención y espera</a:t>
            </a:r>
          </a:p>
        </p:txBody>
      </p:sp>
      <p:sp>
        <p:nvSpPr>
          <p:cNvPr id="27" name="Oval 26"/>
          <p:cNvSpPr/>
          <p:nvPr/>
        </p:nvSpPr>
        <p:spPr>
          <a:xfrm>
            <a:off x="7269480" y="4315968"/>
            <a:ext cx="137160" cy="137160"/>
          </a:xfrm>
          <a:prstGeom prst="ellipse">
            <a:avLst/>
          </a:prstGeom>
          <a:solidFill>
            <a:srgbClr val="C5D8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498080" y="4251960"/>
            <a:ext cx="1865376" cy="768096"/>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14323D"/>
                </a:solidFill>
                <a:latin typeface="DejaVu Sans"/>
              </a:defRPr>
            </a:pPr>
            <a:r>
              <a:t>Otros usos / ocupación</a:t>
            </a:r>
          </a:p>
        </p:txBody>
      </p:sp>
      <p:sp>
        <p:nvSpPr>
          <p:cNvPr id="29" name="Oval 28"/>
          <p:cNvSpPr/>
          <p:nvPr/>
        </p:nvSpPr>
        <p:spPr>
          <a:xfrm>
            <a:off x="9491472" y="4315968"/>
            <a:ext cx="137160" cy="137160"/>
          </a:xfrm>
          <a:prstGeom prst="ellipse">
            <a:avLst/>
          </a:prstGeom>
          <a:solidFill>
            <a:srgbClr val="087F8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9720072" y="4251960"/>
            <a:ext cx="1865376" cy="768096"/>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14323D"/>
                </a:solidFill>
                <a:latin typeface="DejaVu Sans"/>
              </a:defRPr>
            </a:pPr>
            <a:r>
              <a:t>Almacenamiento restante</a:t>
            </a:r>
          </a:p>
        </p:txBody>
      </p:sp>
      <p:sp>
        <p:nvSpPr>
          <p:cNvPr id="31" name="Rounded Rectangle 30"/>
          <p:cNvSpPr/>
          <p:nvPr/>
        </p:nvSpPr>
        <p:spPr>
          <a:xfrm>
            <a:off x="594360" y="5303520"/>
            <a:ext cx="10972800" cy="649224"/>
          </a:xfrm>
          <a:prstGeom prst="roundRect">
            <a:avLst>
              <a:gd name="adj" fmla="val 9000"/>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22960" y="5458968"/>
            <a:ext cx="10469880" cy="365760"/>
          </a:xfrm>
          <a:prstGeom prst="rect">
            <a:avLst/>
          </a:prstGeom>
          <a:noFill/>
        </p:spPr>
        <p:txBody>
          <a:bodyPr wrap="square" lIns="0" rIns="0" tIns="0" bIns="0">
            <a:spAutoFit/>
          </a:bodyPr>
          <a:lstStyle/>
          <a:p>
            <a:pPr algn="l">
              <a:lnSpc>
                <a:spcPct val="105000"/>
              </a:lnSpc>
              <a:spcBef>
                <a:spcPts val="0"/>
              </a:spcBef>
              <a:spcAft>
                <a:spcPts val="500"/>
              </a:spcAft>
              <a:defRPr sz="2000" b="1">
                <a:solidFill>
                  <a:srgbClr val="FFFFFF"/>
                </a:solidFill>
                <a:latin typeface="DejaVu Sans"/>
              </a:defRPr>
            </a:pPr>
            <a:r>
              <a:t>447,21 − (100 + 80 + 60 + 40) = 167,21 m² disponibles en el supuesto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4323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4323D"/>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DEMOSTRACIÓN DEL CONTROL</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4323D"/>
                </a:solidFill>
                <a:latin typeface="DejaVu Sans"/>
              </a:defRPr>
            </a:pPr>
            <a:r>
              <a:t>20 exceden. 16 pasan el balance por área.</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Producto: Territorio Preparado · Responde al RETO-01 Cali Activa · Prototipo</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4323D"/>
                </a:solidFill>
                <a:latin typeface="DejaVu Sans"/>
              </a:defRPr>
            </a:pPr>
            <a:r>
              <a:t>09</a:t>
            </a:r>
          </a:p>
        </p:txBody>
      </p:sp>
      <p:sp>
        <p:nvSpPr>
          <p:cNvPr id="10" name="Rounded Rectangle 9"/>
          <p:cNvSpPr/>
          <p:nvPr/>
        </p:nvSpPr>
        <p:spPr>
          <a:xfrm>
            <a:off x="585216" y="2423160"/>
            <a:ext cx="5212080" cy="1536192"/>
          </a:xfrm>
          <a:prstGeom prst="roundRect">
            <a:avLst>
              <a:gd name="adj" fmla="val 900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68096" y="2633472"/>
            <a:ext cx="1280160" cy="822960"/>
          </a:xfrm>
          <a:prstGeom prst="rect">
            <a:avLst/>
          </a:prstGeom>
          <a:noFill/>
        </p:spPr>
        <p:txBody>
          <a:bodyPr wrap="square" lIns="0" rIns="0" tIns="0" bIns="0">
            <a:spAutoFit/>
          </a:bodyPr>
          <a:lstStyle/>
          <a:p>
            <a:pPr algn="l">
              <a:lnSpc>
                <a:spcPct val="105000"/>
              </a:lnSpc>
              <a:spcBef>
                <a:spcPts val="0"/>
              </a:spcBef>
              <a:spcAft>
                <a:spcPts val="500"/>
              </a:spcAft>
              <a:defRPr sz="5600" b="1">
                <a:solidFill>
                  <a:srgbClr val="AE4237"/>
                </a:solidFill>
                <a:latin typeface="DejaVu Sans"/>
              </a:defRPr>
            </a:pPr>
            <a:r>
              <a:t>20</a:t>
            </a:r>
          </a:p>
        </p:txBody>
      </p:sp>
      <p:sp>
        <p:nvSpPr>
          <p:cNvPr id="12" name="TextBox 11"/>
          <p:cNvSpPr txBox="1"/>
          <p:nvPr/>
        </p:nvSpPr>
        <p:spPr>
          <a:xfrm>
            <a:off x="2258568" y="2697480"/>
            <a:ext cx="3282696" cy="548640"/>
          </a:xfrm>
          <a:prstGeom prst="rect">
            <a:avLst/>
          </a:prstGeom>
          <a:noFill/>
        </p:spPr>
        <p:txBody>
          <a:bodyPr wrap="square" lIns="0" rIns="0" tIns="0" bIns="0">
            <a:spAutoFit/>
          </a:bodyPr>
          <a:lstStyle/>
          <a:p>
            <a:pPr algn="l">
              <a:lnSpc>
                <a:spcPct val="105000"/>
              </a:lnSpc>
              <a:spcBef>
                <a:spcPts val="0"/>
              </a:spcBef>
              <a:spcAft>
                <a:spcPts val="500"/>
              </a:spcAft>
              <a:defRPr sz="1500" b="1">
                <a:solidFill>
                  <a:srgbClr val="AE4237"/>
                </a:solidFill>
                <a:latin typeface="DejaVu Sans"/>
              </a:defRPr>
            </a:pPr>
            <a:r>
              <a:t>PROPUESTA BLOQUEADA</a:t>
            </a:r>
          </a:p>
        </p:txBody>
      </p:sp>
      <p:sp>
        <p:nvSpPr>
          <p:cNvPr id="13" name="TextBox 12"/>
          <p:cNvSpPr txBox="1"/>
          <p:nvPr/>
        </p:nvSpPr>
        <p:spPr>
          <a:xfrm>
            <a:off x="2258568" y="3255264"/>
            <a:ext cx="3300984" cy="475488"/>
          </a:xfrm>
          <a:prstGeom prst="rect">
            <a:avLst/>
          </a:prstGeom>
          <a:noFill/>
        </p:spPr>
        <p:txBody>
          <a:bodyPr wrap="square" lIns="0" rIns="0" tIns="0" bIns="0">
            <a:spAutoFit/>
          </a:bodyPr>
          <a:lstStyle/>
          <a:p>
            <a:pPr algn="l">
              <a:lnSpc>
                <a:spcPct val="105000"/>
              </a:lnSpc>
              <a:spcBef>
                <a:spcPts val="0"/>
              </a:spcBef>
              <a:spcAft>
                <a:spcPts val="500"/>
              </a:spcAft>
              <a:defRPr sz="1400" b="0">
                <a:solidFill>
                  <a:srgbClr val="14323D"/>
                </a:solidFill>
                <a:latin typeface="DejaVu Sans"/>
              </a:defRPr>
            </a:pPr>
            <a:r>
              <a:t>200 m² pedidos → excede 32,79 m²</a:t>
            </a:r>
          </a:p>
        </p:txBody>
      </p:sp>
      <p:sp>
        <p:nvSpPr>
          <p:cNvPr id="14" name="Rounded Rectangle 13"/>
          <p:cNvSpPr/>
          <p:nvPr/>
        </p:nvSpPr>
        <p:spPr>
          <a:xfrm>
            <a:off x="6382512" y="2423160"/>
            <a:ext cx="5212080" cy="1536192"/>
          </a:xfrm>
          <a:prstGeom prst="roundRect">
            <a:avLst>
              <a:gd name="adj" fmla="val 900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565392" y="2633472"/>
            <a:ext cx="1280160" cy="822960"/>
          </a:xfrm>
          <a:prstGeom prst="rect">
            <a:avLst/>
          </a:prstGeom>
          <a:noFill/>
        </p:spPr>
        <p:txBody>
          <a:bodyPr wrap="square" lIns="0" rIns="0" tIns="0" bIns="0">
            <a:spAutoFit/>
          </a:bodyPr>
          <a:lstStyle/>
          <a:p>
            <a:pPr algn="l">
              <a:lnSpc>
                <a:spcPct val="105000"/>
              </a:lnSpc>
              <a:spcBef>
                <a:spcPts val="0"/>
              </a:spcBef>
              <a:spcAft>
                <a:spcPts val="500"/>
              </a:spcAft>
              <a:defRPr sz="5600" b="1">
                <a:solidFill>
                  <a:srgbClr val="087F80"/>
                </a:solidFill>
                <a:latin typeface="DejaVu Sans"/>
              </a:defRPr>
            </a:pPr>
            <a:r>
              <a:t>16</a:t>
            </a:r>
          </a:p>
        </p:txBody>
      </p:sp>
      <p:sp>
        <p:nvSpPr>
          <p:cNvPr id="16" name="TextBox 15"/>
          <p:cNvSpPr txBox="1"/>
          <p:nvPr/>
        </p:nvSpPr>
        <p:spPr>
          <a:xfrm>
            <a:off x="8055864" y="2697480"/>
            <a:ext cx="3282696" cy="548640"/>
          </a:xfrm>
          <a:prstGeom prst="rect">
            <a:avLst/>
          </a:prstGeom>
          <a:noFill/>
        </p:spPr>
        <p:txBody>
          <a:bodyPr wrap="square" lIns="0" rIns="0" tIns="0" bIns="0">
            <a:spAutoFit/>
          </a:bodyPr>
          <a:lstStyle/>
          <a:p>
            <a:pPr algn="l">
              <a:lnSpc>
                <a:spcPct val="105000"/>
              </a:lnSpc>
              <a:spcBef>
                <a:spcPts val="0"/>
              </a:spcBef>
              <a:spcAft>
                <a:spcPts val="500"/>
              </a:spcAft>
              <a:defRPr sz="1500" b="1">
                <a:solidFill>
                  <a:srgbClr val="087F80"/>
                </a:solidFill>
                <a:latin typeface="DejaVu Sans"/>
              </a:defRPr>
            </a:pPr>
            <a:r>
              <a:t>PROPUESTA AJUSTADA</a:t>
            </a:r>
          </a:p>
        </p:txBody>
      </p:sp>
      <p:sp>
        <p:nvSpPr>
          <p:cNvPr id="17" name="TextBox 16"/>
          <p:cNvSpPr txBox="1"/>
          <p:nvPr/>
        </p:nvSpPr>
        <p:spPr>
          <a:xfrm>
            <a:off x="8055864" y="3255264"/>
            <a:ext cx="3300984" cy="475488"/>
          </a:xfrm>
          <a:prstGeom prst="rect">
            <a:avLst/>
          </a:prstGeom>
          <a:noFill/>
        </p:spPr>
        <p:txBody>
          <a:bodyPr wrap="square" lIns="0" rIns="0" tIns="0" bIns="0">
            <a:spAutoFit/>
          </a:bodyPr>
          <a:lstStyle/>
          <a:p>
            <a:pPr algn="l">
              <a:lnSpc>
                <a:spcPct val="105000"/>
              </a:lnSpc>
              <a:spcBef>
                <a:spcPts val="0"/>
              </a:spcBef>
              <a:spcAft>
                <a:spcPts val="500"/>
              </a:spcAft>
              <a:defRPr sz="1400" b="0">
                <a:solidFill>
                  <a:srgbClr val="14323D"/>
                </a:solidFill>
                <a:latin typeface="DejaVu Sans"/>
              </a:defRPr>
            </a:pPr>
            <a:r>
              <a:t>160 m² pedidos → restan 7,21 m²</a:t>
            </a:r>
          </a:p>
        </p:txBody>
      </p:sp>
      <p:pic>
        <p:nvPicPr>
          <p:cNvPr id="18" name="Picture 17" descr="exceso.png"/>
          <p:cNvPicPr>
            <a:picLocks noChangeAspect="1"/>
          </p:cNvPicPr>
          <p:nvPr/>
        </p:nvPicPr>
        <p:blipFill>
          <a:blip r:embed="rId2"/>
          <a:stretch>
            <a:fillRect/>
          </a:stretch>
        </p:blipFill>
        <p:spPr>
          <a:xfrm>
            <a:off x="594360" y="4384934"/>
            <a:ext cx="5212080" cy="849618"/>
          </a:xfrm>
          <a:prstGeom prst="rect">
            <a:avLst/>
          </a:prstGeom>
        </p:spPr>
      </p:pic>
      <p:pic>
        <p:nvPicPr>
          <p:cNvPr id="19" name="Picture 18" descr="ajuste.png"/>
          <p:cNvPicPr>
            <a:picLocks noChangeAspect="1"/>
          </p:cNvPicPr>
          <p:nvPr/>
        </p:nvPicPr>
        <p:blipFill>
          <a:blip r:embed="rId3"/>
          <a:stretch>
            <a:fillRect/>
          </a:stretch>
        </p:blipFill>
        <p:spPr>
          <a:xfrm>
            <a:off x="6382512" y="4384934"/>
            <a:ext cx="5212080" cy="849618"/>
          </a:xfrm>
          <a:prstGeom prst="rect">
            <a:avLst/>
          </a:prstGeom>
        </p:spPr>
      </p:pic>
      <p:sp>
        <p:nvSpPr>
          <p:cNvPr id="20" name="TextBox 19"/>
          <p:cNvSpPr txBox="1"/>
          <p:nvPr/>
        </p:nvSpPr>
        <p:spPr>
          <a:xfrm>
            <a:off x="594360" y="5577840"/>
            <a:ext cx="10936224" cy="310896"/>
          </a:xfrm>
          <a:prstGeom prst="rect">
            <a:avLst/>
          </a:prstGeom>
          <a:noFill/>
        </p:spPr>
        <p:txBody>
          <a:bodyPr wrap="square" lIns="0" rIns="0" tIns="0" bIns="0">
            <a:spAutoFit/>
          </a:bodyPr>
          <a:lstStyle/>
          <a:p>
            <a:pPr algn="l">
              <a:lnSpc>
                <a:spcPct val="105000"/>
              </a:lnSpc>
              <a:spcBef>
                <a:spcPts val="0"/>
              </a:spcBef>
              <a:spcAft>
                <a:spcPts val="500"/>
              </a:spcAft>
              <a:defRPr sz="1800" b="1">
                <a:solidFill>
                  <a:srgbClr val="087F80"/>
                </a:solidFill>
                <a:latin typeface="DejaVu Sans"/>
              </a:defRPr>
            </a:pPr>
            <a:r>
              <a:t>Módulo supuesto: 10 m². Máximo: parte entera de 167,21 / 10 = 16.</a:t>
            </a:r>
          </a:p>
        </p:txBody>
      </p:sp>
      <p:sp>
        <p:nvSpPr>
          <p:cNvPr id="21" name="TextBox 20"/>
          <p:cNvSpPr txBox="1"/>
          <p:nvPr/>
        </p:nvSpPr>
        <p:spPr>
          <a:xfrm>
            <a:off x="594360" y="6053328"/>
            <a:ext cx="10936224" cy="201168"/>
          </a:xfrm>
          <a:prstGeom prst="rect">
            <a:avLst/>
          </a:prstGeom>
          <a:noFill/>
        </p:spPr>
        <p:txBody>
          <a:bodyPr wrap="square" lIns="0" rIns="0" tIns="0" bIns="0">
            <a:spAutoFit/>
          </a:bodyPr>
          <a:lstStyle/>
          <a:p>
            <a:pPr algn="l">
              <a:lnSpc>
                <a:spcPct val="105000"/>
              </a:lnSpc>
              <a:spcBef>
                <a:spcPts val="0"/>
              </a:spcBef>
              <a:spcAft>
                <a:spcPts val="500"/>
              </a:spcAft>
              <a:defRPr sz="1200" b="0">
                <a:solidFill>
                  <a:srgbClr val="536D70"/>
                </a:solidFill>
                <a:latin typeface="DejaVu Sans"/>
              </a:defRPr>
            </a:pPr>
            <a:r>
              <a:t>Capturas reales del prototipo · editar medidas o cambiar espacio invalida la inclusión anterior.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4323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4323D"/>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COORDINACIÓN DE NECESIDADES</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4323D"/>
                </a:solidFill>
                <a:latin typeface="DejaVu Sans"/>
              </a:defRPr>
            </a:pPr>
            <a:r>
              <a:t>Cada necesidad tiene una brecha y un seguimiento.</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Referencias Esfera 2018: contextualizar los valores · responsables propuestos, sin validación con entidades</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4323D"/>
                </a:solidFill>
                <a:latin typeface="DejaVu Sans"/>
              </a:defRPr>
            </a:pPr>
            <a:r>
              <a:t>10</a:t>
            </a:r>
          </a:p>
        </p:txBody>
      </p:sp>
      <p:sp>
        <p:nvSpPr>
          <p:cNvPr id="10" name="Rounded Rectangle 9"/>
          <p:cNvSpPr/>
          <p:nvPr/>
        </p:nvSpPr>
        <p:spPr>
          <a:xfrm>
            <a:off x="585216" y="2331720"/>
            <a:ext cx="4480560" cy="292608"/>
          </a:xfrm>
          <a:prstGeom prst="roundRect">
            <a:avLst>
              <a:gd name="adj" fmla="val 9000"/>
            </a:avLst>
          </a:prstGeom>
          <a:solidFill>
            <a:srgbClr val="E3ECD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4944" y="2382012"/>
            <a:ext cx="4297680"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4323D"/>
                </a:solidFill>
                <a:latin typeface="DejaVu Sans"/>
              </a:defRPr>
            </a:pPr>
            <a:r>
              <a:t>ESCENARIO SIMULADO · 300 PERSONAS</a:t>
            </a:r>
          </a:p>
        </p:txBody>
      </p:sp>
      <p:sp>
        <p:nvSpPr>
          <p:cNvPr id="12" name="Rectangle 11"/>
          <p:cNvSpPr/>
          <p:nvPr/>
        </p:nvSpPr>
        <p:spPr>
          <a:xfrm>
            <a:off x="548640" y="2926080"/>
            <a:ext cx="1920240" cy="420624"/>
          </a:xfrm>
          <a:prstGeom prst="rect">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58368" y="3026664"/>
            <a:ext cx="1700784" cy="246888"/>
          </a:xfrm>
          <a:prstGeom prst="rect">
            <a:avLst/>
          </a:prstGeom>
          <a:noFill/>
        </p:spPr>
        <p:txBody>
          <a:bodyPr wrap="square" lIns="0" rIns="0" tIns="0" bIns="0">
            <a:spAutoFit/>
          </a:bodyPr>
          <a:lstStyle/>
          <a:p>
            <a:pPr algn="l">
              <a:lnSpc>
                <a:spcPct val="105000"/>
              </a:lnSpc>
              <a:spcBef>
                <a:spcPts val="0"/>
              </a:spcBef>
              <a:spcAft>
                <a:spcPts val="500"/>
              </a:spcAft>
              <a:defRPr sz="1100" b="1">
                <a:solidFill>
                  <a:srgbClr val="FFFFFF"/>
                </a:solidFill>
                <a:latin typeface="DejaVu Sans"/>
              </a:defRPr>
            </a:pPr>
            <a:r>
              <a:t>SERVICIO</a:t>
            </a:r>
          </a:p>
        </p:txBody>
      </p:sp>
      <p:sp>
        <p:nvSpPr>
          <p:cNvPr id="14" name="Rectangle 13"/>
          <p:cNvSpPr/>
          <p:nvPr/>
        </p:nvSpPr>
        <p:spPr>
          <a:xfrm>
            <a:off x="2468880" y="2926080"/>
            <a:ext cx="1938528" cy="420624"/>
          </a:xfrm>
          <a:prstGeom prst="rect">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578608" y="3026664"/>
            <a:ext cx="1719072" cy="246888"/>
          </a:xfrm>
          <a:prstGeom prst="rect">
            <a:avLst/>
          </a:prstGeom>
          <a:noFill/>
        </p:spPr>
        <p:txBody>
          <a:bodyPr wrap="square" lIns="0" rIns="0" tIns="0" bIns="0">
            <a:spAutoFit/>
          </a:bodyPr>
          <a:lstStyle/>
          <a:p>
            <a:pPr algn="l">
              <a:lnSpc>
                <a:spcPct val="105000"/>
              </a:lnSpc>
              <a:spcBef>
                <a:spcPts val="0"/>
              </a:spcBef>
              <a:spcAft>
                <a:spcPts val="500"/>
              </a:spcAft>
              <a:defRPr sz="1100" b="1">
                <a:solidFill>
                  <a:srgbClr val="FFFFFF"/>
                </a:solidFill>
                <a:latin typeface="DejaVu Sans"/>
              </a:defRPr>
            </a:pPr>
            <a:r>
              <a:t>NECESIDAD</a:t>
            </a:r>
          </a:p>
        </p:txBody>
      </p:sp>
      <p:sp>
        <p:nvSpPr>
          <p:cNvPr id="16" name="Rectangle 15"/>
          <p:cNvSpPr/>
          <p:nvPr/>
        </p:nvSpPr>
        <p:spPr>
          <a:xfrm>
            <a:off x="4407408" y="2926080"/>
            <a:ext cx="1737360" cy="420624"/>
          </a:xfrm>
          <a:prstGeom prst="rect">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17136" y="3026664"/>
            <a:ext cx="1517904" cy="246888"/>
          </a:xfrm>
          <a:prstGeom prst="rect">
            <a:avLst/>
          </a:prstGeom>
          <a:noFill/>
        </p:spPr>
        <p:txBody>
          <a:bodyPr wrap="square" lIns="0" rIns="0" tIns="0" bIns="0">
            <a:spAutoFit/>
          </a:bodyPr>
          <a:lstStyle/>
          <a:p>
            <a:pPr algn="l">
              <a:lnSpc>
                <a:spcPct val="105000"/>
              </a:lnSpc>
              <a:spcBef>
                <a:spcPts val="0"/>
              </a:spcBef>
              <a:spcAft>
                <a:spcPts val="500"/>
              </a:spcAft>
              <a:defRPr sz="1100" b="1">
                <a:solidFill>
                  <a:srgbClr val="FFFFFF"/>
                </a:solidFill>
                <a:latin typeface="DejaVu Sans"/>
              </a:defRPr>
            </a:pPr>
            <a:r>
              <a:t>EXISTENCIA</a:t>
            </a:r>
          </a:p>
        </p:txBody>
      </p:sp>
      <p:sp>
        <p:nvSpPr>
          <p:cNvPr id="18" name="Rectangle 17"/>
          <p:cNvSpPr/>
          <p:nvPr/>
        </p:nvSpPr>
        <p:spPr>
          <a:xfrm>
            <a:off x="6144768" y="2926080"/>
            <a:ext cx="1691640" cy="420624"/>
          </a:xfrm>
          <a:prstGeom prst="rect">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254496" y="3026664"/>
            <a:ext cx="1472184" cy="246888"/>
          </a:xfrm>
          <a:prstGeom prst="rect">
            <a:avLst/>
          </a:prstGeom>
          <a:noFill/>
        </p:spPr>
        <p:txBody>
          <a:bodyPr wrap="square" lIns="0" rIns="0" tIns="0" bIns="0">
            <a:spAutoFit/>
          </a:bodyPr>
          <a:lstStyle/>
          <a:p>
            <a:pPr algn="l">
              <a:lnSpc>
                <a:spcPct val="105000"/>
              </a:lnSpc>
              <a:spcBef>
                <a:spcPts val="0"/>
              </a:spcBef>
              <a:spcAft>
                <a:spcPts val="500"/>
              </a:spcAft>
              <a:defRPr sz="1100" b="1">
                <a:solidFill>
                  <a:srgbClr val="FFFFFF"/>
                </a:solidFill>
                <a:latin typeface="DejaVu Sans"/>
              </a:defRPr>
            </a:pPr>
            <a:r>
              <a:t>BRECHA</a:t>
            </a:r>
          </a:p>
        </p:txBody>
      </p:sp>
      <p:sp>
        <p:nvSpPr>
          <p:cNvPr id="20" name="Rectangle 19"/>
          <p:cNvSpPr/>
          <p:nvPr/>
        </p:nvSpPr>
        <p:spPr>
          <a:xfrm>
            <a:off x="7836408" y="2926080"/>
            <a:ext cx="3776472" cy="420624"/>
          </a:xfrm>
          <a:prstGeom prst="rect">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946136" y="3026664"/>
            <a:ext cx="3557015" cy="246888"/>
          </a:xfrm>
          <a:prstGeom prst="rect">
            <a:avLst/>
          </a:prstGeom>
          <a:noFill/>
        </p:spPr>
        <p:txBody>
          <a:bodyPr wrap="square" lIns="0" rIns="0" tIns="0" bIns="0">
            <a:spAutoFit/>
          </a:bodyPr>
          <a:lstStyle/>
          <a:p>
            <a:pPr algn="l">
              <a:lnSpc>
                <a:spcPct val="105000"/>
              </a:lnSpc>
              <a:spcBef>
                <a:spcPts val="0"/>
              </a:spcBef>
              <a:spcAft>
                <a:spcPts val="500"/>
              </a:spcAft>
              <a:defRPr sz="1100" b="1">
                <a:solidFill>
                  <a:srgbClr val="FFFFFF"/>
                </a:solidFill>
                <a:latin typeface="DejaVu Sans"/>
              </a:defRPr>
            </a:pPr>
            <a:r>
              <a:t>RESPONSABLE PROPUESTO</a:t>
            </a:r>
          </a:p>
        </p:txBody>
      </p:sp>
      <p:sp>
        <p:nvSpPr>
          <p:cNvPr id="22" name="Rectangle 21"/>
          <p:cNvSpPr/>
          <p:nvPr/>
        </p:nvSpPr>
        <p:spPr>
          <a:xfrm>
            <a:off x="548640" y="3346704"/>
            <a:ext cx="1920240" cy="6309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58368" y="3474720"/>
            <a:ext cx="1700784" cy="466344"/>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14323D"/>
                </a:solidFill>
                <a:latin typeface="DejaVu Sans"/>
              </a:defRPr>
            </a:pPr>
            <a:r>
              <a:t>Agua básica</a:t>
            </a:r>
          </a:p>
        </p:txBody>
      </p:sp>
      <p:sp>
        <p:nvSpPr>
          <p:cNvPr id="24" name="Rectangle 23"/>
          <p:cNvSpPr/>
          <p:nvPr/>
        </p:nvSpPr>
        <p:spPr>
          <a:xfrm>
            <a:off x="2468880" y="3346704"/>
            <a:ext cx="1938528" cy="6309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2578608" y="3474720"/>
            <a:ext cx="1719072" cy="46634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4.500 L / día</a:t>
            </a:r>
          </a:p>
        </p:txBody>
      </p:sp>
      <p:sp>
        <p:nvSpPr>
          <p:cNvPr id="26" name="Rectangle 25"/>
          <p:cNvSpPr/>
          <p:nvPr/>
        </p:nvSpPr>
        <p:spPr>
          <a:xfrm>
            <a:off x="4407408" y="3346704"/>
            <a:ext cx="1737360" cy="6309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4517136" y="3474720"/>
            <a:ext cx="1517904" cy="46634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Sin dato</a:t>
            </a:r>
          </a:p>
        </p:txBody>
      </p:sp>
      <p:sp>
        <p:nvSpPr>
          <p:cNvPr id="28" name="Rectangle 27"/>
          <p:cNvSpPr/>
          <p:nvPr/>
        </p:nvSpPr>
        <p:spPr>
          <a:xfrm>
            <a:off x="6144768" y="3346704"/>
            <a:ext cx="1691640" cy="6309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254496" y="3474720"/>
            <a:ext cx="1472184" cy="46634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Por medir</a:t>
            </a:r>
          </a:p>
        </p:txBody>
      </p:sp>
      <p:sp>
        <p:nvSpPr>
          <p:cNvPr id="30" name="Rectangle 29"/>
          <p:cNvSpPr/>
          <p:nvPr/>
        </p:nvSpPr>
        <p:spPr>
          <a:xfrm>
            <a:off x="7836408" y="3346704"/>
            <a:ext cx="3776472" cy="6309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946136" y="3474720"/>
            <a:ext cx="3557015" cy="46634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EMCALI</a:t>
            </a:r>
          </a:p>
        </p:txBody>
      </p:sp>
      <p:sp>
        <p:nvSpPr>
          <p:cNvPr id="32" name="Rectangle 31"/>
          <p:cNvSpPr/>
          <p:nvPr/>
        </p:nvSpPr>
        <p:spPr>
          <a:xfrm>
            <a:off x="548640" y="3977639"/>
            <a:ext cx="1920240" cy="630936"/>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58368" y="4105655"/>
            <a:ext cx="1700784" cy="466344"/>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14323D"/>
                </a:solidFill>
                <a:latin typeface="DejaVu Sans"/>
              </a:defRPr>
            </a:pPr>
            <a:r>
              <a:t>Baños</a:t>
            </a:r>
          </a:p>
        </p:txBody>
      </p:sp>
      <p:sp>
        <p:nvSpPr>
          <p:cNvPr id="34" name="Rectangle 33"/>
          <p:cNvSpPr/>
          <p:nvPr/>
        </p:nvSpPr>
        <p:spPr>
          <a:xfrm>
            <a:off x="2468880" y="3977639"/>
            <a:ext cx="1938528" cy="630936"/>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2578608" y="4105655"/>
            <a:ext cx="1719072" cy="46634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15 unidades</a:t>
            </a:r>
          </a:p>
        </p:txBody>
      </p:sp>
      <p:sp>
        <p:nvSpPr>
          <p:cNvPr id="36" name="Rectangle 35"/>
          <p:cNvSpPr/>
          <p:nvPr/>
        </p:nvSpPr>
        <p:spPr>
          <a:xfrm>
            <a:off x="4407408" y="3977639"/>
            <a:ext cx="1737360" cy="630936"/>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4517136" y="4105655"/>
            <a:ext cx="1517904" cy="46634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Sin dato</a:t>
            </a:r>
          </a:p>
        </p:txBody>
      </p:sp>
      <p:sp>
        <p:nvSpPr>
          <p:cNvPr id="38" name="Rectangle 37"/>
          <p:cNvSpPr/>
          <p:nvPr/>
        </p:nvSpPr>
        <p:spPr>
          <a:xfrm>
            <a:off x="6144768" y="3977639"/>
            <a:ext cx="1691640" cy="630936"/>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254496" y="4105655"/>
            <a:ext cx="1472184" cy="46634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Por medir</a:t>
            </a:r>
          </a:p>
        </p:txBody>
      </p:sp>
      <p:sp>
        <p:nvSpPr>
          <p:cNvPr id="40" name="Rectangle 39"/>
          <p:cNvSpPr/>
          <p:nvPr/>
        </p:nvSpPr>
        <p:spPr>
          <a:xfrm>
            <a:off x="7836408" y="3977639"/>
            <a:ext cx="3776472" cy="630936"/>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946136" y="4105655"/>
            <a:ext cx="3557015" cy="46634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UAESP</a:t>
            </a:r>
          </a:p>
        </p:txBody>
      </p:sp>
      <p:sp>
        <p:nvSpPr>
          <p:cNvPr id="42" name="Rectangle 41"/>
          <p:cNvSpPr/>
          <p:nvPr/>
        </p:nvSpPr>
        <p:spPr>
          <a:xfrm>
            <a:off x="548640" y="4608576"/>
            <a:ext cx="1920240" cy="6309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658368" y="4736592"/>
            <a:ext cx="1700784" cy="466344"/>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14323D"/>
                </a:solidFill>
                <a:latin typeface="DejaVu Sans"/>
              </a:defRPr>
            </a:pPr>
            <a:r>
              <a:t>Área cubierta</a:t>
            </a:r>
          </a:p>
        </p:txBody>
      </p:sp>
      <p:sp>
        <p:nvSpPr>
          <p:cNvPr id="44" name="Rectangle 43"/>
          <p:cNvSpPr/>
          <p:nvPr/>
        </p:nvSpPr>
        <p:spPr>
          <a:xfrm>
            <a:off x="2468880" y="4608576"/>
            <a:ext cx="1938528" cy="6309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2578608" y="4736592"/>
            <a:ext cx="1719072" cy="46634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1.050 m²</a:t>
            </a:r>
          </a:p>
        </p:txBody>
      </p:sp>
      <p:sp>
        <p:nvSpPr>
          <p:cNvPr id="46" name="Rectangle 45"/>
          <p:cNvSpPr/>
          <p:nvPr/>
        </p:nvSpPr>
        <p:spPr>
          <a:xfrm>
            <a:off x="4407408" y="4608576"/>
            <a:ext cx="1737360" cy="6309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4517136" y="4736592"/>
            <a:ext cx="1517904" cy="46634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Sin dato</a:t>
            </a:r>
          </a:p>
        </p:txBody>
      </p:sp>
      <p:sp>
        <p:nvSpPr>
          <p:cNvPr id="48" name="Rectangle 47"/>
          <p:cNvSpPr/>
          <p:nvPr/>
        </p:nvSpPr>
        <p:spPr>
          <a:xfrm>
            <a:off x="6144768" y="4608576"/>
            <a:ext cx="1691640" cy="6309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254496" y="4736592"/>
            <a:ext cx="1472184" cy="46634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Por medir</a:t>
            </a:r>
          </a:p>
        </p:txBody>
      </p:sp>
      <p:sp>
        <p:nvSpPr>
          <p:cNvPr id="50" name="Rectangle 49"/>
          <p:cNvSpPr/>
          <p:nvPr/>
        </p:nvSpPr>
        <p:spPr>
          <a:xfrm>
            <a:off x="7836408" y="4608576"/>
            <a:ext cx="3776472" cy="6309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7946136" y="4736592"/>
            <a:ext cx="3557015" cy="46634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Gestión del Riesgo</a:t>
            </a:r>
          </a:p>
        </p:txBody>
      </p:sp>
      <p:sp>
        <p:nvSpPr>
          <p:cNvPr id="52" name="TextBox 51"/>
          <p:cNvSpPr txBox="1"/>
          <p:nvPr/>
        </p:nvSpPr>
        <p:spPr>
          <a:xfrm>
            <a:off x="603504" y="5522976"/>
            <a:ext cx="10972800" cy="576072"/>
          </a:xfrm>
          <a:prstGeom prst="rect">
            <a:avLst/>
          </a:prstGeom>
          <a:noFill/>
        </p:spPr>
        <p:txBody>
          <a:bodyPr wrap="square" lIns="0" rIns="0" tIns="0" bIns="0">
            <a:spAutoFit/>
          </a:bodyPr>
          <a:lstStyle/>
          <a:p>
            <a:pPr algn="l">
              <a:lnSpc>
                <a:spcPct val="105000"/>
              </a:lnSpc>
              <a:spcBef>
                <a:spcPts val="0"/>
              </a:spcBef>
              <a:spcAft>
                <a:spcPts val="500"/>
              </a:spcAft>
              <a:defRPr sz="2000" b="1">
                <a:solidFill>
                  <a:srgbClr val="087F80"/>
                </a:solidFill>
                <a:latin typeface="DejaVu Sans"/>
              </a:defRPr>
            </a:pPr>
            <a:r>
              <a:t>Necesidad calculada ≠ servicio disponible.</a:t>
            </a:r>
          </a:p>
          <a:p>
            <a:pPr algn="l">
              <a:lnSpc>
                <a:spcPct val="105000"/>
              </a:lnSpc>
              <a:spcBef>
                <a:spcPts val="0"/>
              </a:spcBef>
              <a:spcAft>
                <a:spcPts val="500"/>
              </a:spcAft>
              <a:defRPr sz="2000" b="1">
                <a:solidFill>
                  <a:srgbClr val="087F80"/>
                </a:solidFill>
                <a:latin typeface="DejaVu Sans"/>
              </a:defRPr>
            </a:pPr>
            <a:r>
              <a:t>El seguimiento local distingue “Por medir” y “En revisión”.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4323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4323D"/>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PREPARACIÓN CIUDADANA + DIFUSIÓN</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4323D"/>
                </a:solidFill>
                <a:latin typeface="DejaVu Sans"/>
              </a:defRPr>
            </a:pPr>
            <a:r>
              <a:t>Orientar antes. Informar con condiciones claras.</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Producto: Territorio Preparado · Responde al RETO-01 Cali Activa · Prototipo</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4323D"/>
                </a:solidFill>
                <a:latin typeface="DejaVu Sans"/>
              </a:defRPr>
            </a:pPr>
            <a:r>
              <a:t>11</a:t>
            </a:r>
          </a:p>
        </p:txBody>
      </p:sp>
      <p:sp>
        <p:nvSpPr>
          <p:cNvPr id="10" name="TextBox 9"/>
          <p:cNvSpPr txBox="1"/>
          <p:nvPr/>
        </p:nvSpPr>
        <p:spPr>
          <a:xfrm>
            <a:off x="594360" y="2395728"/>
            <a:ext cx="5303520" cy="365760"/>
          </a:xfrm>
          <a:prstGeom prst="rect">
            <a:avLst/>
          </a:prstGeom>
          <a:noFill/>
        </p:spPr>
        <p:txBody>
          <a:bodyPr wrap="square" lIns="0" rIns="0" tIns="0" bIns="0">
            <a:spAutoFit/>
          </a:bodyPr>
          <a:lstStyle/>
          <a:p>
            <a:pPr algn="l">
              <a:lnSpc>
                <a:spcPct val="105000"/>
              </a:lnSpc>
              <a:spcBef>
                <a:spcPts val="0"/>
              </a:spcBef>
              <a:spcAft>
                <a:spcPts val="500"/>
              </a:spcAft>
              <a:defRPr sz="1600" b="1">
                <a:solidFill>
                  <a:srgbClr val="087F80"/>
                </a:solidFill>
                <a:latin typeface="DejaVu Sans"/>
              </a:defRPr>
            </a:pPr>
            <a:r>
              <a:t>CULTURA PREVENTIVA</a:t>
            </a:r>
          </a:p>
        </p:txBody>
      </p:sp>
      <p:pic>
        <p:nvPicPr>
          <p:cNvPr id="11" name="Picture 10" descr="prevencion.png"/>
          <p:cNvPicPr>
            <a:picLocks noChangeAspect="1"/>
          </p:cNvPicPr>
          <p:nvPr/>
        </p:nvPicPr>
        <p:blipFill>
          <a:blip r:embed="rId2"/>
          <a:stretch>
            <a:fillRect/>
          </a:stretch>
        </p:blipFill>
        <p:spPr>
          <a:xfrm>
            <a:off x="576072" y="3025322"/>
            <a:ext cx="5641848" cy="962803"/>
          </a:xfrm>
          <a:prstGeom prst="rect">
            <a:avLst/>
          </a:prstGeom>
        </p:spPr>
      </p:pic>
      <p:sp>
        <p:nvSpPr>
          <p:cNvPr id="12" name="TextBox 11"/>
          <p:cNvSpPr txBox="1"/>
          <p:nvPr/>
        </p:nvSpPr>
        <p:spPr>
          <a:xfrm>
            <a:off x="594360" y="4279392"/>
            <a:ext cx="5431536" cy="804672"/>
          </a:xfrm>
          <a:prstGeom prst="rect">
            <a:avLst/>
          </a:prstGeom>
          <a:noFill/>
        </p:spPr>
        <p:txBody>
          <a:bodyPr wrap="square" lIns="0" rIns="0" tIns="0" bIns="0">
            <a:spAutoFit/>
          </a:bodyPr>
          <a:lstStyle/>
          <a:p>
            <a:pPr algn="l">
              <a:lnSpc>
                <a:spcPct val="105000"/>
              </a:lnSpc>
              <a:spcBef>
                <a:spcPts val="0"/>
              </a:spcBef>
              <a:spcAft>
                <a:spcPts val="500"/>
              </a:spcAft>
              <a:defRPr sz="2300" b="1">
                <a:solidFill>
                  <a:srgbClr val="14323D"/>
                </a:solidFill>
                <a:latin typeface="DejaVu Sans"/>
              </a:defRPr>
            </a:pPr>
            <a:r>
              <a:t>¿Aparecer en el mapa significa</a:t>
            </a:r>
          </a:p>
          <a:p>
            <a:pPr algn="l">
              <a:lnSpc>
                <a:spcPct val="105000"/>
              </a:lnSpc>
              <a:spcBef>
                <a:spcPts val="0"/>
              </a:spcBef>
              <a:spcAft>
                <a:spcPts val="500"/>
              </a:spcAft>
              <a:defRPr sz="2300" b="1">
                <a:solidFill>
                  <a:srgbClr val="14323D"/>
                </a:solidFill>
                <a:latin typeface="DejaVu Sans"/>
              </a:defRPr>
            </a:pPr>
            <a:r>
              <a:t>que puedo acudir? No.</a:t>
            </a:r>
          </a:p>
        </p:txBody>
      </p:sp>
      <p:sp>
        <p:nvSpPr>
          <p:cNvPr id="13" name="TextBox 12"/>
          <p:cNvSpPr txBox="1"/>
          <p:nvPr/>
        </p:nvSpPr>
        <p:spPr>
          <a:xfrm>
            <a:off x="594360" y="5440680"/>
            <a:ext cx="5404104" cy="585216"/>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536D70"/>
                </a:solidFill>
                <a:latin typeface="DejaVu Sans"/>
              </a:defRPr>
            </a:pPr>
            <a:r>
              <a:t>Confirmar fuente, apertura, propósito y acceso antes de compartir el aviso.</a:t>
            </a:r>
          </a:p>
        </p:txBody>
      </p:sp>
      <p:sp>
        <p:nvSpPr>
          <p:cNvPr id="14" name="Rounded Rectangle 13"/>
          <p:cNvSpPr/>
          <p:nvPr/>
        </p:nvSpPr>
        <p:spPr>
          <a:xfrm>
            <a:off x="6592824" y="2395728"/>
            <a:ext cx="4974336" cy="3593592"/>
          </a:xfrm>
          <a:prstGeom prst="roundRect">
            <a:avLst>
              <a:gd name="adj" fmla="val 9000"/>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6848856" y="2679192"/>
            <a:ext cx="2121408" cy="292608"/>
          </a:xfrm>
          <a:prstGeom prst="roundRect">
            <a:avLst>
              <a:gd name="adj" fmla="val 9000"/>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58584" y="2729484"/>
            <a:ext cx="1938527"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4323D"/>
                </a:solidFill>
                <a:latin typeface="DejaVu Sans"/>
              </a:defRPr>
            </a:pPr>
            <a:r>
              <a:t>SMS SIMULADO</a:t>
            </a:r>
          </a:p>
        </p:txBody>
      </p:sp>
      <p:sp>
        <p:nvSpPr>
          <p:cNvPr id="17" name="TextBox 16"/>
          <p:cNvSpPr txBox="1"/>
          <p:nvPr/>
        </p:nvSpPr>
        <p:spPr>
          <a:xfrm>
            <a:off x="6848856" y="3291840"/>
            <a:ext cx="4434840" cy="758952"/>
          </a:xfrm>
          <a:prstGeom prst="rect">
            <a:avLst/>
          </a:prstGeom>
          <a:noFill/>
        </p:spPr>
        <p:txBody>
          <a:bodyPr wrap="square" lIns="0" rIns="0" tIns="0" bIns="0">
            <a:spAutoFit/>
          </a:bodyPr>
          <a:lstStyle/>
          <a:p>
            <a:pPr algn="l">
              <a:lnSpc>
                <a:spcPct val="105000"/>
              </a:lnSpc>
              <a:spcBef>
                <a:spcPts val="0"/>
              </a:spcBef>
              <a:spcAft>
                <a:spcPts val="500"/>
              </a:spcAft>
              <a:defRPr sz="2000" b="1">
                <a:solidFill>
                  <a:srgbClr val="FFFFFF"/>
                </a:solidFill>
                <a:latin typeface="DejaVu Sans"/>
              </a:defRPr>
            </a:pPr>
            <a:r>
              <a:t>Ubicación + horario</a:t>
            </a:r>
          </a:p>
          <a:p>
            <a:pPr algn="l">
              <a:lnSpc>
                <a:spcPct val="105000"/>
              </a:lnSpc>
              <a:spcBef>
                <a:spcPts val="0"/>
              </a:spcBef>
              <a:spcAft>
                <a:spcPts val="500"/>
              </a:spcAft>
              <a:defRPr sz="2000" b="1">
                <a:solidFill>
                  <a:srgbClr val="FFFFFF"/>
                </a:solidFill>
                <a:latin typeface="DejaVu Sans"/>
              </a:defRPr>
            </a:pPr>
            <a:r>
              <a:t>+ recepción / entrega de ayudas</a:t>
            </a:r>
          </a:p>
        </p:txBody>
      </p:sp>
      <p:pic>
        <p:nvPicPr>
          <p:cNvPr id="18" name="Picture 17" descr="sms.png"/>
          <p:cNvPicPr>
            <a:picLocks noChangeAspect="1"/>
          </p:cNvPicPr>
          <p:nvPr/>
        </p:nvPicPr>
        <p:blipFill>
          <a:blip r:embed="rId3"/>
          <a:stretch>
            <a:fillRect/>
          </a:stretch>
        </p:blipFill>
        <p:spPr>
          <a:xfrm>
            <a:off x="6830568" y="4434279"/>
            <a:ext cx="4480560" cy="723496"/>
          </a:xfrm>
          <a:prstGeom prst="rect">
            <a:avLst/>
          </a:prstGeom>
        </p:spPr>
      </p:pic>
      <p:sp>
        <p:nvSpPr>
          <p:cNvPr id="19" name="TextBox 18"/>
          <p:cNvSpPr txBox="1"/>
          <p:nvPr/>
        </p:nvSpPr>
        <p:spPr>
          <a:xfrm>
            <a:off x="6858000" y="5477256"/>
            <a:ext cx="4389120" cy="310896"/>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6AE9C7"/>
                </a:solidFill>
                <a:latin typeface="DejaVu Sans"/>
              </a:defRPr>
            </a:pPr>
            <a:r>
              <a:t>100 destinatarios ficticios · 0 envíos reales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2530"/>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6AE9C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14323D"/>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FFFFFF"/>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A8C6BE"/>
                </a:solidFill>
                <a:latin typeface="DejaVu Sans"/>
              </a:defRPr>
            </a:pPr>
            <a:r>
              <a:t>VALOR PÚBLICO</a:t>
            </a:r>
          </a:p>
        </p:txBody>
      </p:sp>
      <p:sp>
        <p:nvSpPr>
          <p:cNvPr id="6" name="Rectangle 5"/>
          <p:cNvSpPr/>
          <p:nvPr/>
        </p:nvSpPr>
        <p:spPr>
          <a:xfrm>
            <a:off x="548640" y="6419088"/>
            <a:ext cx="11064240" cy="10972"/>
          </a:xfrm>
          <a:prstGeom prst="rect">
            <a:avLst/>
          </a:prstGeom>
          <a:solidFill>
            <a:srgbClr val="31505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A8C6BE"/>
                </a:solidFill>
                <a:latin typeface="DejaVu Sans"/>
              </a:defRPr>
            </a:pPr>
            <a:r>
              <a:t>Producto: Territorio Preparado · Responde al RETO-01 Cali Activa · Prototipo</a:t>
            </a:r>
          </a:p>
        </p:txBody>
      </p:sp>
      <p:sp>
        <p:nvSpPr>
          <p:cNvPr id="8" name="TextBox 7"/>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FFFFFF"/>
                </a:solidFill>
                <a:latin typeface="DejaVu Sans"/>
              </a:defRPr>
            </a:pPr>
            <a:r>
              <a:t>12</a:t>
            </a:r>
          </a:p>
        </p:txBody>
      </p:sp>
      <p:sp>
        <p:nvSpPr>
          <p:cNvPr id="9" name="TextBox 8"/>
          <p:cNvSpPr txBox="1"/>
          <p:nvPr/>
        </p:nvSpPr>
        <p:spPr>
          <a:xfrm>
            <a:off x="585216" y="1234440"/>
            <a:ext cx="10927080" cy="1426464"/>
          </a:xfrm>
          <a:prstGeom prst="rect">
            <a:avLst/>
          </a:prstGeom>
          <a:noFill/>
        </p:spPr>
        <p:txBody>
          <a:bodyPr wrap="square" lIns="0" rIns="0" tIns="0" bIns="0">
            <a:spAutoFit/>
          </a:bodyPr>
          <a:lstStyle/>
          <a:p>
            <a:pPr algn="l">
              <a:lnSpc>
                <a:spcPct val="105000"/>
              </a:lnSpc>
              <a:spcBef>
                <a:spcPts val="0"/>
              </a:spcBef>
              <a:spcAft>
                <a:spcPts val="500"/>
              </a:spcAft>
              <a:defRPr sz="4100" b="1">
                <a:solidFill>
                  <a:srgbClr val="FFFFFF"/>
                </a:solidFill>
                <a:latin typeface="DejaVu Sans"/>
              </a:defRPr>
            </a:pPr>
            <a:r>
              <a:t>Preparar el espacio.</a:t>
            </a:r>
          </a:p>
          <a:p>
            <a:pPr algn="l">
              <a:lnSpc>
                <a:spcPct val="105000"/>
              </a:lnSpc>
              <a:spcBef>
                <a:spcPts val="0"/>
              </a:spcBef>
              <a:spcAft>
                <a:spcPts val="500"/>
              </a:spcAft>
              <a:defRPr sz="4100" b="1">
                <a:solidFill>
                  <a:srgbClr val="FFFFFF"/>
                </a:solidFill>
                <a:latin typeface="DejaVu Sans"/>
              </a:defRPr>
            </a:pPr>
            <a:r>
              <a:t>Hacer visible lo que falta.</a:t>
            </a:r>
          </a:p>
        </p:txBody>
      </p:sp>
      <p:sp>
        <p:nvSpPr>
          <p:cNvPr id="10" name="Rectangle 9"/>
          <p:cNvSpPr/>
          <p:nvPr/>
        </p:nvSpPr>
        <p:spPr>
          <a:xfrm>
            <a:off x="603504" y="3429000"/>
            <a:ext cx="3392424" cy="10972"/>
          </a:xfrm>
          <a:prstGeom prst="rect">
            <a:avLst/>
          </a:prstGeom>
          <a:solidFill>
            <a:srgbClr val="35596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03504" y="3749039"/>
            <a:ext cx="3410712" cy="576072"/>
          </a:xfrm>
          <a:prstGeom prst="rect">
            <a:avLst/>
          </a:prstGeom>
          <a:noFill/>
        </p:spPr>
        <p:txBody>
          <a:bodyPr wrap="square" lIns="0" rIns="0" tIns="0" bIns="0">
            <a:spAutoFit/>
          </a:bodyPr>
          <a:lstStyle/>
          <a:p>
            <a:pPr algn="l">
              <a:lnSpc>
                <a:spcPct val="105000"/>
              </a:lnSpc>
              <a:spcBef>
                <a:spcPts val="0"/>
              </a:spcBef>
              <a:spcAft>
                <a:spcPts val="500"/>
              </a:spcAft>
              <a:defRPr sz="1600" b="1">
                <a:solidFill>
                  <a:srgbClr val="6AE9C7"/>
                </a:solidFill>
                <a:latin typeface="DejaVu Sans"/>
              </a:defRPr>
            </a:pPr>
            <a:r>
              <a:t>CRITERIOS VISIBLES</a:t>
            </a:r>
          </a:p>
        </p:txBody>
      </p:sp>
      <p:sp>
        <p:nvSpPr>
          <p:cNvPr id="12" name="TextBox 11"/>
          <p:cNvSpPr txBox="1"/>
          <p:nvPr/>
        </p:nvSpPr>
        <p:spPr>
          <a:xfrm>
            <a:off x="603504" y="4507992"/>
            <a:ext cx="3364992" cy="749808"/>
          </a:xfrm>
          <a:prstGeom prst="rect">
            <a:avLst/>
          </a:prstGeom>
          <a:noFill/>
        </p:spPr>
        <p:txBody>
          <a:bodyPr wrap="square" lIns="0" rIns="0" tIns="0" bIns="0">
            <a:spAutoFit/>
          </a:bodyPr>
          <a:lstStyle/>
          <a:p>
            <a:pPr algn="l">
              <a:lnSpc>
                <a:spcPct val="105000"/>
              </a:lnSpc>
              <a:spcBef>
                <a:spcPts val="0"/>
              </a:spcBef>
              <a:spcAft>
                <a:spcPts val="500"/>
              </a:spcAft>
              <a:defRPr sz="1800" b="0">
                <a:solidFill>
                  <a:srgbClr val="FFFFFF"/>
                </a:solidFill>
                <a:latin typeface="DejaVu Sans"/>
              </a:defRPr>
            </a:pPr>
            <a:r>
              <a:t>Entender por qué se revisa un lugar.</a:t>
            </a:r>
          </a:p>
        </p:txBody>
      </p:sp>
      <p:sp>
        <p:nvSpPr>
          <p:cNvPr id="13" name="Rectangle 12"/>
          <p:cNvSpPr/>
          <p:nvPr/>
        </p:nvSpPr>
        <p:spPr>
          <a:xfrm>
            <a:off x="4398264" y="3429000"/>
            <a:ext cx="3392424" cy="10972"/>
          </a:xfrm>
          <a:prstGeom prst="rect">
            <a:avLst/>
          </a:prstGeom>
          <a:solidFill>
            <a:srgbClr val="35596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398264" y="3749039"/>
            <a:ext cx="3410712" cy="576072"/>
          </a:xfrm>
          <a:prstGeom prst="rect">
            <a:avLst/>
          </a:prstGeom>
          <a:noFill/>
        </p:spPr>
        <p:txBody>
          <a:bodyPr wrap="square" lIns="0" rIns="0" tIns="0" bIns="0">
            <a:spAutoFit/>
          </a:bodyPr>
          <a:lstStyle/>
          <a:p>
            <a:pPr algn="l">
              <a:lnSpc>
                <a:spcPct val="105000"/>
              </a:lnSpc>
              <a:spcBef>
                <a:spcPts val="0"/>
              </a:spcBef>
              <a:spcAft>
                <a:spcPts val="500"/>
              </a:spcAft>
              <a:defRPr sz="1600" b="1">
                <a:solidFill>
                  <a:srgbClr val="6AE9C7"/>
                </a:solidFill>
                <a:latin typeface="DejaVu Sans"/>
              </a:defRPr>
            </a:pPr>
            <a:r>
              <a:t>OCUPACIÓN CONTROLADA</a:t>
            </a:r>
          </a:p>
        </p:txBody>
      </p:sp>
      <p:sp>
        <p:nvSpPr>
          <p:cNvPr id="15" name="TextBox 14"/>
          <p:cNvSpPr txBox="1"/>
          <p:nvPr/>
        </p:nvSpPr>
        <p:spPr>
          <a:xfrm>
            <a:off x="4398264" y="4507992"/>
            <a:ext cx="3364992" cy="749808"/>
          </a:xfrm>
          <a:prstGeom prst="rect">
            <a:avLst/>
          </a:prstGeom>
          <a:noFill/>
        </p:spPr>
        <p:txBody>
          <a:bodyPr wrap="square" lIns="0" rIns="0" tIns="0" bIns="0">
            <a:spAutoFit/>
          </a:bodyPr>
          <a:lstStyle/>
          <a:p>
            <a:pPr algn="l">
              <a:lnSpc>
                <a:spcPct val="105000"/>
              </a:lnSpc>
              <a:spcBef>
                <a:spcPts val="0"/>
              </a:spcBef>
              <a:spcAft>
                <a:spcPts val="500"/>
              </a:spcAft>
              <a:defRPr sz="1800" b="0">
                <a:solidFill>
                  <a:srgbClr val="FFFFFF"/>
                </a:solidFill>
                <a:latin typeface="DejaVu Sans"/>
              </a:defRPr>
            </a:pPr>
            <a:r>
              <a:t>Detectar propuestas que exceden el área.</a:t>
            </a:r>
          </a:p>
        </p:txBody>
      </p:sp>
      <p:sp>
        <p:nvSpPr>
          <p:cNvPr id="16" name="Rectangle 15"/>
          <p:cNvSpPr/>
          <p:nvPr/>
        </p:nvSpPr>
        <p:spPr>
          <a:xfrm>
            <a:off x="8193024" y="3429000"/>
            <a:ext cx="3392424" cy="10972"/>
          </a:xfrm>
          <a:prstGeom prst="rect">
            <a:avLst/>
          </a:prstGeom>
          <a:solidFill>
            <a:srgbClr val="35596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193024" y="3749039"/>
            <a:ext cx="3410712" cy="576072"/>
          </a:xfrm>
          <a:prstGeom prst="rect">
            <a:avLst/>
          </a:prstGeom>
          <a:noFill/>
        </p:spPr>
        <p:txBody>
          <a:bodyPr wrap="square" lIns="0" rIns="0" tIns="0" bIns="0">
            <a:spAutoFit/>
          </a:bodyPr>
          <a:lstStyle/>
          <a:p>
            <a:pPr algn="l">
              <a:lnSpc>
                <a:spcPct val="105000"/>
              </a:lnSpc>
              <a:spcBef>
                <a:spcPts val="0"/>
              </a:spcBef>
              <a:spcAft>
                <a:spcPts val="500"/>
              </a:spcAft>
              <a:defRPr sz="1600" b="1">
                <a:solidFill>
                  <a:srgbClr val="6AE9C7"/>
                </a:solidFill>
                <a:latin typeface="DejaVu Sans"/>
              </a:defRPr>
            </a:pPr>
            <a:r>
              <a:t>COMUNICACIÓN CLARA</a:t>
            </a:r>
          </a:p>
        </p:txBody>
      </p:sp>
      <p:sp>
        <p:nvSpPr>
          <p:cNvPr id="18" name="TextBox 17"/>
          <p:cNvSpPr txBox="1"/>
          <p:nvPr/>
        </p:nvSpPr>
        <p:spPr>
          <a:xfrm>
            <a:off x="8193024" y="4507992"/>
            <a:ext cx="3364992" cy="749808"/>
          </a:xfrm>
          <a:prstGeom prst="rect">
            <a:avLst/>
          </a:prstGeom>
          <a:noFill/>
        </p:spPr>
        <p:txBody>
          <a:bodyPr wrap="square" lIns="0" rIns="0" tIns="0" bIns="0">
            <a:spAutoFit/>
          </a:bodyPr>
          <a:lstStyle/>
          <a:p>
            <a:pPr algn="l">
              <a:lnSpc>
                <a:spcPct val="105000"/>
              </a:lnSpc>
              <a:spcBef>
                <a:spcPts val="0"/>
              </a:spcBef>
              <a:spcAft>
                <a:spcPts val="500"/>
              </a:spcAft>
              <a:defRPr sz="1800" b="0">
                <a:solidFill>
                  <a:srgbClr val="FFFFFF"/>
                </a:solidFill>
                <a:latin typeface="DejaVu Sans"/>
              </a:defRPr>
            </a:pPr>
            <a:r>
              <a:t>Distinguir borrador de apertura confirmada.</a:t>
            </a:r>
          </a:p>
        </p:txBody>
      </p:sp>
      <p:sp>
        <p:nvSpPr>
          <p:cNvPr id="19" name="TextBox 18"/>
          <p:cNvSpPr txBox="1"/>
          <p:nvPr/>
        </p:nvSpPr>
        <p:spPr>
          <a:xfrm>
            <a:off x="603504" y="5596128"/>
            <a:ext cx="10972800" cy="320040"/>
          </a:xfrm>
          <a:prstGeom prst="rect">
            <a:avLst/>
          </a:prstGeom>
          <a:noFill/>
        </p:spPr>
        <p:txBody>
          <a:bodyPr wrap="square" lIns="0" rIns="0" tIns="0" bIns="0">
            <a:spAutoFit/>
          </a:bodyPr>
          <a:lstStyle/>
          <a:p>
            <a:pPr algn="l">
              <a:lnSpc>
                <a:spcPct val="105000"/>
              </a:lnSpc>
              <a:spcBef>
                <a:spcPts val="0"/>
              </a:spcBef>
              <a:spcAft>
                <a:spcPts val="500"/>
              </a:spcAft>
              <a:defRPr sz="2500" b="1">
                <a:solidFill>
                  <a:srgbClr val="6AE9C7"/>
                </a:solidFill>
                <a:latin typeface="DejaVu Sans"/>
              </a:defRPr>
            </a:pPr>
            <a:r>
              <a:t>Territorio Preparado propone. La autoridad decide.</a:t>
            </a:r>
          </a:p>
        </p:txBody>
      </p:sp>
      <p:sp>
        <p:nvSpPr>
          <p:cNvPr id="20" name="TextBox 19"/>
          <p:cNvSpPr txBox="1"/>
          <p:nvPr/>
        </p:nvSpPr>
        <p:spPr>
          <a:xfrm>
            <a:off x="612648" y="6099048"/>
            <a:ext cx="1097280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A8C6BE"/>
                </a:solidFill>
                <a:latin typeface="DejaVu Sans"/>
              </a:defRPr>
            </a:pPr>
            <a:r>
              <a:t>William Ortiz · Herlin Echeverry · Pablo Arango · Bryan Martínez Villamarín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4323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4323D"/>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ANEXO · EVIDENCIA DE PRODUCTO</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4323D"/>
                </a:solidFill>
                <a:latin typeface="DejaVu Sans"/>
              </a:defRPr>
            </a:pPr>
            <a:r>
              <a:t>Qué está conectado hoy en el prototipo.</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Producto: Territorio Preparado · Responde al RETO-01 Cali Activa · Prototipo</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4323D"/>
                </a:solidFill>
                <a:latin typeface="DejaVu Sans"/>
              </a:defRPr>
            </a:pPr>
            <a:r>
              <a:t>13</a:t>
            </a:r>
          </a:p>
        </p:txBody>
      </p:sp>
      <p:sp>
        <p:nvSpPr>
          <p:cNvPr id="10" name="Rounded Rectangle 9"/>
          <p:cNvSpPr/>
          <p:nvPr/>
        </p:nvSpPr>
        <p:spPr>
          <a:xfrm>
            <a:off x="585216" y="2377440"/>
            <a:ext cx="2944368" cy="292608"/>
          </a:xfrm>
          <a:prstGeom prst="roundRect">
            <a:avLst>
              <a:gd name="adj" fmla="val 9000"/>
            </a:avLst>
          </a:prstGeom>
          <a:solidFill>
            <a:srgbClr val="E3ECD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4944" y="2427732"/>
            <a:ext cx="2761488"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4323D"/>
                </a:solidFill>
                <a:latin typeface="DejaVu Sans"/>
              </a:defRPr>
            </a:pPr>
            <a:r>
              <a:t>DATOS PÚBLICOS</a:t>
            </a:r>
          </a:p>
        </p:txBody>
      </p:sp>
      <p:sp>
        <p:nvSpPr>
          <p:cNvPr id="12" name="TextBox 11"/>
          <p:cNvSpPr txBox="1"/>
          <p:nvPr/>
        </p:nvSpPr>
        <p:spPr>
          <a:xfrm>
            <a:off x="3739896" y="2414016"/>
            <a:ext cx="7763256" cy="329184"/>
          </a:xfrm>
          <a:prstGeom prst="rect">
            <a:avLst/>
          </a:prstGeom>
          <a:noFill/>
        </p:spPr>
        <p:txBody>
          <a:bodyPr wrap="square" lIns="0" rIns="0" tIns="0" bIns="0">
            <a:spAutoFit/>
          </a:bodyPr>
          <a:lstStyle/>
          <a:p>
            <a:pPr algn="l">
              <a:lnSpc>
                <a:spcPct val="105000"/>
              </a:lnSpc>
              <a:spcBef>
                <a:spcPts val="0"/>
              </a:spcBef>
              <a:spcAft>
                <a:spcPts val="500"/>
              </a:spcAft>
              <a:defRPr sz="1700" b="1">
                <a:solidFill>
                  <a:srgbClr val="14323D"/>
                </a:solidFill>
                <a:latin typeface="DejaVu Sans"/>
              </a:defRPr>
            </a:pPr>
            <a:r>
              <a:t>GeoJSON local: inventario, comunas y amenazas.</a:t>
            </a:r>
          </a:p>
        </p:txBody>
      </p:sp>
      <p:sp>
        <p:nvSpPr>
          <p:cNvPr id="13" name="TextBox 12"/>
          <p:cNvSpPr txBox="1"/>
          <p:nvPr/>
        </p:nvSpPr>
        <p:spPr>
          <a:xfrm>
            <a:off x="3739896" y="2825496"/>
            <a:ext cx="7763256" cy="274320"/>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536D70"/>
                </a:solidFill>
                <a:latin typeface="DejaVu Sans"/>
              </a:defRPr>
            </a:pPr>
            <a:r>
              <a:t>Fuente y fecha de corte conservadas.</a:t>
            </a:r>
          </a:p>
        </p:txBody>
      </p:sp>
      <p:sp>
        <p:nvSpPr>
          <p:cNvPr id="14" name="Rounded Rectangle 13"/>
          <p:cNvSpPr/>
          <p:nvPr/>
        </p:nvSpPr>
        <p:spPr>
          <a:xfrm>
            <a:off x="585216" y="3218688"/>
            <a:ext cx="2944368" cy="292608"/>
          </a:xfrm>
          <a:prstGeom prst="roundRect">
            <a:avLst>
              <a:gd name="adj" fmla="val 9000"/>
            </a:avLst>
          </a:prstGeom>
          <a:solidFill>
            <a:srgbClr val="E3ECD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94944" y="3268980"/>
            <a:ext cx="2761488"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4323D"/>
                </a:solidFill>
                <a:latin typeface="DejaVu Sans"/>
              </a:defRPr>
            </a:pPr>
            <a:r>
              <a:t>REGLAS EN EL NAVEGADOR</a:t>
            </a:r>
          </a:p>
        </p:txBody>
      </p:sp>
      <p:sp>
        <p:nvSpPr>
          <p:cNvPr id="16" name="TextBox 15"/>
          <p:cNvSpPr txBox="1"/>
          <p:nvPr/>
        </p:nvSpPr>
        <p:spPr>
          <a:xfrm>
            <a:off x="3739896" y="3255264"/>
            <a:ext cx="7763256" cy="329184"/>
          </a:xfrm>
          <a:prstGeom prst="rect">
            <a:avLst/>
          </a:prstGeom>
          <a:noFill/>
        </p:spPr>
        <p:txBody>
          <a:bodyPr wrap="square" lIns="0" rIns="0" tIns="0" bIns="0">
            <a:spAutoFit/>
          </a:bodyPr>
          <a:lstStyle/>
          <a:p>
            <a:pPr algn="l">
              <a:lnSpc>
                <a:spcPct val="105000"/>
              </a:lnSpc>
              <a:spcBef>
                <a:spcPts val="0"/>
              </a:spcBef>
              <a:spcAft>
                <a:spcPts val="500"/>
              </a:spcAft>
              <a:defRPr sz="1700" b="1">
                <a:solidFill>
                  <a:srgbClr val="14323D"/>
                </a:solidFill>
                <a:latin typeface="DejaVu Sans"/>
              </a:defRPr>
            </a:pPr>
            <a:r>
              <a:t>Filtros, área cartográfica y necesidades de referencia.</a:t>
            </a:r>
          </a:p>
        </p:txBody>
      </p:sp>
      <p:sp>
        <p:nvSpPr>
          <p:cNvPr id="17" name="TextBox 16"/>
          <p:cNvSpPr txBox="1"/>
          <p:nvPr/>
        </p:nvSpPr>
        <p:spPr>
          <a:xfrm>
            <a:off x="3739896" y="3666744"/>
            <a:ext cx="7763256" cy="274320"/>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536D70"/>
                </a:solidFill>
                <a:latin typeface="DejaVu Sans"/>
              </a:defRPr>
            </a:pPr>
            <a:r>
              <a:t>Criterios deterministas y resultados explicables.</a:t>
            </a:r>
          </a:p>
        </p:txBody>
      </p:sp>
      <p:sp>
        <p:nvSpPr>
          <p:cNvPr id="18" name="Rounded Rectangle 17"/>
          <p:cNvSpPr/>
          <p:nvPr/>
        </p:nvSpPr>
        <p:spPr>
          <a:xfrm>
            <a:off x="585216" y="4059936"/>
            <a:ext cx="2944368" cy="292608"/>
          </a:xfrm>
          <a:prstGeom prst="roundRect">
            <a:avLst>
              <a:gd name="adj" fmla="val 9000"/>
            </a:avLst>
          </a:prstGeom>
          <a:solidFill>
            <a:srgbClr val="E3ECD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94944" y="4110228"/>
            <a:ext cx="2761488"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4323D"/>
                </a:solidFill>
                <a:latin typeface="DejaVu Sans"/>
              </a:defRPr>
            </a:pPr>
            <a:r>
              <a:t>BORRADOR Y SEGUIMIENTO</a:t>
            </a:r>
          </a:p>
        </p:txBody>
      </p:sp>
      <p:sp>
        <p:nvSpPr>
          <p:cNvPr id="20" name="TextBox 19"/>
          <p:cNvSpPr txBox="1"/>
          <p:nvPr/>
        </p:nvSpPr>
        <p:spPr>
          <a:xfrm>
            <a:off x="3739896" y="4096512"/>
            <a:ext cx="7763256" cy="329184"/>
          </a:xfrm>
          <a:prstGeom prst="rect">
            <a:avLst/>
          </a:prstGeom>
          <a:noFill/>
        </p:spPr>
        <p:txBody>
          <a:bodyPr wrap="square" lIns="0" rIns="0" tIns="0" bIns="0">
            <a:spAutoFit/>
          </a:bodyPr>
          <a:lstStyle/>
          <a:p>
            <a:pPr algn="l">
              <a:lnSpc>
                <a:spcPct val="105000"/>
              </a:lnSpc>
              <a:spcBef>
                <a:spcPts val="0"/>
              </a:spcBef>
              <a:spcAft>
                <a:spcPts val="500"/>
              </a:spcAft>
              <a:defRPr sz="1700" b="1">
                <a:solidFill>
                  <a:srgbClr val="14323D"/>
                </a:solidFill>
                <a:latin typeface="DejaVu Sans"/>
              </a:defRPr>
            </a:pPr>
            <a:r>
              <a:t>Exportación JSON y estados locales de revisión.</a:t>
            </a:r>
          </a:p>
        </p:txBody>
      </p:sp>
      <p:sp>
        <p:nvSpPr>
          <p:cNvPr id="21" name="TextBox 20"/>
          <p:cNvSpPr txBox="1"/>
          <p:nvPr/>
        </p:nvSpPr>
        <p:spPr>
          <a:xfrm>
            <a:off x="3739896" y="4507992"/>
            <a:ext cx="7763256" cy="274320"/>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536D70"/>
                </a:solidFill>
                <a:latin typeface="DejaVu Sans"/>
              </a:defRPr>
            </a:pPr>
            <a:r>
              <a:t>No acredita recepción por una entidad.</a:t>
            </a:r>
          </a:p>
        </p:txBody>
      </p:sp>
      <p:sp>
        <p:nvSpPr>
          <p:cNvPr id="22" name="Rounded Rectangle 21"/>
          <p:cNvSpPr/>
          <p:nvPr/>
        </p:nvSpPr>
        <p:spPr>
          <a:xfrm>
            <a:off x="585216" y="4901184"/>
            <a:ext cx="2944368" cy="292608"/>
          </a:xfrm>
          <a:prstGeom prst="roundRect">
            <a:avLst>
              <a:gd name="adj" fmla="val 9000"/>
            </a:avLst>
          </a:prstGeom>
          <a:solidFill>
            <a:srgbClr val="E3ECD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94944" y="4951476"/>
            <a:ext cx="2761488"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4323D"/>
                </a:solidFill>
                <a:latin typeface="DejaVu Sans"/>
              </a:defRPr>
            </a:pPr>
            <a:r>
              <a:t>COMUNICACIÓN DE DEMO</a:t>
            </a:r>
          </a:p>
        </p:txBody>
      </p:sp>
      <p:sp>
        <p:nvSpPr>
          <p:cNvPr id="24" name="TextBox 23"/>
          <p:cNvSpPr txBox="1"/>
          <p:nvPr/>
        </p:nvSpPr>
        <p:spPr>
          <a:xfrm>
            <a:off x="3739896" y="4937760"/>
            <a:ext cx="7763256" cy="329184"/>
          </a:xfrm>
          <a:prstGeom prst="rect">
            <a:avLst/>
          </a:prstGeom>
          <a:noFill/>
        </p:spPr>
        <p:txBody>
          <a:bodyPr wrap="square" lIns="0" rIns="0" tIns="0" bIns="0">
            <a:spAutoFit/>
          </a:bodyPr>
          <a:lstStyle/>
          <a:p>
            <a:pPr algn="l">
              <a:lnSpc>
                <a:spcPct val="105000"/>
              </a:lnSpc>
              <a:spcBef>
                <a:spcPts val="0"/>
              </a:spcBef>
              <a:spcAft>
                <a:spcPts val="500"/>
              </a:spcAft>
              <a:defRPr sz="1700" b="1">
                <a:solidFill>
                  <a:srgbClr val="14323D"/>
                </a:solidFill>
                <a:latin typeface="DejaVu Sans"/>
              </a:defRPr>
            </a:pPr>
            <a:r>
              <a:t>Vista previa SMS y resultados agregados simulados.</a:t>
            </a:r>
          </a:p>
        </p:txBody>
      </p:sp>
      <p:sp>
        <p:nvSpPr>
          <p:cNvPr id="25" name="TextBox 24"/>
          <p:cNvSpPr txBox="1"/>
          <p:nvPr/>
        </p:nvSpPr>
        <p:spPr>
          <a:xfrm>
            <a:off x="3739896" y="5349240"/>
            <a:ext cx="7763256" cy="274320"/>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536D70"/>
                </a:solidFill>
                <a:latin typeface="DejaVu Sans"/>
              </a:defRPr>
            </a:pPr>
            <a:r>
              <a:t>Sin proveedor conectado ni teléfonos.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4323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4323D"/>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ANEXO · CONTROLES DE CONFIANZA</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4323D"/>
                </a:solidFill>
                <a:latin typeface="DejaVu Sans"/>
              </a:defRPr>
            </a:pPr>
            <a:r>
              <a:t>Lo desconocido sigue siendo desconocido.</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Producto: Territorio Preparado · Responde al RETO-01 Cali Activa · Prototipo</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4323D"/>
                </a:solidFill>
                <a:latin typeface="DejaVu Sans"/>
              </a:defRPr>
            </a:pPr>
            <a:r>
              <a:t>14</a:t>
            </a:r>
          </a:p>
        </p:txBody>
      </p:sp>
      <p:sp>
        <p:nvSpPr>
          <p:cNvPr id="10" name="Rectangle 9"/>
          <p:cNvSpPr/>
          <p:nvPr/>
        </p:nvSpPr>
        <p:spPr>
          <a:xfrm>
            <a:off x="548640" y="2322576"/>
            <a:ext cx="2834640" cy="420624"/>
          </a:xfrm>
          <a:prstGeom prst="rect">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58368" y="2423160"/>
            <a:ext cx="2615184" cy="246888"/>
          </a:xfrm>
          <a:prstGeom prst="rect">
            <a:avLst/>
          </a:prstGeom>
          <a:noFill/>
        </p:spPr>
        <p:txBody>
          <a:bodyPr wrap="square" lIns="0" rIns="0" tIns="0" bIns="0">
            <a:spAutoFit/>
          </a:bodyPr>
          <a:lstStyle/>
          <a:p>
            <a:pPr algn="l">
              <a:lnSpc>
                <a:spcPct val="105000"/>
              </a:lnSpc>
              <a:spcBef>
                <a:spcPts val="0"/>
              </a:spcBef>
              <a:spcAft>
                <a:spcPts val="500"/>
              </a:spcAft>
              <a:defRPr sz="1100" b="1">
                <a:solidFill>
                  <a:srgbClr val="FFFFFF"/>
                </a:solidFill>
                <a:latin typeface="DejaVu Sans"/>
              </a:defRPr>
            </a:pPr>
            <a:r>
              <a:t>CONTROL</a:t>
            </a:r>
          </a:p>
        </p:txBody>
      </p:sp>
      <p:sp>
        <p:nvSpPr>
          <p:cNvPr id="12" name="Rectangle 11"/>
          <p:cNvSpPr/>
          <p:nvPr/>
        </p:nvSpPr>
        <p:spPr>
          <a:xfrm>
            <a:off x="3383280" y="2322576"/>
            <a:ext cx="8229600" cy="420624"/>
          </a:xfrm>
          <a:prstGeom prst="rect">
            <a:avLst/>
          </a:prstGeom>
          <a:solidFill>
            <a:srgbClr val="0C253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493008" y="2423160"/>
            <a:ext cx="8010144" cy="246888"/>
          </a:xfrm>
          <a:prstGeom prst="rect">
            <a:avLst/>
          </a:prstGeom>
          <a:noFill/>
        </p:spPr>
        <p:txBody>
          <a:bodyPr wrap="square" lIns="0" rIns="0" tIns="0" bIns="0">
            <a:spAutoFit/>
          </a:bodyPr>
          <a:lstStyle/>
          <a:p>
            <a:pPr algn="l">
              <a:lnSpc>
                <a:spcPct val="105000"/>
              </a:lnSpc>
              <a:spcBef>
                <a:spcPts val="0"/>
              </a:spcBef>
              <a:spcAft>
                <a:spcPts val="500"/>
              </a:spcAft>
              <a:defRPr sz="1100" b="1">
                <a:solidFill>
                  <a:srgbClr val="FFFFFF"/>
                </a:solidFill>
                <a:latin typeface="DejaVu Sans"/>
              </a:defRPr>
            </a:pPr>
            <a:r>
              <a:t>CÓMO SE EXPRESA</a:t>
            </a:r>
          </a:p>
        </p:txBody>
      </p:sp>
      <p:sp>
        <p:nvSpPr>
          <p:cNvPr id="14" name="Rectangle 13"/>
          <p:cNvSpPr/>
          <p:nvPr/>
        </p:nvSpPr>
        <p:spPr>
          <a:xfrm>
            <a:off x="548640" y="2743200"/>
            <a:ext cx="2834640" cy="48463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58368" y="2871216"/>
            <a:ext cx="2615184" cy="320040"/>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14323D"/>
                </a:solidFill>
                <a:latin typeface="DejaVu Sans"/>
              </a:defRPr>
            </a:pPr>
            <a:r>
              <a:t>Autoridad</a:t>
            </a:r>
          </a:p>
        </p:txBody>
      </p:sp>
      <p:sp>
        <p:nvSpPr>
          <p:cNvPr id="16" name="Rectangle 15"/>
          <p:cNvSpPr/>
          <p:nvPr/>
        </p:nvSpPr>
        <p:spPr>
          <a:xfrm>
            <a:off x="3383280" y="2743200"/>
            <a:ext cx="8229600" cy="48463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493008" y="2871216"/>
            <a:ext cx="8010144" cy="320040"/>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Seleccionar o incluir en un borrador no activa un espacio.</a:t>
            </a:r>
          </a:p>
        </p:txBody>
      </p:sp>
      <p:sp>
        <p:nvSpPr>
          <p:cNvPr id="18" name="Rectangle 17"/>
          <p:cNvSpPr/>
          <p:nvPr/>
        </p:nvSpPr>
        <p:spPr>
          <a:xfrm>
            <a:off x="548640" y="3227832"/>
            <a:ext cx="2834640" cy="484632"/>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58368" y="3355848"/>
            <a:ext cx="2615184" cy="320040"/>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14323D"/>
                </a:solidFill>
                <a:latin typeface="DejaVu Sans"/>
              </a:defRPr>
            </a:pPr>
            <a:r>
              <a:t>Seguridad técnica</a:t>
            </a:r>
          </a:p>
        </p:txBody>
      </p:sp>
      <p:sp>
        <p:nvSpPr>
          <p:cNvPr id="20" name="Rectangle 19"/>
          <p:cNvSpPr/>
          <p:nvPr/>
        </p:nvSpPr>
        <p:spPr>
          <a:xfrm>
            <a:off x="3383280" y="3227832"/>
            <a:ext cx="8229600" cy="484632"/>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3493008" y="3355848"/>
            <a:ext cx="8010144" cy="320040"/>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No sustituye evaluación estructural ni conceptos de Bomberos.</a:t>
            </a:r>
          </a:p>
        </p:txBody>
      </p:sp>
      <p:sp>
        <p:nvSpPr>
          <p:cNvPr id="22" name="Rectangle 21"/>
          <p:cNvSpPr/>
          <p:nvPr/>
        </p:nvSpPr>
        <p:spPr>
          <a:xfrm>
            <a:off x="548640" y="3712464"/>
            <a:ext cx="2834640" cy="48463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58368" y="3840480"/>
            <a:ext cx="2615184" cy="320040"/>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14323D"/>
                </a:solidFill>
                <a:latin typeface="DejaVu Sans"/>
              </a:defRPr>
            </a:pPr>
            <a:r>
              <a:t>Datos mínimos</a:t>
            </a:r>
          </a:p>
        </p:txBody>
      </p:sp>
      <p:sp>
        <p:nvSpPr>
          <p:cNvPr id="24" name="Rectangle 23"/>
          <p:cNvSpPr/>
          <p:nvPr/>
        </p:nvSpPr>
        <p:spPr>
          <a:xfrm>
            <a:off x="3383280" y="3712464"/>
            <a:ext cx="8229600" cy="48463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3493008" y="3840480"/>
            <a:ext cx="8010144" cy="320040"/>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Sin nombres, documentos, teléfonos ni identificación individual.</a:t>
            </a:r>
          </a:p>
        </p:txBody>
      </p:sp>
      <p:sp>
        <p:nvSpPr>
          <p:cNvPr id="26" name="Rectangle 25"/>
          <p:cNvSpPr/>
          <p:nvPr/>
        </p:nvSpPr>
        <p:spPr>
          <a:xfrm>
            <a:off x="548640" y="4197096"/>
            <a:ext cx="2834640" cy="484632"/>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58368" y="4325112"/>
            <a:ext cx="2615184" cy="320040"/>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14323D"/>
                </a:solidFill>
                <a:latin typeface="DejaVu Sans"/>
              </a:defRPr>
            </a:pPr>
            <a:r>
              <a:t>Explicabilidad</a:t>
            </a:r>
          </a:p>
        </p:txBody>
      </p:sp>
      <p:sp>
        <p:nvSpPr>
          <p:cNvPr id="28" name="Rectangle 27"/>
          <p:cNvSpPr/>
          <p:nvPr/>
        </p:nvSpPr>
        <p:spPr>
          <a:xfrm>
            <a:off x="3383280" y="4197096"/>
            <a:ext cx="8229600" cy="484632"/>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3493008" y="4325112"/>
            <a:ext cx="8010144" cy="320040"/>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Criterios, fórmulas, fuentes y supuestos visibles.</a:t>
            </a:r>
          </a:p>
        </p:txBody>
      </p:sp>
      <p:sp>
        <p:nvSpPr>
          <p:cNvPr id="30" name="Rectangle 29"/>
          <p:cNvSpPr/>
          <p:nvPr/>
        </p:nvSpPr>
        <p:spPr>
          <a:xfrm>
            <a:off x="548640" y="4681728"/>
            <a:ext cx="2834640" cy="48463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58368" y="4809744"/>
            <a:ext cx="2615184" cy="320040"/>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14323D"/>
                </a:solidFill>
                <a:latin typeface="DejaVu Sans"/>
              </a:defRPr>
            </a:pPr>
            <a:r>
              <a:t>Simulaciones</a:t>
            </a:r>
          </a:p>
        </p:txBody>
      </p:sp>
      <p:sp>
        <p:nvSpPr>
          <p:cNvPr id="32" name="Rectangle 31"/>
          <p:cNvSpPr/>
          <p:nvPr/>
        </p:nvSpPr>
        <p:spPr>
          <a:xfrm>
            <a:off x="3383280" y="4681728"/>
            <a:ext cx="8229600" cy="48463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3493008" y="4809744"/>
            <a:ext cx="8010144" cy="320040"/>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Población, reservas, módulos y entregas SMS marcados SIMULADOS.</a:t>
            </a:r>
          </a:p>
        </p:txBody>
      </p:sp>
      <p:sp>
        <p:nvSpPr>
          <p:cNvPr id="34" name="Rectangle 33"/>
          <p:cNvSpPr/>
          <p:nvPr/>
        </p:nvSpPr>
        <p:spPr>
          <a:xfrm>
            <a:off x="548640" y="5166360"/>
            <a:ext cx="2834640" cy="484632"/>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58368" y="5294376"/>
            <a:ext cx="2615184" cy="320040"/>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14323D"/>
                </a:solidFill>
                <a:latin typeface="DejaVu Sans"/>
              </a:defRPr>
            </a:pPr>
            <a:r>
              <a:t>Retorno</a:t>
            </a:r>
          </a:p>
        </p:txBody>
      </p:sp>
      <p:sp>
        <p:nvSpPr>
          <p:cNvPr id="36" name="Rectangle 35"/>
          <p:cNvSpPr/>
          <p:nvPr/>
        </p:nvSpPr>
        <p:spPr>
          <a:xfrm>
            <a:off x="3383280" y="5166360"/>
            <a:ext cx="8229600" cy="484632"/>
          </a:xfrm>
          <a:prstGeom prst="rect">
            <a:avLst/>
          </a:prstGeom>
          <a:solidFill>
            <a:srgbClr val="E7EF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3493008" y="5294376"/>
            <a:ext cx="8010144" cy="320040"/>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Revisión, checklist y acta como flujo previsto; no acta ejecutada.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4323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4323D"/>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ANEXO · SIGUIENTE ETAPA</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4323D"/>
                </a:solidFill>
                <a:latin typeface="DejaVu Sans"/>
              </a:defRPr>
            </a:pPr>
            <a:r>
              <a:t>Qué falta para una operación real.</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Producto: Territorio Preparado · Responde al RETO-01 Cali Activa · Prototipo</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4323D"/>
                </a:solidFill>
                <a:latin typeface="DejaVu Sans"/>
              </a:defRPr>
            </a:pPr>
            <a:r>
              <a:t>15</a:t>
            </a:r>
          </a:p>
        </p:txBody>
      </p:sp>
      <p:sp>
        <p:nvSpPr>
          <p:cNvPr id="10" name="Oval 9"/>
          <p:cNvSpPr/>
          <p:nvPr/>
        </p:nvSpPr>
        <p:spPr>
          <a:xfrm>
            <a:off x="594360" y="2633472"/>
            <a:ext cx="475488" cy="475488"/>
          </a:xfrm>
          <a:prstGeom prst="ellipse">
            <a:avLst/>
          </a:prstGeom>
          <a:solidFill>
            <a:srgbClr val="087F8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49224" y="2743200"/>
            <a:ext cx="365760" cy="246888"/>
          </a:xfrm>
          <a:prstGeom prst="rect">
            <a:avLst/>
          </a:prstGeom>
          <a:noFill/>
        </p:spPr>
        <p:txBody>
          <a:bodyPr wrap="square" lIns="0" rIns="0" tIns="0" bIns="0">
            <a:spAutoFit/>
          </a:bodyPr>
          <a:lstStyle/>
          <a:p>
            <a:pPr algn="ctr">
              <a:lnSpc>
                <a:spcPct val="105000"/>
              </a:lnSpc>
              <a:spcBef>
                <a:spcPts val="0"/>
              </a:spcBef>
              <a:spcAft>
                <a:spcPts val="500"/>
              </a:spcAft>
              <a:defRPr sz="1300" b="1">
                <a:solidFill>
                  <a:srgbClr val="FFFFFF"/>
                </a:solidFill>
                <a:latin typeface="DejaVu Sans"/>
              </a:defRPr>
            </a:pPr>
            <a:r>
              <a:t>01</a:t>
            </a:r>
          </a:p>
        </p:txBody>
      </p:sp>
      <p:cxnSp>
        <p:nvCxnSpPr>
          <p:cNvPr id="12" name="Connector 11"/>
          <p:cNvCxnSpPr/>
          <p:nvPr/>
        </p:nvCxnSpPr>
        <p:spPr>
          <a:xfrm>
            <a:off x="1234440" y="2880360"/>
            <a:ext cx="1874520" cy="0"/>
          </a:xfrm>
          <a:prstGeom prst="line">
            <a:avLst/>
          </a:prstGeom>
          <a:ln w="21590">
            <a:solidFill>
              <a:srgbClr val="087F80"/>
            </a:solidFill>
          </a:ln>
        </p:spPr>
        <p:style>
          <a:lnRef idx="2">
            <a:schemeClr val="accent1"/>
          </a:lnRef>
          <a:fillRef idx="0">
            <a:schemeClr val="accent1"/>
          </a:fillRef>
          <a:effectRef idx="0">
            <a:schemeClr val="accent1"/>
          </a:effectRef>
          <a:fontRef idx="minor">
            <a:schemeClr val="tx1"/>
          </a:fontRef>
        </p:style>
      </p:cxnSp>
      <p:sp>
        <p:nvSpPr>
          <p:cNvPr id="13" name="Isosceles Triangle 12"/>
          <p:cNvSpPr/>
          <p:nvPr/>
        </p:nvSpPr>
        <p:spPr>
          <a:xfrm rot="5400000">
            <a:off x="3058668" y="2830068"/>
            <a:ext cx="100584" cy="100584"/>
          </a:xfrm>
          <a:prstGeom prst="triangle">
            <a:avLst/>
          </a:prstGeom>
          <a:solidFill>
            <a:srgbClr val="087F8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94360" y="3483864"/>
            <a:ext cx="2587752" cy="365760"/>
          </a:xfrm>
          <a:prstGeom prst="rect">
            <a:avLst/>
          </a:prstGeom>
          <a:noFill/>
        </p:spPr>
        <p:txBody>
          <a:bodyPr wrap="square" lIns="0" rIns="0" tIns="0" bIns="0">
            <a:spAutoFit/>
          </a:bodyPr>
          <a:lstStyle/>
          <a:p>
            <a:pPr algn="l">
              <a:lnSpc>
                <a:spcPct val="105000"/>
              </a:lnSpc>
              <a:spcBef>
                <a:spcPts val="0"/>
              </a:spcBef>
              <a:spcAft>
                <a:spcPts val="500"/>
              </a:spcAft>
              <a:defRPr sz="1800" b="1">
                <a:solidFill>
                  <a:srgbClr val="087F80"/>
                </a:solidFill>
                <a:latin typeface="DejaVu Sans"/>
              </a:defRPr>
            </a:pPr>
            <a:r>
              <a:t>MEDIR</a:t>
            </a:r>
          </a:p>
        </p:txBody>
      </p:sp>
      <p:sp>
        <p:nvSpPr>
          <p:cNvPr id="15" name="TextBox 14"/>
          <p:cNvSpPr txBox="1"/>
          <p:nvPr/>
        </p:nvSpPr>
        <p:spPr>
          <a:xfrm>
            <a:off x="594360" y="4078224"/>
            <a:ext cx="2496312" cy="1316736"/>
          </a:xfrm>
          <a:prstGeom prst="rect">
            <a:avLst/>
          </a:prstGeom>
          <a:noFill/>
        </p:spPr>
        <p:txBody>
          <a:bodyPr wrap="square" lIns="0" rIns="0" tIns="0" bIns="0">
            <a:spAutoFit/>
          </a:bodyPr>
          <a:lstStyle/>
          <a:p>
            <a:pPr algn="l">
              <a:lnSpc>
                <a:spcPct val="105000"/>
              </a:lnSpc>
              <a:spcBef>
                <a:spcPts val="0"/>
              </a:spcBef>
              <a:spcAft>
                <a:spcPts val="500"/>
              </a:spcAft>
              <a:defRPr sz="1800" b="0">
                <a:solidFill>
                  <a:srgbClr val="14323D"/>
                </a:solidFill>
                <a:latin typeface="DejaVu Sans"/>
              </a:defRPr>
            </a:pPr>
            <a:r>
              <a:t>Área útil, accesos, servicios y condiciones de atención.</a:t>
            </a:r>
          </a:p>
        </p:txBody>
      </p:sp>
      <p:sp>
        <p:nvSpPr>
          <p:cNvPr id="16" name="Oval 15"/>
          <p:cNvSpPr/>
          <p:nvPr/>
        </p:nvSpPr>
        <p:spPr>
          <a:xfrm>
            <a:off x="3447288" y="2633472"/>
            <a:ext cx="475488" cy="475488"/>
          </a:xfrm>
          <a:prstGeom prst="ellipse">
            <a:avLst/>
          </a:prstGeom>
          <a:solidFill>
            <a:srgbClr val="087F8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502152" y="2743200"/>
            <a:ext cx="365760" cy="246888"/>
          </a:xfrm>
          <a:prstGeom prst="rect">
            <a:avLst/>
          </a:prstGeom>
          <a:noFill/>
        </p:spPr>
        <p:txBody>
          <a:bodyPr wrap="square" lIns="0" rIns="0" tIns="0" bIns="0">
            <a:spAutoFit/>
          </a:bodyPr>
          <a:lstStyle/>
          <a:p>
            <a:pPr algn="ctr">
              <a:lnSpc>
                <a:spcPct val="105000"/>
              </a:lnSpc>
              <a:spcBef>
                <a:spcPts val="0"/>
              </a:spcBef>
              <a:spcAft>
                <a:spcPts val="500"/>
              </a:spcAft>
              <a:defRPr sz="1300" b="1">
                <a:solidFill>
                  <a:srgbClr val="FFFFFF"/>
                </a:solidFill>
                <a:latin typeface="DejaVu Sans"/>
              </a:defRPr>
            </a:pPr>
            <a:r>
              <a:t>02</a:t>
            </a:r>
          </a:p>
        </p:txBody>
      </p:sp>
      <p:cxnSp>
        <p:nvCxnSpPr>
          <p:cNvPr id="18" name="Connector 17"/>
          <p:cNvCxnSpPr/>
          <p:nvPr/>
        </p:nvCxnSpPr>
        <p:spPr>
          <a:xfrm>
            <a:off x="4087368" y="2880360"/>
            <a:ext cx="1874520" cy="0"/>
          </a:xfrm>
          <a:prstGeom prst="line">
            <a:avLst/>
          </a:prstGeom>
          <a:ln w="21590">
            <a:solidFill>
              <a:srgbClr val="087F80"/>
            </a:solidFill>
          </a:ln>
        </p:spPr>
        <p:style>
          <a:lnRef idx="2">
            <a:schemeClr val="accent1"/>
          </a:lnRef>
          <a:fillRef idx="0">
            <a:schemeClr val="accent1"/>
          </a:fillRef>
          <a:effectRef idx="0">
            <a:schemeClr val="accent1"/>
          </a:effectRef>
          <a:fontRef idx="minor">
            <a:schemeClr val="tx1"/>
          </a:fontRef>
        </p:style>
      </p:cxnSp>
      <p:sp>
        <p:nvSpPr>
          <p:cNvPr id="19" name="Isosceles Triangle 18"/>
          <p:cNvSpPr/>
          <p:nvPr/>
        </p:nvSpPr>
        <p:spPr>
          <a:xfrm rot="5400000">
            <a:off x="5911596" y="2830068"/>
            <a:ext cx="100584" cy="100584"/>
          </a:xfrm>
          <a:prstGeom prst="triangle">
            <a:avLst/>
          </a:prstGeom>
          <a:solidFill>
            <a:srgbClr val="087F8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447288" y="3483864"/>
            <a:ext cx="2587752" cy="365760"/>
          </a:xfrm>
          <a:prstGeom prst="rect">
            <a:avLst/>
          </a:prstGeom>
          <a:noFill/>
        </p:spPr>
        <p:txBody>
          <a:bodyPr wrap="square" lIns="0" rIns="0" tIns="0" bIns="0">
            <a:spAutoFit/>
          </a:bodyPr>
          <a:lstStyle/>
          <a:p>
            <a:pPr algn="l">
              <a:lnSpc>
                <a:spcPct val="105000"/>
              </a:lnSpc>
              <a:spcBef>
                <a:spcPts val="0"/>
              </a:spcBef>
              <a:spcAft>
                <a:spcPts val="500"/>
              </a:spcAft>
              <a:defRPr sz="1800" b="1">
                <a:solidFill>
                  <a:srgbClr val="087F80"/>
                </a:solidFill>
                <a:latin typeface="DejaVu Sans"/>
              </a:defRPr>
            </a:pPr>
            <a:r>
              <a:t>COMPROBAR</a:t>
            </a:r>
          </a:p>
        </p:txBody>
      </p:sp>
      <p:sp>
        <p:nvSpPr>
          <p:cNvPr id="21" name="TextBox 20"/>
          <p:cNvSpPr txBox="1"/>
          <p:nvPr/>
        </p:nvSpPr>
        <p:spPr>
          <a:xfrm>
            <a:off x="3447288" y="4078224"/>
            <a:ext cx="2496312" cy="1316736"/>
          </a:xfrm>
          <a:prstGeom prst="rect">
            <a:avLst/>
          </a:prstGeom>
          <a:noFill/>
        </p:spPr>
        <p:txBody>
          <a:bodyPr wrap="square" lIns="0" rIns="0" tIns="0" bIns="0">
            <a:spAutoFit/>
          </a:bodyPr>
          <a:lstStyle/>
          <a:p>
            <a:pPr algn="l">
              <a:lnSpc>
                <a:spcPct val="105000"/>
              </a:lnSpc>
              <a:spcBef>
                <a:spcPts val="0"/>
              </a:spcBef>
              <a:spcAft>
                <a:spcPts val="500"/>
              </a:spcAft>
              <a:defRPr sz="1800" b="0">
                <a:solidFill>
                  <a:srgbClr val="14323D"/>
                </a:solidFill>
                <a:latin typeface="DejaVu Sans"/>
              </a:defRPr>
            </a:pPr>
            <a:r>
              <a:t>Encaje de módulos, restricciones, carga y evaluación técnica.</a:t>
            </a:r>
          </a:p>
        </p:txBody>
      </p:sp>
      <p:sp>
        <p:nvSpPr>
          <p:cNvPr id="22" name="Oval 21"/>
          <p:cNvSpPr/>
          <p:nvPr/>
        </p:nvSpPr>
        <p:spPr>
          <a:xfrm>
            <a:off x="6300216" y="2633472"/>
            <a:ext cx="475488" cy="475488"/>
          </a:xfrm>
          <a:prstGeom prst="ellipse">
            <a:avLst/>
          </a:prstGeom>
          <a:solidFill>
            <a:srgbClr val="087F8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355080" y="2743200"/>
            <a:ext cx="365760" cy="246888"/>
          </a:xfrm>
          <a:prstGeom prst="rect">
            <a:avLst/>
          </a:prstGeom>
          <a:noFill/>
        </p:spPr>
        <p:txBody>
          <a:bodyPr wrap="square" lIns="0" rIns="0" tIns="0" bIns="0">
            <a:spAutoFit/>
          </a:bodyPr>
          <a:lstStyle/>
          <a:p>
            <a:pPr algn="ctr">
              <a:lnSpc>
                <a:spcPct val="105000"/>
              </a:lnSpc>
              <a:spcBef>
                <a:spcPts val="0"/>
              </a:spcBef>
              <a:spcAft>
                <a:spcPts val="500"/>
              </a:spcAft>
              <a:defRPr sz="1300" b="1">
                <a:solidFill>
                  <a:srgbClr val="FFFFFF"/>
                </a:solidFill>
                <a:latin typeface="DejaVu Sans"/>
              </a:defRPr>
            </a:pPr>
            <a:r>
              <a:t>03</a:t>
            </a:r>
          </a:p>
        </p:txBody>
      </p:sp>
      <p:cxnSp>
        <p:nvCxnSpPr>
          <p:cNvPr id="24" name="Connector 23"/>
          <p:cNvCxnSpPr/>
          <p:nvPr/>
        </p:nvCxnSpPr>
        <p:spPr>
          <a:xfrm>
            <a:off x="6940296" y="2880360"/>
            <a:ext cx="1874520" cy="0"/>
          </a:xfrm>
          <a:prstGeom prst="line">
            <a:avLst/>
          </a:prstGeom>
          <a:ln w="21590">
            <a:solidFill>
              <a:srgbClr val="087F80"/>
            </a:solidFill>
          </a:ln>
        </p:spPr>
        <p:style>
          <a:lnRef idx="2">
            <a:schemeClr val="accent1"/>
          </a:lnRef>
          <a:fillRef idx="0">
            <a:schemeClr val="accent1"/>
          </a:fillRef>
          <a:effectRef idx="0">
            <a:schemeClr val="accent1"/>
          </a:effectRef>
          <a:fontRef idx="minor">
            <a:schemeClr val="tx1"/>
          </a:fontRef>
        </p:style>
      </p:cxnSp>
      <p:sp>
        <p:nvSpPr>
          <p:cNvPr id="25" name="Isosceles Triangle 24"/>
          <p:cNvSpPr/>
          <p:nvPr/>
        </p:nvSpPr>
        <p:spPr>
          <a:xfrm rot="5400000">
            <a:off x="8764524" y="2830068"/>
            <a:ext cx="100584" cy="100584"/>
          </a:xfrm>
          <a:prstGeom prst="triangle">
            <a:avLst/>
          </a:prstGeom>
          <a:solidFill>
            <a:srgbClr val="087F8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300216" y="3483864"/>
            <a:ext cx="2587752" cy="365760"/>
          </a:xfrm>
          <a:prstGeom prst="rect">
            <a:avLst/>
          </a:prstGeom>
          <a:noFill/>
        </p:spPr>
        <p:txBody>
          <a:bodyPr wrap="square" lIns="0" rIns="0" tIns="0" bIns="0">
            <a:spAutoFit/>
          </a:bodyPr>
          <a:lstStyle/>
          <a:p>
            <a:pPr algn="l">
              <a:lnSpc>
                <a:spcPct val="105000"/>
              </a:lnSpc>
              <a:spcBef>
                <a:spcPts val="0"/>
              </a:spcBef>
              <a:spcAft>
                <a:spcPts val="500"/>
              </a:spcAft>
              <a:defRPr sz="1800" b="1">
                <a:solidFill>
                  <a:srgbClr val="087F80"/>
                </a:solidFill>
                <a:latin typeface="DejaVu Sans"/>
              </a:defRPr>
            </a:pPr>
            <a:r>
              <a:t>INTEGRAR</a:t>
            </a:r>
          </a:p>
        </p:txBody>
      </p:sp>
      <p:sp>
        <p:nvSpPr>
          <p:cNvPr id="27" name="TextBox 26"/>
          <p:cNvSpPr txBox="1"/>
          <p:nvPr/>
        </p:nvSpPr>
        <p:spPr>
          <a:xfrm>
            <a:off x="6300216" y="4078224"/>
            <a:ext cx="2496312" cy="1316736"/>
          </a:xfrm>
          <a:prstGeom prst="rect">
            <a:avLst/>
          </a:prstGeom>
          <a:noFill/>
        </p:spPr>
        <p:txBody>
          <a:bodyPr wrap="square" lIns="0" rIns="0" tIns="0" bIns="0">
            <a:spAutoFit/>
          </a:bodyPr>
          <a:lstStyle/>
          <a:p>
            <a:pPr algn="l">
              <a:lnSpc>
                <a:spcPct val="105000"/>
              </a:lnSpc>
              <a:spcBef>
                <a:spcPts val="0"/>
              </a:spcBef>
              <a:spcAft>
                <a:spcPts val="500"/>
              </a:spcAft>
              <a:defRPr sz="1800" b="0">
                <a:solidFill>
                  <a:srgbClr val="14323D"/>
                </a:solidFill>
                <a:latin typeface="DejaVu Sans"/>
              </a:defRPr>
            </a:pPr>
            <a:r>
              <a:t>Proveedor SMS, permisos, cobertura y trazabilidad operativa.</a:t>
            </a:r>
          </a:p>
        </p:txBody>
      </p:sp>
      <p:sp>
        <p:nvSpPr>
          <p:cNvPr id="28" name="Oval 27"/>
          <p:cNvSpPr/>
          <p:nvPr/>
        </p:nvSpPr>
        <p:spPr>
          <a:xfrm>
            <a:off x="9153144" y="2633472"/>
            <a:ext cx="475488" cy="475488"/>
          </a:xfrm>
          <a:prstGeom prst="ellipse">
            <a:avLst/>
          </a:prstGeom>
          <a:solidFill>
            <a:srgbClr val="087F8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208008" y="2743200"/>
            <a:ext cx="365760" cy="246888"/>
          </a:xfrm>
          <a:prstGeom prst="rect">
            <a:avLst/>
          </a:prstGeom>
          <a:noFill/>
        </p:spPr>
        <p:txBody>
          <a:bodyPr wrap="square" lIns="0" rIns="0" tIns="0" bIns="0">
            <a:spAutoFit/>
          </a:bodyPr>
          <a:lstStyle/>
          <a:p>
            <a:pPr algn="ctr">
              <a:lnSpc>
                <a:spcPct val="105000"/>
              </a:lnSpc>
              <a:spcBef>
                <a:spcPts val="0"/>
              </a:spcBef>
              <a:spcAft>
                <a:spcPts val="500"/>
              </a:spcAft>
              <a:defRPr sz="1300" b="1">
                <a:solidFill>
                  <a:srgbClr val="FFFFFF"/>
                </a:solidFill>
                <a:latin typeface="DejaVu Sans"/>
              </a:defRPr>
            </a:pPr>
            <a:r>
              <a:t>04</a:t>
            </a:r>
          </a:p>
        </p:txBody>
      </p:sp>
      <p:sp>
        <p:nvSpPr>
          <p:cNvPr id="30" name="TextBox 29"/>
          <p:cNvSpPr txBox="1"/>
          <p:nvPr/>
        </p:nvSpPr>
        <p:spPr>
          <a:xfrm>
            <a:off x="9153144" y="3483864"/>
            <a:ext cx="2587752" cy="365760"/>
          </a:xfrm>
          <a:prstGeom prst="rect">
            <a:avLst/>
          </a:prstGeom>
          <a:noFill/>
        </p:spPr>
        <p:txBody>
          <a:bodyPr wrap="square" lIns="0" rIns="0" tIns="0" bIns="0">
            <a:spAutoFit/>
          </a:bodyPr>
          <a:lstStyle/>
          <a:p>
            <a:pPr algn="l">
              <a:lnSpc>
                <a:spcPct val="105000"/>
              </a:lnSpc>
              <a:spcBef>
                <a:spcPts val="0"/>
              </a:spcBef>
              <a:spcAft>
                <a:spcPts val="500"/>
              </a:spcAft>
              <a:defRPr sz="1800" b="1">
                <a:solidFill>
                  <a:srgbClr val="087F80"/>
                </a:solidFill>
                <a:latin typeface="DejaVu Sans"/>
              </a:defRPr>
            </a:pPr>
            <a:r>
              <a:t>VALIDAR</a:t>
            </a:r>
          </a:p>
        </p:txBody>
      </p:sp>
      <p:sp>
        <p:nvSpPr>
          <p:cNvPr id="31" name="TextBox 30"/>
          <p:cNvSpPr txBox="1"/>
          <p:nvPr/>
        </p:nvSpPr>
        <p:spPr>
          <a:xfrm>
            <a:off x="9153144" y="4078224"/>
            <a:ext cx="2496312" cy="1316736"/>
          </a:xfrm>
          <a:prstGeom prst="rect">
            <a:avLst/>
          </a:prstGeom>
          <a:noFill/>
        </p:spPr>
        <p:txBody>
          <a:bodyPr wrap="square" lIns="0" rIns="0" tIns="0" bIns="0">
            <a:spAutoFit/>
          </a:bodyPr>
          <a:lstStyle/>
          <a:p>
            <a:pPr algn="l">
              <a:lnSpc>
                <a:spcPct val="105000"/>
              </a:lnSpc>
              <a:spcBef>
                <a:spcPts val="0"/>
              </a:spcBef>
              <a:spcAft>
                <a:spcPts val="500"/>
              </a:spcAft>
              <a:defRPr sz="1800" b="0">
                <a:solidFill>
                  <a:srgbClr val="14323D"/>
                </a:solidFill>
                <a:latin typeface="DejaVu Sans"/>
              </a:defRPr>
            </a:pPr>
            <a:r>
              <a:t>Disponibilidad, responsables y coordinación con actores reales.</a:t>
            </a:r>
          </a:p>
        </p:txBody>
      </p:sp>
      <p:sp>
        <p:nvSpPr>
          <p:cNvPr id="32" name="Rounded Rectangle 31"/>
          <p:cNvSpPr/>
          <p:nvPr/>
        </p:nvSpPr>
        <p:spPr>
          <a:xfrm>
            <a:off x="594360" y="5733288"/>
            <a:ext cx="10972800" cy="438912"/>
          </a:xfrm>
          <a:prstGeom prst="roundRect">
            <a:avLst>
              <a:gd name="adj" fmla="val 9000"/>
            </a:avLst>
          </a:prstGeom>
          <a:solidFill>
            <a:srgbClr val="E3ECD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58952" y="5843016"/>
            <a:ext cx="10652760" cy="228600"/>
          </a:xfrm>
          <a:prstGeom prst="rect">
            <a:avLst/>
          </a:prstGeom>
          <a:noFill/>
        </p:spPr>
        <p:txBody>
          <a:bodyPr wrap="square" lIns="0" rIns="0" tIns="0" bIns="0">
            <a:spAutoFit/>
          </a:bodyPr>
          <a:lstStyle/>
          <a:p>
            <a:pPr algn="l">
              <a:lnSpc>
                <a:spcPct val="105000"/>
              </a:lnSpc>
              <a:spcBef>
                <a:spcPts val="0"/>
              </a:spcBef>
              <a:spcAft>
                <a:spcPts val="500"/>
              </a:spcAft>
              <a:defRPr sz="1200" b="0">
                <a:solidFill>
                  <a:srgbClr val="14323D"/>
                </a:solidFill>
                <a:latin typeface="DejaVu Sans"/>
              </a:defRPr>
            </a:pPr>
            <a:r>
              <a:t>Pendientes de operación, no requisitos realizados. La validación con entidades está fuera de la etapa actual.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4323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TP</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4323D"/>
                </a:solidFill>
                <a:latin typeface="DejaVu Sans"/>
              </a:defRPr>
            </a:pPr>
            <a:r>
              <a:t>TERRITORIO PREPARADO</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ANEXO · FUENTES</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4323D"/>
                </a:solidFill>
                <a:latin typeface="DejaVu Sans"/>
              </a:defRPr>
            </a:pPr>
            <a:r>
              <a:t>La propuesta se puede rastrear hasta sus datos.</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Producto: Territorio Preparado · Responde al RETO-01 Cali Activa · Prototipo</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4323D"/>
                </a:solidFill>
                <a:latin typeface="DejaVu Sans"/>
              </a:defRPr>
            </a:pPr>
            <a:r>
              <a:t>16</a:t>
            </a:r>
          </a:p>
        </p:txBody>
      </p:sp>
      <p:sp>
        <p:nvSpPr>
          <p:cNvPr id="10" name="TextBox 9"/>
          <p:cNvSpPr txBox="1"/>
          <p:nvPr/>
        </p:nvSpPr>
        <p:spPr>
          <a:xfrm>
            <a:off x="594360" y="2240280"/>
            <a:ext cx="2834640" cy="310896"/>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087F80"/>
                </a:solidFill>
                <a:latin typeface="DejaVu Sans"/>
              </a:defRPr>
            </a:pPr>
            <a:r>
              <a:t>Inventario y comunas</a:t>
            </a:r>
          </a:p>
        </p:txBody>
      </p:sp>
      <p:sp>
        <p:nvSpPr>
          <p:cNvPr id="11" name="TextBox 10"/>
          <p:cNvSpPr txBox="1"/>
          <p:nvPr/>
        </p:nvSpPr>
        <p:spPr>
          <a:xfrm>
            <a:off x="3401568" y="2240280"/>
            <a:ext cx="8138160" cy="28346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Alcaldía de Cali · DAPM / IDESC · archivos públicos del proyecto</a:t>
            </a:r>
          </a:p>
        </p:txBody>
      </p:sp>
      <p:sp>
        <p:nvSpPr>
          <p:cNvPr id="12" name="TextBox 11"/>
          <p:cNvSpPr txBox="1"/>
          <p:nvPr/>
        </p:nvSpPr>
        <p:spPr>
          <a:xfrm>
            <a:off x="3401568" y="2587752"/>
            <a:ext cx="8138160" cy="201168"/>
          </a:xfrm>
          <a:prstGeom prst="rect">
            <a:avLst/>
          </a:prstGeom>
          <a:noFill/>
        </p:spPr>
        <p:txBody>
          <a:bodyPr wrap="square" lIns="0" rIns="0" tIns="0" bIns="0">
            <a:spAutoFit/>
          </a:bodyPr>
          <a:lstStyle/>
          <a:p>
            <a:pPr algn="l">
              <a:lnSpc>
                <a:spcPct val="105000"/>
              </a:lnSpc>
              <a:spcBef>
                <a:spcPts val="0"/>
              </a:spcBef>
              <a:spcAft>
                <a:spcPts val="500"/>
              </a:spcAft>
              <a:defRPr sz="880" b="0">
                <a:solidFill>
                  <a:srgbClr val="087F80"/>
                </a:solidFill>
                <a:latin typeface="DejaVu Sans"/>
              </a:defRPr>
            </a:pPr>
            <a:r>
              <a:rPr>
                <a:hlinkClick r:id="rId2"/>
              </a:rPr>
              <a:t>https://datos.cali.gov.co/dataset/epou-espacio-publico-efectivo</a:t>
            </a:r>
          </a:p>
        </p:txBody>
      </p:sp>
      <p:sp>
        <p:nvSpPr>
          <p:cNvPr id="13" name="TextBox 12"/>
          <p:cNvSpPr txBox="1"/>
          <p:nvPr/>
        </p:nvSpPr>
        <p:spPr>
          <a:xfrm>
            <a:off x="594360" y="2935224"/>
            <a:ext cx="2834640" cy="310896"/>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087F80"/>
                </a:solidFill>
                <a:latin typeface="DejaVu Sans"/>
              </a:defRPr>
            </a:pPr>
            <a:r>
              <a:t>Cartografía de comunas</a:t>
            </a:r>
          </a:p>
        </p:txBody>
      </p:sp>
      <p:sp>
        <p:nvSpPr>
          <p:cNvPr id="14" name="TextBox 13"/>
          <p:cNvSpPr txBox="1"/>
          <p:nvPr/>
        </p:nvSpPr>
        <p:spPr>
          <a:xfrm>
            <a:off x="3401568" y="2935224"/>
            <a:ext cx="8138160" cy="28346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Comunas de Santiago de Cali · atribución CC BY</a:t>
            </a:r>
          </a:p>
        </p:txBody>
      </p:sp>
      <p:sp>
        <p:nvSpPr>
          <p:cNvPr id="15" name="TextBox 14"/>
          <p:cNvSpPr txBox="1"/>
          <p:nvPr/>
        </p:nvSpPr>
        <p:spPr>
          <a:xfrm>
            <a:off x="3401568" y="3282696"/>
            <a:ext cx="8138160" cy="201168"/>
          </a:xfrm>
          <a:prstGeom prst="rect">
            <a:avLst/>
          </a:prstGeom>
          <a:noFill/>
        </p:spPr>
        <p:txBody>
          <a:bodyPr wrap="square" lIns="0" rIns="0" tIns="0" bIns="0">
            <a:spAutoFit/>
          </a:bodyPr>
          <a:lstStyle/>
          <a:p>
            <a:pPr algn="l">
              <a:lnSpc>
                <a:spcPct val="105000"/>
              </a:lnSpc>
              <a:spcBef>
                <a:spcPts val="0"/>
              </a:spcBef>
              <a:spcAft>
                <a:spcPts val="500"/>
              </a:spcAft>
              <a:defRPr sz="880" b="0">
                <a:solidFill>
                  <a:srgbClr val="087F80"/>
                </a:solidFill>
                <a:latin typeface="DejaVu Sans"/>
              </a:defRPr>
            </a:pPr>
            <a:r>
              <a:rPr>
                <a:hlinkClick r:id="rId3"/>
              </a:rPr>
              <a:t>https://www.datos.gov.co/dataset/Comunas-de-Santiago-de-Cali/dx2g-2mhm</a:t>
            </a:r>
          </a:p>
        </p:txBody>
      </p:sp>
      <p:sp>
        <p:nvSpPr>
          <p:cNvPr id="16" name="TextBox 15"/>
          <p:cNvSpPr txBox="1"/>
          <p:nvPr/>
        </p:nvSpPr>
        <p:spPr>
          <a:xfrm>
            <a:off x="594360" y="3630168"/>
            <a:ext cx="2834640" cy="310896"/>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087F80"/>
                </a:solidFill>
                <a:latin typeface="DejaVu Sans"/>
              </a:defRPr>
            </a:pPr>
            <a:r>
              <a:t>Necesidades de referencia</a:t>
            </a:r>
          </a:p>
        </p:txBody>
      </p:sp>
      <p:sp>
        <p:nvSpPr>
          <p:cNvPr id="17" name="TextBox 16"/>
          <p:cNvSpPr txBox="1"/>
          <p:nvPr/>
        </p:nvSpPr>
        <p:spPr>
          <a:xfrm>
            <a:off x="3401568" y="3630168"/>
            <a:ext cx="8138160" cy="28346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Manual Esfera 2018 · valores de planificación a contextualizar</a:t>
            </a:r>
          </a:p>
        </p:txBody>
      </p:sp>
      <p:sp>
        <p:nvSpPr>
          <p:cNvPr id="18" name="TextBox 17"/>
          <p:cNvSpPr txBox="1"/>
          <p:nvPr/>
        </p:nvSpPr>
        <p:spPr>
          <a:xfrm>
            <a:off x="3401568" y="3977640"/>
            <a:ext cx="8138160" cy="201168"/>
          </a:xfrm>
          <a:prstGeom prst="rect">
            <a:avLst/>
          </a:prstGeom>
          <a:noFill/>
        </p:spPr>
        <p:txBody>
          <a:bodyPr wrap="square" lIns="0" rIns="0" tIns="0" bIns="0">
            <a:spAutoFit/>
          </a:bodyPr>
          <a:lstStyle/>
          <a:p>
            <a:pPr algn="l">
              <a:lnSpc>
                <a:spcPct val="105000"/>
              </a:lnSpc>
              <a:spcBef>
                <a:spcPts val="0"/>
              </a:spcBef>
              <a:spcAft>
                <a:spcPts val="500"/>
              </a:spcAft>
              <a:defRPr sz="880" b="0">
                <a:solidFill>
                  <a:srgbClr val="087F80"/>
                </a:solidFill>
                <a:latin typeface="DejaVu Sans"/>
              </a:defRPr>
            </a:pPr>
            <a:r>
              <a:rPr>
                <a:hlinkClick r:id="rId4"/>
              </a:rPr>
              <a:t>https://spherestandards.org/wp-content/uploads/Sphere-Handbook-2018-EN.pdf</a:t>
            </a:r>
          </a:p>
        </p:txBody>
      </p:sp>
      <p:sp>
        <p:nvSpPr>
          <p:cNvPr id="19" name="TextBox 18"/>
          <p:cNvSpPr txBox="1"/>
          <p:nvPr/>
        </p:nvSpPr>
        <p:spPr>
          <a:xfrm>
            <a:off x="594360" y="4325112"/>
            <a:ext cx="2834640" cy="310896"/>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087F80"/>
                </a:solidFill>
                <a:latin typeface="DejaVu Sans"/>
              </a:defRPr>
            </a:pPr>
            <a:r>
              <a:t>Orientación ciudadana</a:t>
            </a:r>
          </a:p>
        </p:txBody>
      </p:sp>
      <p:sp>
        <p:nvSpPr>
          <p:cNvPr id="20" name="TextBox 19"/>
          <p:cNvSpPr txBox="1"/>
          <p:nvPr/>
        </p:nvSpPr>
        <p:spPr>
          <a:xfrm>
            <a:off x="3401568" y="4325112"/>
            <a:ext cx="8138160" cy="28346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Recomendaciones UNGRD consultadas en el proyecto</a:t>
            </a:r>
          </a:p>
        </p:txBody>
      </p:sp>
      <p:sp>
        <p:nvSpPr>
          <p:cNvPr id="21" name="TextBox 20"/>
          <p:cNvSpPr txBox="1"/>
          <p:nvPr/>
        </p:nvSpPr>
        <p:spPr>
          <a:xfrm>
            <a:off x="3401568" y="4672584"/>
            <a:ext cx="8138160" cy="201168"/>
          </a:xfrm>
          <a:prstGeom prst="rect">
            <a:avLst/>
          </a:prstGeom>
          <a:noFill/>
        </p:spPr>
        <p:txBody>
          <a:bodyPr wrap="square" lIns="0" rIns="0" tIns="0" bIns="0">
            <a:spAutoFit/>
          </a:bodyPr>
          <a:lstStyle/>
          <a:p>
            <a:pPr algn="l">
              <a:lnSpc>
                <a:spcPct val="105000"/>
              </a:lnSpc>
              <a:spcBef>
                <a:spcPts val="0"/>
              </a:spcBef>
              <a:spcAft>
                <a:spcPts val="500"/>
              </a:spcAft>
              <a:defRPr sz="880" b="0">
                <a:solidFill>
                  <a:srgbClr val="087F80"/>
                </a:solidFill>
                <a:latin typeface="DejaVu Sans"/>
              </a:defRPr>
            </a:pPr>
            <a:r>
              <a:rPr>
                <a:hlinkClick r:id="rId5"/>
              </a:rPr>
              <a:t>https://portal.gestiondelriesgo.gov.co/Paginas/inundaciones.aspx</a:t>
            </a:r>
          </a:p>
        </p:txBody>
      </p:sp>
      <p:sp>
        <p:nvSpPr>
          <p:cNvPr id="22" name="TextBox 21"/>
          <p:cNvSpPr txBox="1"/>
          <p:nvPr/>
        </p:nvSpPr>
        <p:spPr>
          <a:xfrm>
            <a:off x="594360" y="5020056"/>
            <a:ext cx="2834640" cy="310896"/>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087F80"/>
                </a:solidFill>
                <a:latin typeface="DejaVu Sans"/>
              </a:defRPr>
            </a:pPr>
            <a:r>
              <a:t>Código y bitácora</a:t>
            </a:r>
          </a:p>
        </p:txBody>
      </p:sp>
      <p:sp>
        <p:nvSpPr>
          <p:cNvPr id="23" name="TextBox 22"/>
          <p:cNvSpPr txBox="1"/>
          <p:nvPr/>
        </p:nvSpPr>
        <p:spPr>
          <a:xfrm>
            <a:off x="3401568" y="5020056"/>
            <a:ext cx="8138160" cy="283464"/>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14323D"/>
                </a:solidFill>
                <a:latin typeface="DejaVu Sans"/>
              </a:defRPr>
            </a:pPr>
            <a:r>
              <a:t>docs/PROYECTO.md · funciones y pruebas del frontend</a:t>
            </a:r>
          </a:p>
        </p:txBody>
      </p:sp>
      <p:sp>
        <p:nvSpPr>
          <p:cNvPr id="24" name="TextBox 23"/>
          <p:cNvSpPr txBox="1"/>
          <p:nvPr/>
        </p:nvSpPr>
        <p:spPr>
          <a:xfrm>
            <a:off x="3401568" y="5367528"/>
            <a:ext cx="8138160" cy="201168"/>
          </a:xfrm>
          <a:prstGeom prst="rect">
            <a:avLst/>
          </a:prstGeom>
          <a:noFill/>
        </p:spPr>
        <p:txBody>
          <a:bodyPr wrap="square" lIns="0" rIns="0" tIns="0" bIns="0">
            <a:spAutoFit/>
          </a:bodyPr>
          <a:lstStyle/>
          <a:p>
            <a:pPr algn="l">
              <a:lnSpc>
                <a:spcPct val="105000"/>
              </a:lnSpc>
              <a:spcBef>
                <a:spcPts val="0"/>
              </a:spcBef>
              <a:spcAft>
                <a:spcPts val="500"/>
              </a:spcAft>
              <a:defRPr sz="880" b="0">
                <a:solidFill>
                  <a:srgbClr val="087F80"/>
                </a:solidFill>
                <a:latin typeface="DejaVu Sans"/>
              </a:defRPr>
            </a:pPr>
            <a:r>
              <a:rPr>
                <a:hlinkClick r:id="rId6"/>
              </a:rPr>
              <a:t>https://github.com/leonidas452528/hackaton-camaracomercio2026</a:t>
            </a:r>
          </a:p>
        </p:txBody>
      </p:sp>
      <p:sp>
        <p:nvSpPr>
          <p:cNvPr id="25" name="TextBox 24"/>
          <p:cNvSpPr txBox="1"/>
          <p:nvPr/>
        </p:nvSpPr>
        <p:spPr>
          <a:xfrm>
            <a:off x="594360" y="6007608"/>
            <a:ext cx="1097280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Corte 25 sep 2026 · Adaptaciones cartográficas CC BY-SA 4.0 · Ilustración conceptual IA identificada · Sin datos personales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Territorio Preparado — Espacios y ayudas coordinados ante emergencias</dc:title>
  <dc:subject>Presentación ampliada del sistema de preparación de espacios</dc:subject>
  <dc:creator>Equipo Territorio Preparado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