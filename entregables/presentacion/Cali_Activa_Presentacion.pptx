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15 segundos.</a:t>
            </a:r>
          </a:p>
          <a:p/>
          <a:p>
            <a:r>
              <a:t>Cali Activa conecta la información del territorio con la preparación de espacios para emergencias. La pregunta central es cómo pasar de ver un lugar en el mapa a preparar una propuesta de atención que se pueda explicar y revisar.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20 segundos.</a:t>
            </a:r>
          </a:p>
          <a:p/>
          <a:p>
            <a:r>
              <a:t>El inventario dice que un espacio existe. No confirma que esté abierto, que soporte la carga propuesta o que tenga agua y baños. El problema que abordamos es esa distancia entre localizar un espacio y preparar su uso, con variables y vacíos visibles.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20 segundos.</a:t>
            </a:r>
          </a:p>
          <a:p/>
          <a:p>
            <a:r>
              <a:t>El producto une cinco momentos: conocer el lugar, dimensionar una propuesta, coordinar brechas, preparar comunicación y guiar el retorno. La recomendación no activa espacios. Esa decisión sigue en manos de la autoridad.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25 segundos.</a:t>
            </a:r>
          </a:p>
          <a:p/>
          <a:p>
            <a:r>
              <a:t>Trabajamos con 1.970 registros públicos de espacio público efectivo. El mapa representa geometrías reales y permite filtrar por territorio y amenaza. No sumamos los puntos deportivos como lugares únicos, porque puede haber duplicados. Tampoco convertimos inventario en disponibilidad: eso permanece por confirmar.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30 segundos.</a:t>
            </a:r>
          </a:p>
          <a:p/>
          <a:p>
            <a:r>
              <a:t>El flujo tiene tres barreras claras. Primero, restricciones y evidencia por amenaza. Segundo, capacidad teórica por superficie. Tercero, habilitación de la autoridad. Un resultado favorable solo permite seguir con la propuesta. Ante incendios y sequía, sin evidencia suficiente, no habilitamos preselección. Google Maps ubica; no acredita una ruta segura.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35 segundos.</a:t>
            </a:r>
          </a:p>
          <a:p/>
          <a:p>
            <a:r>
              <a:t>Este parque real tiene 447,2149 metros cuadrados cartográficos. Para la demostración reservamos 100 no utilizables, 80 de circulación, 60 de atención y 40 de otros usos: 280 en total. Son supuestos simulados, no mediciones de campo. Quedan 167,21 metros cuadrados. A 10 por módulo, caben 16 módulos completos por balance de área. Veinte requieren 200 y exceden. Reducir a 16 deja 7,21 metros cuadrados. La forma del parque, accesos y carga aún requieren comprobación; no certificamos aforo ni encaje.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25 segundos.</a:t>
            </a:r>
          </a:p>
          <a:p/>
          <a:p>
            <a:r>
              <a:t>Para un escenario simulado de 300 personas, mostramos las necesidades de referencia: 4.500 litros diarios, 15 baños y 1.050 metros cuadrados cubiertos. Son criterios de planificación a contextualizar, no servicios disponibles. Si no conocemos las existencias, la brecha queda por medir. Las entidades mostradas son responsables propuestos, sin validación con ellas en esta etapa.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25 segundos.</a:t>
            </a:r>
          </a:p>
          <a:p/>
          <a:p>
            <a:r>
              <a:t>La prevención es parte del producto: aprender por amenaza y distinguir encuentro, acopio y alojamiento. También preparamos mensajes generales de ubicación, horario y ayudas. En esta etapa el envío es simulado y no usamos teléfonos. Un aviso real que invite a acudir requiere apertura y condiciones confirmadas; el borrador no las inventa.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30 segundos.</a:t>
            </a:r>
          </a:p>
          <a:p/>
          <a:p>
            <a:r>
              <a:t>En la demostración seleccionamos un espacio real, abrimos Preparar este espacio, ingresamos las reservas y la carga de acopio, y observamos cómo se bloquea una propuesta que excede el área. Después revisamos necesidades, descargamos un borrador y mostramos la difusión simulada. No es una idea solo dibujada: este recorrido está implementado en el prototipo.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15 segundos.</a:t>
            </a:r>
          </a:p>
          <a:p/>
          <a:p>
            <a:r>
              <a:t>El valor es hacer explícitas las decisiones: por qué un lugar se revisa, cuánto se propone ocupar y qué falta resolver. El siguiente paso técnico es completar mediciones y servicios. Cali Activa propone y documenta; la autoridad decide. El equipo es William Ortiz, Herlin Echeverry, Pablo Arango y Bryan Martínez Villamarín.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para preguntas. No se afirma validación institucional, disponibilidad real, evaluación estructural ni certificación de seguridad contra incendios. La validación con entidades está fuera de esta etapa por decisión del equipo usuario. Los valores desconocidos siguen como desconocidos y los escenarios están marcados como simulados.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Fuentes de la presentación. Los gráficos cartográficos derivan de los archivos públicos ya archivados en el proyecto; no se agregó un dataset. El caso de acopio usa el polígono de epou-9465 y la misma función de cálculo del frontend. La captura es del prototipo local. Las reservas, el tamaño de módulo y la población del escenario son simulados, marcados como tales.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os.cali.gov.co/dataset/epou-espacio-publico-efectivo" TargetMode="External"/><Relationship Id="rId3" Type="http://schemas.openxmlformats.org/officeDocument/2006/relationships/hyperlink" Target="https://www.datos.gov.co/dataset/Comunas-de-Santiago-de-Cali/dx2g-2mhm" TargetMode="External"/><Relationship Id="rId4" Type="http://schemas.openxmlformats.org/officeDocument/2006/relationships/hyperlink" Target="https://spherestandards.org/wp-content/uploads/Sphere-Handbook-2018-EN.pdf" TargetMode="External"/><Relationship Id="rId5" Type="http://schemas.openxmlformats.org/officeDocument/2006/relationships/hyperlink" Target="https://github.com/leonidas452528/hackaton-camaracomercio2026" TargetMode="External"/><Relationship Id="rId6"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B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73A3E"/>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PITCH · ESPACIOS QUE CUIDAN</a:t>
            </a:r>
          </a:p>
        </p:txBody>
      </p:sp>
      <p:sp>
        <p:nvSpPr>
          <p:cNvPr id="6" name="Rectangle 5"/>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Cartografía: Alcaldía de Santiago de Cali · DAPM / IDESC · adaptación CC BY-SA 4.0</a:t>
            </a:r>
          </a:p>
        </p:txBody>
      </p:sp>
      <p:sp>
        <p:nvSpPr>
          <p:cNvPr id="8" name="TextBox 7"/>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01</a:t>
            </a:r>
          </a:p>
        </p:txBody>
      </p:sp>
      <p:pic>
        <p:nvPicPr>
          <p:cNvPr id="9" name="Picture 8" descr="cali-oscuro.png"/>
          <p:cNvPicPr>
            <a:picLocks noChangeAspect="1"/>
          </p:cNvPicPr>
          <p:nvPr/>
        </p:nvPicPr>
        <p:blipFill>
          <a:blip r:embed="rId2"/>
          <a:stretch>
            <a:fillRect/>
          </a:stretch>
        </p:blipFill>
        <p:spPr>
          <a:xfrm>
            <a:off x="7178040" y="900891"/>
            <a:ext cx="4343400" cy="5330536"/>
          </a:xfrm>
          <a:prstGeom prst="rect">
            <a:avLst/>
          </a:prstGeom>
        </p:spPr>
      </p:pic>
      <p:sp>
        <p:nvSpPr>
          <p:cNvPr id="10" name="TextBox 9"/>
          <p:cNvSpPr txBox="1"/>
          <p:nvPr/>
        </p:nvSpPr>
        <p:spPr>
          <a:xfrm>
            <a:off x="548640" y="1417320"/>
            <a:ext cx="6583680" cy="658368"/>
          </a:xfrm>
          <a:prstGeom prst="rect">
            <a:avLst/>
          </a:prstGeom>
          <a:noFill/>
        </p:spPr>
        <p:txBody>
          <a:bodyPr wrap="square" lIns="0" rIns="0" tIns="0" bIns="0">
            <a:spAutoFit/>
          </a:bodyPr>
          <a:lstStyle/>
          <a:p>
            <a:pPr algn="l">
              <a:lnSpc>
                <a:spcPct val="105000"/>
              </a:lnSpc>
              <a:spcBef>
                <a:spcPts val="0"/>
              </a:spcBef>
              <a:spcAft>
                <a:spcPts val="500"/>
              </a:spcAft>
              <a:defRPr sz="4500" b="1">
                <a:solidFill>
                  <a:srgbClr val="FFFFFF"/>
                </a:solidFill>
                <a:latin typeface="DejaVu Sans"/>
              </a:defRPr>
            </a:pPr>
            <a:r>
              <a:t>CALI ACTIVA</a:t>
            </a:r>
          </a:p>
        </p:txBody>
      </p:sp>
      <p:sp>
        <p:nvSpPr>
          <p:cNvPr id="11" name="TextBox 10"/>
          <p:cNvSpPr txBox="1"/>
          <p:nvPr/>
        </p:nvSpPr>
        <p:spPr>
          <a:xfrm>
            <a:off x="548640" y="2258568"/>
            <a:ext cx="6766560" cy="1691640"/>
          </a:xfrm>
          <a:prstGeom prst="rect">
            <a:avLst/>
          </a:prstGeom>
          <a:noFill/>
        </p:spPr>
        <p:txBody>
          <a:bodyPr wrap="square" lIns="0" rIns="0" tIns="0" bIns="0">
            <a:spAutoFit/>
          </a:bodyPr>
          <a:lstStyle/>
          <a:p>
            <a:pPr algn="l">
              <a:lnSpc>
                <a:spcPct val="105000"/>
              </a:lnSpc>
              <a:spcBef>
                <a:spcPts val="0"/>
              </a:spcBef>
              <a:spcAft>
                <a:spcPts val="500"/>
              </a:spcAft>
              <a:defRPr sz="4300" b="1">
                <a:solidFill>
                  <a:srgbClr val="FFFFFF"/>
                </a:solidFill>
                <a:latin typeface="DejaVu Sans"/>
              </a:defRPr>
            </a:pPr>
            <a:r>
              <a:t>Del espacio público</a:t>
            </a:r>
          </a:p>
          <a:p>
            <a:pPr algn="l">
              <a:lnSpc>
                <a:spcPct val="105000"/>
              </a:lnSpc>
              <a:spcBef>
                <a:spcPts val="0"/>
              </a:spcBef>
              <a:spcAft>
                <a:spcPts val="500"/>
              </a:spcAft>
              <a:defRPr sz="4300" b="1">
                <a:solidFill>
                  <a:srgbClr val="FFFFFF"/>
                </a:solidFill>
                <a:latin typeface="DejaVu Sans"/>
              </a:defRPr>
            </a:pPr>
            <a:r>
              <a:t>al cuidado.</a:t>
            </a:r>
          </a:p>
        </p:txBody>
      </p:sp>
      <p:sp>
        <p:nvSpPr>
          <p:cNvPr id="12" name="Rectangle 11"/>
          <p:cNvSpPr/>
          <p:nvPr/>
        </p:nvSpPr>
        <p:spPr>
          <a:xfrm>
            <a:off x="576072" y="4133087"/>
            <a:ext cx="777240" cy="64008"/>
          </a:xfrm>
          <a:prstGeom prst="rect">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498848"/>
            <a:ext cx="6035040" cy="768096"/>
          </a:xfrm>
          <a:prstGeom prst="rect">
            <a:avLst/>
          </a:prstGeom>
          <a:noFill/>
        </p:spPr>
        <p:txBody>
          <a:bodyPr wrap="square" lIns="0" rIns="0" tIns="0" bIns="0">
            <a:spAutoFit/>
          </a:bodyPr>
          <a:lstStyle/>
          <a:p>
            <a:pPr algn="l">
              <a:lnSpc>
                <a:spcPct val="105000"/>
              </a:lnSpc>
              <a:spcBef>
                <a:spcPts val="0"/>
              </a:spcBef>
              <a:spcAft>
                <a:spcPts val="500"/>
              </a:spcAft>
              <a:defRPr sz="2100" b="0">
                <a:solidFill>
                  <a:srgbClr val="C4D7D0"/>
                </a:solidFill>
                <a:latin typeface="DejaVu Sans"/>
              </a:defRPr>
            </a:pPr>
            <a:r>
              <a:t>Preparar lugares. Coordinar ayudas.</a:t>
            </a:r>
          </a:p>
          <a:p>
            <a:pPr algn="l">
              <a:lnSpc>
                <a:spcPct val="105000"/>
              </a:lnSpc>
              <a:spcBef>
                <a:spcPts val="0"/>
              </a:spcBef>
              <a:spcAft>
                <a:spcPts val="500"/>
              </a:spcAft>
              <a:defRPr sz="2100" b="0">
                <a:solidFill>
                  <a:srgbClr val="C4D7D0"/>
                </a:solidFill>
                <a:latin typeface="DejaVu Sans"/>
              </a:defRPr>
            </a:pPr>
            <a:r>
              <a:t>Orientar a la población.</a:t>
            </a:r>
          </a:p>
        </p:txBody>
      </p:sp>
      <p:sp>
        <p:nvSpPr>
          <p:cNvPr id="14" name="Rounded Rectangle 13"/>
          <p:cNvSpPr/>
          <p:nvPr/>
        </p:nvSpPr>
        <p:spPr>
          <a:xfrm>
            <a:off x="548640" y="5705856"/>
            <a:ext cx="2286000"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756148"/>
            <a:ext cx="2103120"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DATOS REALES DE CALI</a:t>
            </a:r>
          </a:p>
        </p:txBody>
      </p:sp>
      <p:sp>
        <p:nvSpPr>
          <p:cNvPr id="16" name="Rounded Rectangle 15"/>
          <p:cNvSpPr/>
          <p:nvPr/>
        </p:nvSpPr>
        <p:spPr>
          <a:xfrm>
            <a:off x="2999232" y="5705856"/>
            <a:ext cx="1417320"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5756148"/>
            <a:ext cx="1234440"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PROTOTIPO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EL PROBLEMA</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Un punto en el mapa</a:t>
            </a:r>
          </a:p>
          <a:p>
            <a:pPr algn="l">
              <a:lnSpc>
                <a:spcPct val="105000"/>
              </a:lnSpc>
              <a:spcBef>
                <a:spcPts val="0"/>
              </a:spcBef>
              <a:spcAft>
                <a:spcPts val="500"/>
              </a:spcAft>
              <a:defRPr sz="3200" b="1">
                <a:solidFill>
                  <a:srgbClr val="173A3E"/>
                </a:solidFill>
                <a:latin typeface="DejaVu Sans"/>
              </a:defRPr>
            </a:pPr>
            <a:r>
              <a:t>no es un espacio listo.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RETO-01 · Cali Activa · Hackathon Smart City Expo Cali 2026</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02</a:t>
            </a:r>
          </a:p>
        </p:txBody>
      </p:sp>
      <p:sp>
        <p:nvSpPr>
          <p:cNvPr id="10" name="Rectangle 9"/>
          <p:cNvSpPr/>
          <p:nvPr/>
        </p:nvSpPr>
        <p:spPr>
          <a:xfrm>
            <a:off x="548640" y="2816352"/>
            <a:ext cx="3447288" cy="10972"/>
          </a:xfrm>
          <a:prstGeom prst="rect">
            <a:avLst/>
          </a:prstGeom>
          <a:solidFill>
            <a:srgbClr val="17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63240"/>
            <a:ext cx="822960" cy="365760"/>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76E63"/>
                </a:solidFill>
                <a:latin typeface="DejaVu Sans"/>
              </a:defRPr>
            </a:pPr>
            <a:r>
              <a:t>01</a:t>
            </a:r>
          </a:p>
        </p:txBody>
      </p:sp>
      <p:sp>
        <p:nvSpPr>
          <p:cNvPr id="12" name="TextBox 11"/>
          <p:cNvSpPr txBox="1"/>
          <p:nvPr/>
        </p:nvSpPr>
        <p:spPr>
          <a:xfrm>
            <a:off x="548640" y="3675887"/>
            <a:ext cx="3474720" cy="457200"/>
          </a:xfrm>
          <a:prstGeom prst="rect">
            <a:avLst/>
          </a:prstGeom>
          <a:noFill/>
        </p:spPr>
        <p:txBody>
          <a:bodyPr wrap="square" lIns="0" rIns="0" tIns="0" bIns="0">
            <a:spAutoFit/>
          </a:bodyPr>
          <a:lstStyle/>
          <a:p>
            <a:pPr algn="l">
              <a:lnSpc>
                <a:spcPct val="105000"/>
              </a:lnSpc>
              <a:spcBef>
                <a:spcPts val="0"/>
              </a:spcBef>
              <a:spcAft>
                <a:spcPts val="500"/>
              </a:spcAft>
              <a:defRPr sz="2700" b="1">
                <a:solidFill>
                  <a:srgbClr val="173A3E"/>
                </a:solidFill>
                <a:latin typeface="DejaVu Sans"/>
              </a:defRPr>
            </a:pPr>
            <a:r>
              <a:t>¿Dónde?</a:t>
            </a:r>
          </a:p>
        </p:txBody>
      </p:sp>
      <p:sp>
        <p:nvSpPr>
          <p:cNvPr id="13" name="TextBox 12"/>
          <p:cNvSpPr txBox="1"/>
          <p:nvPr/>
        </p:nvSpPr>
        <p:spPr>
          <a:xfrm>
            <a:off x="548640" y="4389120"/>
            <a:ext cx="3310128" cy="1051560"/>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536D70"/>
                </a:solidFill>
                <a:latin typeface="DejaVu Sans"/>
              </a:defRPr>
            </a:pPr>
            <a:r>
              <a:t>Un lugar existente puede tener restricciones o no estar disponible.</a:t>
            </a:r>
          </a:p>
        </p:txBody>
      </p:sp>
      <p:sp>
        <p:nvSpPr>
          <p:cNvPr id="14" name="Rectangle 13"/>
          <p:cNvSpPr/>
          <p:nvPr/>
        </p:nvSpPr>
        <p:spPr>
          <a:xfrm>
            <a:off x="4315968" y="2816352"/>
            <a:ext cx="3447288" cy="10972"/>
          </a:xfrm>
          <a:prstGeom prst="rect">
            <a:avLst/>
          </a:prstGeom>
          <a:solidFill>
            <a:srgbClr val="17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3063240"/>
            <a:ext cx="822960" cy="365760"/>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76E63"/>
                </a:solidFill>
                <a:latin typeface="DejaVu Sans"/>
              </a:defRPr>
            </a:pPr>
            <a:r>
              <a:t>02</a:t>
            </a:r>
          </a:p>
        </p:txBody>
      </p:sp>
      <p:sp>
        <p:nvSpPr>
          <p:cNvPr id="16" name="TextBox 15"/>
          <p:cNvSpPr txBox="1"/>
          <p:nvPr/>
        </p:nvSpPr>
        <p:spPr>
          <a:xfrm>
            <a:off x="4315968" y="3675887"/>
            <a:ext cx="3474720" cy="457200"/>
          </a:xfrm>
          <a:prstGeom prst="rect">
            <a:avLst/>
          </a:prstGeom>
          <a:noFill/>
        </p:spPr>
        <p:txBody>
          <a:bodyPr wrap="square" lIns="0" rIns="0" tIns="0" bIns="0">
            <a:spAutoFit/>
          </a:bodyPr>
          <a:lstStyle/>
          <a:p>
            <a:pPr algn="l">
              <a:lnSpc>
                <a:spcPct val="105000"/>
              </a:lnSpc>
              <a:spcBef>
                <a:spcPts val="0"/>
              </a:spcBef>
              <a:spcAft>
                <a:spcPts val="500"/>
              </a:spcAft>
              <a:defRPr sz="2700" b="1">
                <a:solidFill>
                  <a:srgbClr val="173A3E"/>
                </a:solidFill>
                <a:latin typeface="DejaVu Sans"/>
              </a:defRPr>
            </a:pPr>
            <a:r>
              <a:t>¿Cuánto cabe?</a:t>
            </a:r>
          </a:p>
        </p:txBody>
      </p:sp>
      <p:sp>
        <p:nvSpPr>
          <p:cNvPr id="17" name="TextBox 16"/>
          <p:cNvSpPr txBox="1"/>
          <p:nvPr/>
        </p:nvSpPr>
        <p:spPr>
          <a:xfrm>
            <a:off x="4315968" y="4389120"/>
            <a:ext cx="3310128" cy="1051560"/>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536D70"/>
                </a:solidFill>
                <a:latin typeface="DejaVu Sans"/>
              </a:defRPr>
            </a:pPr>
            <a:r>
              <a:t>La superficie total no revela el área libre para atender o almacenar.</a:t>
            </a:r>
          </a:p>
        </p:txBody>
      </p:sp>
      <p:sp>
        <p:nvSpPr>
          <p:cNvPr id="18" name="Rectangle 17"/>
          <p:cNvSpPr/>
          <p:nvPr/>
        </p:nvSpPr>
        <p:spPr>
          <a:xfrm>
            <a:off x="8083296" y="2816352"/>
            <a:ext cx="3447288" cy="10972"/>
          </a:xfrm>
          <a:prstGeom prst="rect">
            <a:avLst/>
          </a:prstGeom>
          <a:solidFill>
            <a:srgbClr val="17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83296" y="3063240"/>
            <a:ext cx="822960" cy="365760"/>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76E63"/>
                </a:solidFill>
                <a:latin typeface="DejaVu Sans"/>
              </a:defRPr>
            </a:pPr>
            <a:r>
              <a:t>03</a:t>
            </a:r>
          </a:p>
        </p:txBody>
      </p:sp>
      <p:sp>
        <p:nvSpPr>
          <p:cNvPr id="20" name="TextBox 19"/>
          <p:cNvSpPr txBox="1"/>
          <p:nvPr/>
        </p:nvSpPr>
        <p:spPr>
          <a:xfrm>
            <a:off x="8083296" y="3675887"/>
            <a:ext cx="3474720" cy="457200"/>
          </a:xfrm>
          <a:prstGeom prst="rect">
            <a:avLst/>
          </a:prstGeom>
          <a:noFill/>
        </p:spPr>
        <p:txBody>
          <a:bodyPr wrap="square" lIns="0" rIns="0" tIns="0" bIns="0">
            <a:spAutoFit/>
          </a:bodyPr>
          <a:lstStyle/>
          <a:p>
            <a:pPr algn="l">
              <a:lnSpc>
                <a:spcPct val="105000"/>
              </a:lnSpc>
              <a:spcBef>
                <a:spcPts val="0"/>
              </a:spcBef>
              <a:spcAft>
                <a:spcPts val="500"/>
              </a:spcAft>
              <a:defRPr sz="2700" b="1">
                <a:solidFill>
                  <a:srgbClr val="173A3E"/>
                </a:solidFill>
                <a:latin typeface="DejaVu Sans"/>
              </a:defRPr>
            </a:pPr>
            <a:r>
              <a:t>¿Quién responde?</a:t>
            </a:r>
          </a:p>
        </p:txBody>
      </p:sp>
      <p:sp>
        <p:nvSpPr>
          <p:cNvPr id="21" name="TextBox 20"/>
          <p:cNvSpPr txBox="1"/>
          <p:nvPr/>
        </p:nvSpPr>
        <p:spPr>
          <a:xfrm>
            <a:off x="8083296" y="4389120"/>
            <a:ext cx="3310128" cy="1051560"/>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536D70"/>
                </a:solidFill>
                <a:latin typeface="DejaVu Sans"/>
              </a:defRPr>
            </a:pPr>
            <a:r>
              <a:t>Las necesidades requieren seguimiento y responsables propuestos.</a:t>
            </a:r>
          </a:p>
        </p:txBody>
      </p:sp>
      <p:sp>
        <p:nvSpPr>
          <p:cNvPr id="22" name="TextBox 21"/>
          <p:cNvSpPr txBox="1"/>
          <p:nvPr/>
        </p:nvSpPr>
        <p:spPr>
          <a:xfrm>
            <a:off x="548640" y="5843016"/>
            <a:ext cx="10789920" cy="365760"/>
          </a:xfrm>
          <a:prstGeom prst="rect">
            <a:avLst/>
          </a:prstGeom>
          <a:noFill/>
        </p:spPr>
        <p:txBody>
          <a:bodyPr wrap="square" lIns="0" rIns="0" tIns="0" bIns="0">
            <a:spAutoFit/>
          </a:bodyPr>
          <a:lstStyle/>
          <a:p>
            <a:pPr algn="l">
              <a:lnSpc>
                <a:spcPct val="105000"/>
              </a:lnSpc>
              <a:spcBef>
                <a:spcPts val="0"/>
              </a:spcBef>
              <a:spcAft>
                <a:spcPts val="500"/>
              </a:spcAft>
              <a:defRPr sz="2100" b="1">
                <a:solidFill>
                  <a:srgbClr val="176E63"/>
                </a:solidFill>
                <a:latin typeface="DejaVu Sans"/>
              </a:defRPr>
            </a:pPr>
            <a:r>
              <a:t>El reto es convertir información dispersa en una preparación trazable.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B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73A3E"/>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LA PROPUESTA</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FFFFFF"/>
                </a:solidFill>
                <a:latin typeface="DejaVu Sans"/>
              </a:defRPr>
            </a:pPr>
            <a:r>
              <a:t>Una ficha conecta</a:t>
            </a:r>
          </a:p>
          <a:p>
            <a:pPr algn="l">
              <a:lnSpc>
                <a:spcPct val="105000"/>
              </a:lnSpc>
              <a:spcBef>
                <a:spcPts val="0"/>
              </a:spcBef>
              <a:spcAft>
                <a:spcPts val="500"/>
              </a:spcAft>
              <a:defRPr sz="3200" b="1">
                <a:solidFill>
                  <a:srgbClr val="FFFFFF"/>
                </a:solidFill>
                <a:latin typeface="DejaVu Sans"/>
              </a:defRPr>
            </a:pPr>
            <a:r>
              <a:t>territorio, capacidad y coordinación.</a:t>
            </a:r>
          </a:p>
        </p:txBody>
      </p:sp>
      <p:sp>
        <p:nvSpPr>
          <p:cNvPr id="7" name="Rectangle 6"/>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RETO-01 · Cali Activa · Hackathon Smart City Expo Cali 2026</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03</a:t>
            </a:r>
          </a:p>
        </p:txBody>
      </p:sp>
      <p:sp>
        <p:nvSpPr>
          <p:cNvPr id="10" name="Oval 9"/>
          <p:cNvSpPr/>
          <p:nvPr/>
        </p:nvSpPr>
        <p:spPr>
          <a:xfrm>
            <a:off x="576072" y="3145536"/>
            <a:ext cx="448056" cy="448056"/>
          </a:xfrm>
          <a:prstGeom prst="ellipse">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3236976"/>
            <a:ext cx="329184" cy="228600"/>
          </a:xfrm>
          <a:prstGeom prst="rect">
            <a:avLst/>
          </a:prstGeom>
          <a:noFill/>
        </p:spPr>
        <p:txBody>
          <a:bodyPr wrap="square" lIns="0" rIns="0" tIns="0" bIns="0">
            <a:spAutoFit/>
          </a:bodyPr>
          <a:lstStyle/>
          <a:p>
            <a:pPr algn="ctr">
              <a:lnSpc>
                <a:spcPct val="105000"/>
              </a:lnSpc>
              <a:spcBef>
                <a:spcPts val="0"/>
              </a:spcBef>
              <a:spcAft>
                <a:spcPts val="500"/>
              </a:spcAft>
              <a:defRPr sz="1200" b="1">
                <a:solidFill>
                  <a:srgbClr val="173A3E"/>
                </a:solidFill>
                <a:latin typeface="DejaVu Sans"/>
              </a:defRPr>
            </a:pPr>
            <a:r>
              <a:t>01</a:t>
            </a:r>
          </a:p>
        </p:txBody>
      </p:sp>
      <p:cxnSp>
        <p:nvCxnSpPr>
          <p:cNvPr id="12" name="Connector 11"/>
          <p:cNvCxnSpPr/>
          <p:nvPr/>
        </p:nvCxnSpPr>
        <p:spPr>
          <a:xfrm>
            <a:off x="1143000" y="3364992"/>
            <a:ext cx="1490472" cy="0"/>
          </a:xfrm>
          <a:prstGeom prst="line">
            <a:avLst/>
          </a:prstGeom>
          <a:ln w="21590">
            <a:solidFill>
              <a:srgbClr val="527A70"/>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2583179" y="3314700"/>
            <a:ext cx="100584" cy="100584"/>
          </a:xfrm>
          <a:prstGeom prst="triangle">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3840480"/>
            <a:ext cx="2057400" cy="329184"/>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BCEE7B"/>
                </a:solidFill>
                <a:latin typeface="DejaVu Sans"/>
              </a:defRPr>
            </a:pPr>
            <a:r>
              <a:t>CONOCER</a:t>
            </a:r>
          </a:p>
        </p:txBody>
      </p:sp>
      <p:sp>
        <p:nvSpPr>
          <p:cNvPr id="15" name="TextBox 14"/>
          <p:cNvSpPr txBox="1"/>
          <p:nvPr/>
        </p:nvSpPr>
        <p:spPr>
          <a:xfrm>
            <a:off x="576072" y="4343400"/>
            <a:ext cx="1993392" cy="758952"/>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FFFFFF"/>
                </a:solidFill>
                <a:latin typeface="DejaVu Sans"/>
              </a:defRPr>
            </a:pPr>
            <a:r>
              <a:t>Espacio + amenaza</a:t>
            </a:r>
          </a:p>
        </p:txBody>
      </p:sp>
      <p:sp>
        <p:nvSpPr>
          <p:cNvPr id="16" name="Oval 15"/>
          <p:cNvSpPr/>
          <p:nvPr/>
        </p:nvSpPr>
        <p:spPr>
          <a:xfrm>
            <a:off x="2852928" y="3145536"/>
            <a:ext cx="448056" cy="448056"/>
          </a:xfrm>
          <a:prstGeom prst="ellipse">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07792" y="3236976"/>
            <a:ext cx="329184" cy="228600"/>
          </a:xfrm>
          <a:prstGeom prst="rect">
            <a:avLst/>
          </a:prstGeom>
          <a:noFill/>
        </p:spPr>
        <p:txBody>
          <a:bodyPr wrap="square" lIns="0" rIns="0" tIns="0" bIns="0">
            <a:spAutoFit/>
          </a:bodyPr>
          <a:lstStyle/>
          <a:p>
            <a:pPr algn="ctr">
              <a:lnSpc>
                <a:spcPct val="105000"/>
              </a:lnSpc>
              <a:spcBef>
                <a:spcPts val="0"/>
              </a:spcBef>
              <a:spcAft>
                <a:spcPts val="500"/>
              </a:spcAft>
              <a:defRPr sz="1200" b="1">
                <a:solidFill>
                  <a:srgbClr val="173A3E"/>
                </a:solidFill>
                <a:latin typeface="DejaVu Sans"/>
              </a:defRPr>
            </a:pPr>
            <a:r>
              <a:t>02</a:t>
            </a:r>
          </a:p>
        </p:txBody>
      </p:sp>
      <p:cxnSp>
        <p:nvCxnSpPr>
          <p:cNvPr id="18" name="Connector 17"/>
          <p:cNvCxnSpPr/>
          <p:nvPr/>
        </p:nvCxnSpPr>
        <p:spPr>
          <a:xfrm>
            <a:off x="3419856" y="3364992"/>
            <a:ext cx="1490472" cy="0"/>
          </a:xfrm>
          <a:prstGeom prst="line">
            <a:avLst/>
          </a:prstGeom>
          <a:ln w="21590">
            <a:solidFill>
              <a:srgbClr val="527A70"/>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4860036" y="3314700"/>
            <a:ext cx="100584" cy="100584"/>
          </a:xfrm>
          <a:prstGeom prst="triangle">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2928" y="3840480"/>
            <a:ext cx="2057400" cy="329184"/>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BCEE7B"/>
                </a:solidFill>
                <a:latin typeface="DejaVu Sans"/>
              </a:defRPr>
            </a:pPr>
            <a:r>
              <a:t>DIMENSIONAR</a:t>
            </a:r>
          </a:p>
        </p:txBody>
      </p:sp>
      <p:sp>
        <p:nvSpPr>
          <p:cNvPr id="21" name="TextBox 20"/>
          <p:cNvSpPr txBox="1"/>
          <p:nvPr/>
        </p:nvSpPr>
        <p:spPr>
          <a:xfrm>
            <a:off x="2852928" y="4343400"/>
            <a:ext cx="1993392" cy="758952"/>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FFFFFF"/>
                </a:solidFill>
                <a:latin typeface="DejaVu Sans"/>
              </a:defRPr>
            </a:pPr>
            <a:r>
              <a:t>Superficie + carga</a:t>
            </a:r>
          </a:p>
        </p:txBody>
      </p:sp>
      <p:sp>
        <p:nvSpPr>
          <p:cNvPr id="22" name="Oval 21"/>
          <p:cNvSpPr/>
          <p:nvPr/>
        </p:nvSpPr>
        <p:spPr>
          <a:xfrm>
            <a:off x="5129784" y="3145536"/>
            <a:ext cx="448056" cy="448056"/>
          </a:xfrm>
          <a:prstGeom prst="ellipse">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84648" y="3236976"/>
            <a:ext cx="329184" cy="228600"/>
          </a:xfrm>
          <a:prstGeom prst="rect">
            <a:avLst/>
          </a:prstGeom>
          <a:noFill/>
        </p:spPr>
        <p:txBody>
          <a:bodyPr wrap="square" lIns="0" rIns="0" tIns="0" bIns="0">
            <a:spAutoFit/>
          </a:bodyPr>
          <a:lstStyle/>
          <a:p>
            <a:pPr algn="ctr">
              <a:lnSpc>
                <a:spcPct val="105000"/>
              </a:lnSpc>
              <a:spcBef>
                <a:spcPts val="0"/>
              </a:spcBef>
              <a:spcAft>
                <a:spcPts val="500"/>
              </a:spcAft>
              <a:defRPr sz="1200" b="1">
                <a:solidFill>
                  <a:srgbClr val="173A3E"/>
                </a:solidFill>
                <a:latin typeface="DejaVu Sans"/>
              </a:defRPr>
            </a:pPr>
            <a:r>
              <a:t>03</a:t>
            </a:r>
          </a:p>
        </p:txBody>
      </p:sp>
      <p:cxnSp>
        <p:nvCxnSpPr>
          <p:cNvPr id="24" name="Connector 23"/>
          <p:cNvCxnSpPr/>
          <p:nvPr/>
        </p:nvCxnSpPr>
        <p:spPr>
          <a:xfrm>
            <a:off x="5696712" y="3364992"/>
            <a:ext cx="1490472" cy="0"/>
          </a:xfrm>
          <a:prstGeom prst="line">
            <a:avLst/>
          </a:prstGeom>
          <a:ln w="21590">
            <a:solidFill>
              <a:srgbClr val="527A70"/>
            </a:solidFill>
          </a:ln>
        </p:spPr>
        <p:style>
          <a:lnRef idx="2">
            <a:schemeClr val="accent1"/>
          </a:lnRef>
          <a:fillRef idx="0">
            <a:schemeClr val="accent1"/>
          </a:fillRef>
          <a:effectRef idx="1">
            <a:schemeClr val="accent1"/>
          </a:effectRef>
          <a:fontRef idx="minor">
            <a:schemeClr val="tx1"/>
          </a:fontRef>
        </p:style>
      </p:cxnSp>
      <p:sp>
        <p:nvSpPr>
          <p:cNvPr id="25" name="Isosceles Triangle 24"/>
          <p:cNvSpPr/>
          <p:nvPr/>
        </p:nvSpPr>
        <p:spPr>
          <a:xfrm rot="5400000">
            <a:off x="7136892" y="3314700"/>
            <a:ext cx="100584" cy="100584"/>
          </a:xfrm>
          <a:prstGeom prst="triangle">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9784" y="3840480"/>
            <a:ext cx="2057400" cy="329184"/>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BCEE7B"/>
                </a:solidFill>
                <a:latin typeface="DejaVu Sans"/>
              </a:defRPr>
            </a:pPr>
            <a:r>
              <a:t>COORDINAR</a:t>
            </a:r>
          </a:p>
        </p:txBody>
      </p:sp>
      <p:sp>
        <p:nvSpPr>
          <p:cNvPr id="27" name="TextBox 26"/>
          <p:cNvSpPr txBox="1"/>
          <p:nvPr/>
        </p:nvSpPr>
        <p:spPr>
          <a:xfrm>
            <a:off x="5129784" y="4343400"/>
            <a:ext cx="1993392" cy="758952"/>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FFFFFF"/>
                </a:solidFill>
                <a:latin typeface="DejaVu Sans"/>
              </a:defRPr>
            </a:pPr>
            <a:r>
              <a:t>Brechas + tareas</a:t>
            </a:r>
          </a:p>
        </p:txBody>
      </p:sp>
      <p:sp>
        <p:nvSpPr>
          <p:cNvPr id="28" name="Oval 27"/>
          <p:cNvSpPr/>
          <p:nvPr/>
        </p:nvSpPr>
        <p:spPr>
          <a:xfrm>
            <a:off x="7406640" y="3145536"/>
            <a:ext cx="448056" cy="448056"/>
          </a:xfrm>
          <a:prstGeom prst="ellipse">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4" y="3236976"/>
            <a:ext cx="329184" cy="228600"/>
          </a:xfrm>
          <a:prstGeom prst="rect">
            <a:avLst/>
          </a:prstGeom>
          <a:noFill/>
        </p:spPr>
        <p:txBody>
          <a:bodyPr wrap="square" lIns="0" rIns="0" tIns="0" bIns="0">
            <a:spAutoFit/>
          </a:bodyPr>
          <a:lstStyle/>
          <a:p>
            <a:pPr algn="ctr">
              <a:lnSpc>
                <a:spcPct val="105000"/>
              </a:lnSpc>
              <a:spcBef>
                <a:spcPts val="0"/>
              </a:spcBef>
              <a:spcAft>
                <a:spcPts val="500"/>
              </a:spcAft>
              <a:defRPr sz="1200" b="1">
                <a:solidFill>
                  <a:srgbClr val="173A3E"/>
                </a:solidFill>
                <a:latin typeface="DejaVu Sans"/>
              </a:defRPr>
            </a:pPr>
            <a:r>
              <a:t>04</a:t>
            </a:r>
          </a:p>
        </p:txBody>
      </p:sp>
      <p:cxnSp>
        <p:nvCxnSpPr>
          <p:cNvPr id="30" name="Connector 29"/>
          <p:cNvCxnSpPr/>
          <p:nvPr/>
        </p:nvCxnSpPr>
        <p:spPr>
          <a:xfrm>
            <a:off x="7973568" y="3364992"/>
            <a:ext cx="1490472" cy="0"/>
          </a:xfrm>
          <a:prstGeom prst="line">
            <a:avLst/>
          </a:prstGeom>
          <a:ln w="21590">
            <a:solidFill>
              <a:srgbClr val="527A70"/>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5400000">
            <a:off x="9413748" y="3314700"/>
            <a:ext cx="100584" cy="100584"/>
          </a:xfrm>
          <a:prstGeom prst="triangle">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0" y="3840480"/>
            <a:ext cx="2057400" cy="329184"/>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BCEE7B"/>
                </a:solidFill>
                <a:latin typeface="DejaVu Sans"/>
              </a:defRPr>
            </a:pPr>
            <a:r>
              <a:t>COMUNICAR</a:t>
            </a:r>
          </a:p>
        </p:txBody>
      </p:sp>
      <p:sp>
        <p:nvSpPr>
          <p:cNvPr id="33" name="TextBox 32"/>
          <p:cNvSpPr txBox="1"/>
          <p:nvPr/>
        </p:nvSpPr>
        <p:spPr>
          <a:xfrm>
            <a:off x="7406640" y="4343400"/>
            <a:ext cx="1993392" cy="758952"/>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FFFFFF"/>
                </a:solidFill>
                <a:latin typeface="DejaVu Sans"/>
              </a:defRPr>
            </a:pPr>
            <a:r>
              <a:t>Aviso + condiciones</a:t>
            </a:r>
          </a:p>
        </p:txBody>
      </p:sp>
      <p:sp>
        <p:nvSpPr>
          <p:cNvPr id="34" name="Oval 33"/>
          <p:cNvSpPr/>
          <p:nvPr/>
        </p:nvSpPr>
        <p:spPr>
          <a:xfrm>
            <a:off x="9683496" y="3145536"/>
            <a:ext cx="448056" cy="448056"/>
          </a:xfrm>
          <a:prstGeom prst="ellipse">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38360" y="3236976"/>
            <a:ext cx="329184" cy="228600"/>
          </a:xfrm>
          <a:prstGeom prst="rect">
            <a:avLst/>
          </a:prstGeom>
          <a:noFill/>
        </p:spPr>
        <p:txBody>
          <a:bodyPr wrap="square" lIns="0" rIns="0" tIns="0" bIns="0">
            <a:spAutoFit/>
          </a:bodyPr>
          <a:lstStyle/>
          <a:p>
            <a:pPr algn="ctr">
              <a:lnSpc>
                <a:spcPct val="105000"/>
              </a:lnSpc>
              <a:spcBef>
                <a:spcPts val="0"/>
              </a:spcBef>
              <a:spcAft>
                <a:spcPts val="500"/>
              </a:spcAft>
              <a:defRPr sz="1200" b="1">
                <a:solidFill>
                  <a:srgbClr val="173A3E"/>
                </a:solidFill>
                <a:latin typeface="DejaVu Sans"/>
              </a:defRPr>
            </a:pPr>
            <a:r>
              <a:t>05</a:t>
            </a:r>
          </a:p>
        </p:txBody>
      </p:sp>
      <p:sp>
        <p:nvSpPr>
          <p:cNvPr id="36" name="TextBox 35"/>
          <p:cNvSpPr txBox="1"/>
          <p:nvPr/>
        </p:nvSpPr>
        <p:spPr>
          <a:xfrm>
            <a:off x="9683496" y="3840480"/>
            <a:ext cx="2057400" cy="329184"/>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BCEE7B"/>
                </a:solidFill>
                <a:latin typeface="DejaVu Sans"/>
              </a:defRPr>
            </a:pPr>
            <a:r>
              <a:t>RECUPERAR</a:t>
            </a:r>
          </a:p>
        </p:txBody>
      </p:sp>
      <p:sp>
        <p:nvSpPr>
          <p:cNvPr id="37" name="TextBox 36"/>
          <p:cNvSpPr txBox="1"/>
          <p:nvPr/>
        </p:nvSpPr>
        <p:spPr>
          <a:xfrm>
            <a:off x="9683496" y="4343400"/>
            <a:ext cx="1993392" cy="758952"/>
          </a:xfrm>
          <a:prstGeom prst="rect">
            <a:avLst/>
          </a:prstGeom>
          <a:noFill/>
        </p:spPr>
        <p:txBody>
          <a:bodyPr wrap="square" lIns="0" rIns="0" tIns="0" bIns="0">
            <a:spAutoFit/>
          </a:bodyPr>
          <a:lstStyle/>
          <a:p>
            <a:pPr algn="l">
              <a:lnSpc>
                <a:spcPct val="105000"/>
              </a:lnSpc>
              <a:spcBef>
                <a:spcPts val="0"/>
              </a:spcBef>
              <a:spcAft>
                <a:spcPts val="500"/>
              </a:spcAft>
              <a:defRPr sz="1900" b="0">
                <a:solidFill>
                  <a:srgbClr val="FFFFFF"/>
                </a:solidFill>
                <a:latin typeface="DejaVu Sans"/>
              </a:defRPr>
            </a:pPr>
            <a:r>
              <a:t>Revisión + retorno</a:t>
            </a:r>
          </a:p>
        </p:txBody>
      </p:sp>
      <p:sp>
        <p:nvSpPr>
          <p:cNvPr id="38" name="TextBox 37"/>
          <p:cNvSpPr txBox="1"/>
          <p:nvPr/>
        </p:nvSpPr>
        <p:spPr>
          <a:xfrm>
            <a:off x="594360" y="5705856"/>
            <a:ext cx="10972800" cy="411480"/>
          </a:xfrm>
          <a:prstGeom prst="rect">
            <a:avLst/>
          </a:prstGeom>
          <a:noFill/>
        </p:spPr>
        <p:txBody>
          <a:bodyPr wrap="square" lIns="0" rIns="0" tIns="0" bIns="0">
            <a:spAutoFit/>
          </a:bodyPr>
          <a:lstStyle/>
          <a:p>
            <a:pPr algn="l">
              <a:lnSpc>
                <a:spcPct val="105000"/>
              </a:lnSpc>
              <a:spcBef>
                <a:spcPts val="0"/>
              </a:spcBef>
              <a:spcAft>
                <a:spcPts val="500"/>
              </a:spcAft>
              <a:defRPr sz="2500" b="1">
                <a:solidFill>
                  <a:srgbClr val="FFFFFF"/>
                </a:solidFill>
                <a:latin typeface="DejaVu Sans"/>
              </a:defRPr>
            </a:pPr>
            <a:r>
              <a:t>El sistema recomienda. La autoridad decide la activación.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LA BASE TERRITORIAL</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Cali real,</a:t>
            </a:r>
          </a:p>
          <a:p>
            <a:pPr algn="l">
              <a:lnSpc>
                <a:spcPct val="105000"/>
              </a:lnSpc>
              <a:spcBef>
                <a:spcPts val="0"/>
              </a:spcBef>
              <a:spcAft>
                <a:spcPts val="500"/>
              </a:spcAft>
              <a:defRPr sz="3200" b="1">
                <a:solidFill>
                  <a:srgbClr val="173A3E"/>
                </a:solidFill>
                <a:latin typeface="DejaVu Sans"/>
              </a:defRPr>
            </a:pPr>
            <a:r>
              <a:t>criterios visibles.</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Fuente: Alcaldía de Santiago de Cali · DAPM / IDESC · corte 25 sep 2026 · CC BY-SA 4.0</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04</a:t>
            </a:r>
          </a:p>
        </p:txBody>
      </p:sp>
      <p:pic>
        <p:nvPicPr>
          <p:cNvPr id="10" name="Picture 9" descr="cali-claro.png"/>
          <p:cNvPicPr>
            <a:picLocks noChangeAspect="1"/>
          </p:cNvPicPr>
          <p:nvPr/>
        </p:nvPicPr>
        <p:blipFill>
          <a:blip r:embed="rId2"/>
          <a:stretch>
            <a:fillRect/>
          </a:stretch>
        </p:blipFill>
        <p:spPr>
          <a:xfrm>
            <a:off x="890354" y="2249424"/>
            <a:ext cx="3248490" cy="3986784"/>
          </a:xfrm>
          <a:prstGeom prst="rect">
            <a:avLst/>
          </a:prstGeom>
        </p:spPr>
      </p:pic>
      <p:sp>
        <p:nvSpPr>
          <p:cNvPr id="11" name="TextBox 10"/>
          <p:cNvSpPr txBox="1"/>
          <p:nvPr/>
        </p:nvSpPr>
        <p:spPr>
          <a:xfrm>
            <a:off x="4992624" y="2304288"/>
            <a:ext cx="4389120" cy="804672"/>
          </a:xfrm>
          <a:prstGeom prst="rect">
            <a:avLst/>
          </a:prstGeom>
          <a:noFill/>
        </p:spPr>
        <p:txBody>
          <a:bodyPr wrap="square" lIns="0" rIns="0" tIns="0" bIns="0">
            <a:spAutoFit/>
          </a:bodyPr>
          <a:lstStyle/>
          <a:p>
            <a:pPr algn="l">
              <a:lnSpc>
                <a:spcPct val="105000"/>
              </a:lnSpc>
              <a:spcBef>
                <a:spcPts val="0"/>
              </a:spcBef>
              <a:spcAft>
                <a:spcPts val="500"/>
              </a:spcAft>
              <a:defRPr sz="5800" b="1">
                <a:solidFill>
                  <a:srgbClr val="176E63"/>
                </a:solidFill>
                <a:latin typeface="DejaVu Sans"/>
              </a:defRPr>
            </a:pPr>
            <a:r>
              <a:t>1.970</a:t>
            </a:r>
          </a:p>
        </p:txBody>
      </p:sp>
      <p:sp>
        <p:nvSpPr>
          <p:cNvPr id="12" name="TextBox 11"/>
          <p:cNvSpPr txBox="1"/>
          <p:nvPr/>
        </p:nvSpPr>
        <p:spPr>
          <a:xfrm>
            <a:off x="5047488" y="3127248"/>
            <a:ext cx="6035040" cy="411480"/>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173A3E"/>
                </a:solidFill>
                <a:latin typeface="DejaVu Sans"/>
              </a:defRPr>
            </a:pPr>
            <a:r>
              <a:t>registros de espacio público efectivo</a:t>
            </a:r>
          </a:p>
        </p:txBody>
      </p:sp>
      <p:sp>
        <p:nvSpPr>
          <p:cNvPr id="13" name="TextBox 12"/>
          <p:cNvSpPr txBox="1"/>
          <p:nvPr/>
        </p:nvSpPr>
        <p:spPr>
          <a:xfrm>
            <a:off x="5056632" y="3831336"/>
            <a:ext cx="1554480" cy="246888"/>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LOCALIZAR</a:t>
            </a:r>
          </a:p>
        </p:txBody>
      </p:sp>
      <p:sp>
        <p:nvSpPr>
          <p:cNvPr id="14" name="TextBox 13"/>
          <p:cNvSpPr txBox="1"/>
          <p:nvPr/>
        </p:nvSpPr>
        <p:spPr>
          <a:xfrm>
            <a:off x="6675120" y="3817620"/>
            <a:ext cx="4690872" cy="521207"/>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173A3E"/>
                </a:solidFill>
                <a:latin typeface="DejaVu Sans"/>
              </a:defRPr>
            </a:pPr>
            <a:r>
              <a:t>Comuna, barrio y huella cartográfica.</a:t>
            </a:r>
          </a:p>
        </p:txBody>
      </p:sp>
      <p:sp>
        <p:nvSpPr>
          <p:cNvPr id="15" name="TextBox 14"/>
          <p:cNvSpPr txBox="1"/>
          <p:nvPr/>
        </p:nvSpPr>
        <p:spPr>
          <a:xfrm>
            <a:off x="5056632" y="4471416"/>
            <a:ext cx="1554480" cy="246888"/>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FILTRAR</a:t>
            </a:r>
          </a:p>
        </p:txBody>
      </p:sp>
      <p:sp>
        <p:nvSpPr>
          <p:cNvPr id="16" name="TextBox 15"/>
          <p:cNvSpPr txBox="1"/>
          <p:nvPr/>
        </p:nvSpPr>
        <p:spPr>
          <a:xfrm>
            <a:off x="6675120" y="4457700"/>
            <a:ext cx="4690872" cy="521207"/>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173A3E"/>
                </a:solidFill>
                <a:latin typeface="DejaVu Sans"/>
              </a:defRPr>
            </a:pPr>
            <a:r>
              <a:t>Amenaza, intersecciones y evidencia disponible.</a:t>
            </a:r>
          </a:p>
        </p:txBody>
      </p:sp>
      <p:sp>
        <p:nvSpPr>
          <p:cNvPr id="17" name="TextBox 16"/>
          <p:cNvSpPr txBox="1"/>
          <p:nvPr/>
        </p:nvSpPr>
        <p:spPr>
          <a:xfrm>
            <a:off x="5056632" y="5111496"/>
            <a:ext cx="1554480" cy="246888"/>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EXPLICAR</a:t>
            </a:r>
          </a:p>
        </p:txBody>
      </p:sp>
      <p:sp>
        <p:nvSpPr>
          <p:cNvPr id="18" name="TextBox 17"/>
          <p:cNvSpPr txBox="1"/>
          <p:nvPr/>
        </p:nvSpPr>
        <p:spPr>
          <a:xfrm>
            <a:off x="6675120" y="5097780"/>
            <a:ext cx="4690872" cy="521207"/>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173A3E"/>
                </a:solidFill>
                <a:latin typeface="DejaVu Sans"/>
              </a:defRPr>
            </a:pPr>
            <a:r>
              <a:t>Criterios, restricciones y datos por verificar.</a:t>
            </a:r>
          </a:p>
        </p:txBody>
      </p:sp>
      <p:sp>
        <p:nvSpPr>
          <p:cNvPr id="19" name="Rounded Rectangle 18"/>
          <p:cNvSpPr/>
          <p:nvPr/>
        </p:nvSpPr>
        <p:spPr>
          <a:xfrm>
            <a:off x="5056632" y="5870448"/>
            <a:ext cx="4727448"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6360" y="5920740"/>
            <a:ext cx="4544568"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INVENTARIO ≠ DISPONIBILIDAD CONFIRMADA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LA LÓGICA</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Tres decisiones antes de proponer un uso.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RETO-01 · Cali Activa · Hackathon Smart City Expo Cali 2026</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05</a:t>
            </a:r>
          </a:p>
        </p:txBody>
      </p:sp>
      <p:sp>
        <p:nvSpPr>
          <p:cNvPr id="10" name="Rounded Rectangle 9"/>
          <p:cNvSpPr/>
          <p:nvPr/>
        </p:nvSpPr>
        <p:spPr>
          <a:xfrm>
            <a:off x="548640" y="2578608"/>
            <a:ext cx="3090672"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628900"/>
            <a:ext cx="2907791"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1 · AMENAZA</a:t>
            </a:r>
          </a:p>
        </p:txBody>
      </p:sp>
      <p:sp>
        <p:nvSpPr>
          <p:cNvPr id="12" name="Diamond 11"/>
          <p:cNvSpPr/>
          <p:nvPr/>
        </p:nvSpPr>
        <p:spPr>
          <a:xfrm>
            <a:off x="914400" y="3191256"/>
            <a:ext cx="2706624" cy="1216152"/>
          </a:xfrm>
          <a:prstGeom prst="diamond">
            <a:avLst/>
          </a:prstGeom>
          <a:solidFill>
            <a:srgbClr val="EBD9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19" y="3630168"/>
            <a:ext cx="2157984" cy="384048"/>
          </a:xfrm>
          <a:prstGeom prst="rect">
            <a:avLst/>
          </a:prstGeom>
          <a:noFill/>
        </p:spPr>
        <p:txBody>
          <a:bodyPr wrap="square" lIns="0" rIns="0" tIns="0" bIns="0">
            <a:spAutoFit/>
          </a:bodyPr>
          <a:lstStyle/>
          <a:p>
            <a:pPr algn="ctr">
              <a:lnSpc>
                <a:spcPct val="105000"/>
              </a:lnSpc>
              <a:spcBef>
                <a:spcPts val="0"/>
              </a:spcBef>
              <a:spcAft>
                <a:spcPts val="500"/>
              </a:spcAft>
              <a:defRPr sz="1600" b="1">
                <a:solidFill>
                  <a:srgbClr val="173A3E"/>
                </a:solidFill>
                <a:latin typeface="DejaVu Sans"/>
              </a:defRPr>
            </a:pPr>
            <a:r>
              <a:t>¿Pasa el filtro?</a:t>
            </a:r>
          </a:p>
        </p:txBody>
      </p:sp>
      <p:cxnSp>
        <p:nvCxnSpPr>
          <p:cNvPr id="14" name="Connector 13"/>
          <p:cNvCxnSpPr/>
          <p:nvPr/>
        </p:nvCxnSpPr>
        <p:spPr>
          <a:xfrm>
            <a:off x="2267712" y="4407408"/>
            <a:ext cx="0" cy="310896"/>
          </a:xfrm>
          <a:prstGeom prst="line">
            <a:avLst/>
          </a:prstGeom>
          <a:ln w="21590">
            <a:solidFill>
              <a:srgbClr val="AE4237"/>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10800000">
            <a:off x="2217420" y="4668012"/>
            <a:ext cx="100584" cy="100584"/>
          </a:xfrm>
          <a:prstGeom prst="triangle">
            <a:avLst/>
          </a:prstGeom>
          <a:solidFill>
            <a:srgbClr val="AE4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4846320"/>
            <a:ext cx="3474720" cy="960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5010912"/>
            <a:ext cx="3163824" cy="749808"/>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173A3E"/>
                </a:solidFill>
                <a:latin typeface="DejaVu Sans"/>
              </a:defRPr>
            </a:pPr>
            <a:r>
              <a:t>Con restricción o falta de evidencia: descartar o dejar pendiente.</a:t>
            </a:r>
          </a:p>
        </p:txBody>
      </p:sp>
      <p:sp>
        <p:nvSpPr>
          <p:cNvPr id="18" name="Rounded Rectangle 17"/>
          <p:cNvSpPr/>
          <p:nvPr/>
        </p:nvSpPr>
        <p:spPr>
          <a:xfrm>
            <a:off x="4361688" y="2578608"/>
            <a:ext cx="3090672"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1416" y="2628900"/>
            <a:ext cx="2907791"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2 · SUPERFICIE</a:t>
            </a:r>
          </a:p>
        </p:txBody>
      </p:sp>
      <p:sp>
        <p:nvSpPr>
          <p:cNvPr id="20" name="Diamond 19"/>
          <p:cNvSpPr/>
          <p:nvPr/>
        </p:nvSpPr>
        <p:spPr>
          <a:xfrm>
            <a:off x="4727448" y="3191256"/>
            <a:ext cx="2706624" cy="1216152"/>
          </a:xfrm>
          <a:prstGeom prst="diamond">
            <a:avLst/>
          </a:prstGeom>
          <a:solidFill>
            <a:srgbClr val="EBD9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1768" y="3630168"/>
            <a:ext cx="2157984" cy="384048"/>
          </a:xfrm>
          <a:prstGeom prst="rect">
            <a:avLst/>
          </a:prstGeom>
          <a:noFill/>
        </p:spPr>
        <p:txBody>
          <a:bodyPr wrap="square" lIns="0" rIns="0" tIns="0" bIns="0">
            <a:spAutoFit/>
          </a:bodyPr>
          <a:lstStyle/>
          <a:p>
            <a:pPr algn="ctr">
              <a:lnSpc>
                <a:spcPct val="105000"/>
              </a:lnSpc>
              <a:spcBef>
                <a:spcPts val="0"/>
              </a:spcBef>
              <a:spcAft>
                <a:spcPts val="500"/>
              </a:spcAft>
              <a:defRPr sz="1600" b="1">
                <a:solidFill>
                  <a:srgbClr val="173A3E"/>
                </a:solidFill>
                <a:latin typeface="DejaVu Sans"/>
              </a:defRPr>
            </a:pPr>
            <a:r>
              <a:t>¿Cabe la carga?</a:t>
            </a:r>
          </a:p>
        </p:txBody>
      </p:sp>
      <p:cxnSp>
        <p:nvCxnSpPr>
          <p:cNvPr id="22" name="Connector 21"/>
          <p:cNvCxnSpPr/>
          <p:nvPr/>
        </p:nvCxnSpPr>
        <p:spPr>
          <a:xfrm>
            <a:off x="6080759" y="4407408"/>
            <a:ext cx="0" cy="310896"/>
          </a:xfrm>
          <a:prstGeom prst="line">
            <a:avLst/>
          </a:prstGeom>
          <a:ln w="21590">
            <a:solidFill>
              <a:srgbClr val="AE4237"/>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10800000">
            <a:off x="6030468" y="4668012"/>
            <a:ext cx="100584" cy="100584"/>
          </a:xfrm>
          <a:prstGeom prst="triangle">
            <a:avLst/>
          </a:prstGeom>
          <a:solidFill>
            <a:srgbClr val="AE4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61688" y="4846320"/>
            <a:ext cx="3474720" cy="960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17136" y="5010912"/>
            <a:ext cx="3163824" cy="749808"/>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173A3E"/>
                </a:solidFill>
                <a:latin typeface="DejaVu Sans"/>
              </a:defRPr>
            </a:pPr>
            <a:r>
              <a:t>Si excede el área restante: bloquear, ajustar y recalcular.</a:t>
            </a:r>
          </a:p>
        </p:txBody>
      </p:sp>
      <p:sp>
        <p:nvSpPr>
          <p:cNvPr id="26" name="Rounded Rectangle 25"/>
          <p:cNvSpPr/>
          <p:nvPr/>
        </p:nvSpPr>
        <p:spPr>
          <a:xfrm>
            <a:off x="8165592" y="2578608"/>
            <a:ext cx="3090672"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2628900"/>
            <a:ext cx="2907791"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3 · HABILITACIÓN</a:t>
            </a:r>
          </a:p>
        </p:txBody>
      </p:sp>
      <p:sp>
        <p:nvSpPr>
          <p:cNvPr id="28" name="Diamond 27"/>
          <p:cNvSpPr/>
          <p:nvPr/>
        </p:nvSpPr>
        <p:spPr>
          <a:xfrm>
            <a:off x="8531352" y="3191256"/>
            <a:ext cx="2706624" cy="1216152"/>
          </a:xfrm>
          <a:prstGeom prst="diamond">
            <a:avLst/>
          </a:prstGeom>
          <a:solidFill>
            <a:srgbClr val="EBD9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05672" y="3630168"/>
            <a:ext cx="2157984" cy="384048"/>
          </a:xfrm>
          <a:prstGeom prst="rect">
            <a:avLst/>
          </a:prstGeom>
          <a:noFill/>
        </p:spPr>
        <p:txBody>
          <a:bodyPr wrap="square" lIns="0" rIns="0" tIns="0" bIns="0">
            <a:spAutoFit/>
          </a:bodyPr>
          <a:lstStyle/>
          <a:p>
            <a:pPr algn="ctr">
              <a:lnSpc>
                <a:spcPct val="105000"/>
              </a:lnSpc>
              <a:spcBef>
                <a:spcPts val="0"/>
              </a:spcBef>
              <a:spcAft>
                <a:spcPts val="500"/>
              </a:spcAft>
              <a:defRPr sz="1600" b="1">
                <a:solidFill>
                  <a:srgbClr val="173A3E"/>
                </a:solidFill>
                <a:latin typeface="DejaVu Sans"/>
              </a:defRPr>
            </a:pPr>
            <a:r>
              <a:t>¿Está confirmado?</a:t>
            </a:r>
          </a:p>
        </p:txBody>
      </p:sp>
      <p:cxnSp>
        <p:nvCxnSpPr>
          <p:cNvPr id="30" name="Connector 29"/>
          <p:cNvCxnSpPr/>
          <p:nvPr/>
        </p:nvCxnSpPr>
        <p:spPr>
          <a:xfrm>
            <a:off x="9884663" y="4407408"/>
            <a:ext cx="0" cy="310896"/>
          </a:xfrm>
          <a:prstGeom prst="line">
            <a:avLst/>
          </a:prstGeom>
          <a:ln w="21590">
            <a:solidFill>
              <a:srgbClr val="AE4237"/>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10800000">
            <a:off x="9834372" y="4668012"/>
            <a:ext cx="100584" cy="100584"/>
          </a:xfrm>
          <a:prstGeom prst="triangle">
            <a:avLst/>
          </a:prstGeom>
          <a:solidFill>
            <a:srgbClr val="AE4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65592" y="4846320"/>
            <a:ext cx="3474720" cy="96012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5010912"/>
            <a:ext cx="3163824" cy="749808"/>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173A3E"/>
                </a:solidFill>
                <a:latin typeface="DejaVu Sans"/>
              </a:defRPr>
            </a:pPr>
            <a:r>
              <a:t>Sin confirmación: conservar borrador y no invitar a acudir.</a:t>
            </a:r>
          </a:p>
        </p:txBody>
      </p:sp>
      <p:sp>
        <p:nvSpPr>
          <p:cNvPr id="34" name="TextBox 33"/>
          <p:cNvSpPr txBox="1"/>
          <p:nvPr/>
        </p:nvSpPr>
        <p:spPr>
          <a:xfrm>
            <a:off x="548640" y="6025896"/>
            <a:ext cx="10972800" cy="201168"/>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Pasar un filtro permite seguir revisando; no equivale a seguridad certificada.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B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73A3E"/>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CASO DE USO · ACOPIO</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FFFFFF"/>
                </a:solidFill>
                <a:latin typeface="DejaVu Sans"/>
              </a:defRPr>
            </a:pPr>
            <a:r>
              <a:t>El tamaño del parque</a:t>
            </a:r>
          </a:p>
          <a:p>
            <a:pPr algn="l">
              <a:lnSpc>
                <a:spcPct val="105000"/>
              </a:lnSpc>
              <a:spcBef>
                <a:spcPts val="0"/>
              </a:spcBef>
              <a:spcAft>
                <a:spcPts val="500"/>
              </a:spcAft>
              <a:defRPr sz="3200" b="1">
                <a:solidFill>
                  <a:srgbClr val="FFFFFF"/>
                </a:solidFill>
                <a:latin typeface="DejaVu Sans"/>
              </a:defRPr>
            </a:pPr>
            <a:r>
              <a:t>sí cambia la propuesta.</a:t>
            </a:r>
          </a:p>
        </p:txBody>
      </p:sp>
      <p:sp>
        <p:nvSpPr>
          <p:cNvPr id="7" name="Rectangle 6"/>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epou-9465 · Colinas del Sur · área DAPM/IDESC calculada con Turf · reservas y módulos SIMULADOS</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06</a:t>
            </a:r>
          </a:p>
        </p:txBody>
      </p:sp>
      <p:sp>
        <p:nvSpPr>
          <p:cNvPr id="10" name="Rounded Rectangle 9"/>
          <p:cNvSpPr/>
          <p:nvPr/>
        </p:nvSpPr>
        <p:spPr>
          <a:xfrm>
            <a:off x="594360" y="2459736"/>
            <a:ext cx="4133087"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510028"/>
            <a:ext cx="3950207"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HUELLA REAL + SUPUESTOS SIMULADOS</a:t>
            </a:r>
          </a:p>
        </p:txBody>
      </p:sp>
      <p:sp>
        <p:nvSpPr>
          <p:cNvPr id="12" name="TextBox 11"/>
          <p:cNvSpPr txBox="1"/>
          <p:nvPr/>
        </p:nvSpPr>
        <p:spPr>
          <a:xfrm>
            <a:off x="594360" y="3081528"/>
            <a:ext cx="2377440" cy="685800"/>
          </a:xfrm>
          <a:prstGeom prst="rect">
            <a:avLst/>
          </a:prstGeom>
          <a:noFill/>
        </p:spPr>
        <p:txBody>
          <a:bodyPr wrap="square" lIns="0" rIns="0" tIns="0" bIns="0">
            <a:spAutoFit/>
          </a:bodyPr>
          <a:lstStyle/>
          <a:p>
            <a:pPr algn="l">
              <a:lnSpc>
                <a:spcPct val="105000"/>
              </a:lnSpc>
              <a:spcBef>
                <a:spcPts val="0"/>
              </a:spcBef>
              <a:spcAft>
                <a:spcPts val="500"/>
              </a:spcAft>
              <a:defRPr sz="4200" b="1">
                <a:solidFill>
                  <a:srgbClr val="FFFFFF"/>
                </a:solidFill>
                <a:latin typeface="DejaVu Sans"/>
              </a:defRPr>
            </a:pPr>
            <a:r>
              <a:t>447,21</a:t>
            </a:r>
          </a:p>
        </p:txBody>
      </p:sp>
      <p:sp>
        <p:nvSpPr>
          <p:cNvPr id="13" name="TextBox 12"/>
          <p:cNvSpPr txBox="1"/>
          <p:nvPr/>
        </p:nvSpPr>
        <p:spPr>
          <a:xfrm>
            <a:off x="612648" y="3813048"/>
            <a:ext cx="2359152" cy="384048"/>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C4D7D0"/>
                </a:solidFill>
                <a:latin typeface="DejaVu Sans"/>
              </a:defRPr>
            </a:pPr>
            <a:r>
              <a:t>m² cartográficos</a:t>
            </a:r>
          </a:p>
        </p:txBody>
      </p:sp>
      <p:sp>
        <p:nvSpPr>
          <p:cNvPr id="14" name="TextBox 13"/>
          <p:cNvSpPr txBox="1"/>
          <p:nvPr/>
        </p:nvSpPr>
        <p:spPr>
          <a:xfrm>
            <a:off x="3054096" y="3236976"/>
            <a:ext cx="457200" cy="457200"/>
          </a:xfrm>
          <a:prstGeom prst="rect">
            <a:avLst/>
          </a:prstGeom>
          <a:noFill/>
        </p:spPr>
        <p:txBody>
          <a:bodyPr wrap="square" lIns="0" rIns="0" tIns="0" bIns="0">
            <a:spAutoFit/>
          </a:bodyPr>
          <a:lstStyle/>
          <a:p>
            <a:pPr algn="l">
              <a:lnSpc>
                <a:spcPct val="105000"/>
              </a:lnSpc>
              <a:spcBef>
                <a:spcPts val="0"/>
              </a:spcBef>
              <a:spcAft>
                <a:spcPts val="500"/>
              </a:spcAft>
              <a:defRPr sz="3000" b="1">
                <a:solidFill>
                  <a:srgbClr val="BCEE7B"/>
                </a:solidFill>
                <a:latin typeface="DejaVu Sans"/>
              </a:defRPr>
            </a:pPr>
            <a:r>
              <a:t>−</a:t>
            </a:r>
          </a:p>
        </p:txBody>
      </p:sp>
      <p:sp>
        <p:nvSpPr>
          <p:cNvPr id="15" name="TextBox 14"/>
          <p:cNvSpPr txBox="1"/>
          <p:nvPr/>
        </p:nvSpPr>
        <p:spPr>
          <a:xfrm>
            <a:off x="3703320" y="3081528"/>
            <a:ext cx="1965960" cy="685800"/>
          </a:xfrm>
          <a:prstGeom prst="rect">
            <a:avLst/>
          </a:prstGeom>
          <a:noFill/>
        </p:spPr>
        <p:txBody>
          <a:bodyPr wrap="square" lIns="0" rIns="0" tIns="0" bIns="0">
            <a:spAutoFit/>
          </a:bodyPr>
          <a:lstStyle/>
          <a:p>
            <a:pPr algn="l">
              <a:lnSpc>
                <a:spcPct val="105000"/>
              </a:lnSpc>
              <a:spcBef>
                <a:spcPts val="0"/>
              </a:spcBef>
              <a:spcAft>
                <a:spcPts val="500"/>
              </a:spcAft>
              <a:defRPr sz="4200" b="1">
                <a:solidFill>
                  <a:srgbClr val="FFFFFF"/>
                </a:solidFill>
                <a:latin typeface="DejaVu Sans"/>
              </a:defRPr>
            </a:pPr>
            <a:r>
              <a:t>280</a:t>
            </a:r>
          </a:p>
        </p:txBody>
      </p:sp>
      <p:sp>
        <p:nvSpPr>
          <p:cNvPr id="16" name="TextBox 15"/>
          <p:cNvSpPr txBox="1"/>
          <p:nvPr/>
        </p:nvSpPr>
        <p:spPr>
          <a:xfrm>
            <a:off x="3739896" y="3813048"/>
            <a:ext cx="2404872" cy="612648"/>
          </a:xfrm>
          <a:prstGeom prst="rect">
            <a:avLst/>
          </a:prstGeom>
          <a:noFill/>
        </p:spPr>
        <p:txBody>
          <a:bodyPr wrap="square" lIns="0" rIns="0" tIns="0" bIns="0">
            <a:spAutoFit/>
          </a:bodyPr>
          <a:lstStyle/>
          <a:p>
            <a:pPr algn="l">
              <a:lnSpc>
                <a:spcPct val="105000"/>
              </a:lnSpc>
              <a:spcBef>
                <a:spcPts val="0"/>
              </a:spcBef>
              <a:spcAft>
                <a:spcPts val="500"/>
              </a:spcAft>
              <a:defRPr sz="1500" b="0">
                <a:solidFill>
                  <a:srgbClr val="C4D7D0"/>
                </a:solidFill>
                <a:latin typeface="DejaVu Sans"/>
              </a:defRPr>
            </a:pPr>
            <a:r>
              <a:t>m² reservados</a:t>
            </a:r>
          </a:p>
          <a:p>
            <a:pPr algn="l">
              <a:lnSpc>
                <a:spcPct val="105000"/>
              </a:lnSpc>
              <a:spcBef>
                <a:spcPts val="0"/>
              </a:spcBef>
              <a:spcAft>
                <a:spcPts val="500"/>
              </a:spcAft>
              <a:defRPr sz="1500" b="0">
                <a:solidFill>
                  <a:srgbClr val="C4D7D0"/>
                </a:solidFill>
                <a:latin typeface="DejaVu Sans"/>
              </a:defRPr>
            </a:pPr>
            <a:r>
              <a:t>SIMULADOS</a:t>
            </a:r>
          </a:p>
        </p:txBody>
      </p:sp>
      <p:sp>
        <p:nvSpPr>
          <p:cNvPr id="17" name="Rectangle 16"/>
          <p:cNvSpPr/>
          <p:nvPr/>
        </p:nvSpPr>
        <p:spPr>
          <a:xfrm>
            <a:off x="594360" y="4562856"/>
            <a:ext cx="5623560" cy="10972"/>
          </a:xfrm>
          <a:prstGeom prst="rect">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828032"/>
            <a:ext cx="2825496" cy="603504"/>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BCEE7B"/>
                </a:solidFill>
                <a:latin typeface="DejaVu Sans"/>
              </a:defRPr>
            </a:pPr>
            <a:r>
              <a:t>167,21 m²</a:t>
            </a:r>
          </a:p>
        </p:txBody>
      </p:sp>
      <p:sp>
        <p:nvSpPr>
          <p:cNvPr id="19" name="TextBox 18"/>
          <p:cNvSpPr txBox="1"/>
          <p:nvPr/>
        </p:nvSpPr>
        <p:spPr>
          <a:xfrm>
            <a:off x="3593592" y="4873752"/>
            <a:ext cx="2633472" cy="777240"/>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FFFFFF"/>
                </a:solidFill>
                <a:latin typeface="DejaVu Sans"/>
              </a:defRPr>
            </a:pPr>
            <a:r>
              <a:t>para almacenamiento</a:t>
            </a:r>
          </a:p>
          <a:p>
            <a:pPr algn="l">
              <a:lnSpc>
                <a:spcPct val="105000"/>
              </a:lnSpc>
              <a:spcBef>
                <a:spcPts val="0"/>
              </a:spcBef>
              <a:spcAft>
                <a:spcPts val="500"/>
              </a:spcAft>
              <a:defRPr sz="1600" b="0">
                <a:solidFill>
                  <a:srgbClr val="FFFFFF"/>
                </a:solidFill>
                <a:latin typeface="DejaVu Sans"/>
              </a:defRPr>
            </a:pPr>
            <a:r>
              <a:t>÷ 10 m² por módulo</a:t>
            </a:r>
          </a:p>
        </p:txBody>
      </p:sp>
      <p:sp>
        <p:nvSpPr>
          <p:cNvPr id="20" name="TextBox 19"/>
          <p:cNvSpPr txBox="1"/>
          <p:nvPr/>
        </p:nvSpPr>
        <p:spPr>
          <a:xfrm>
            <a:off x="594360" y="5833872"/>
            <a:ext cx="5669280" cy="365760"/>
          </a:xfrm>
          <a:prstGeom prst="rect">
            <a:avLst/>
          </a:prstGeom>
          <a:noFill/>
        </p:spPr>
        <p:txBody>
          <a:bodyPr wrap="square" lIns="0" rIns="0" tIns="0" bIns="0">
            <a:spAutoFit/>
          </a:bodyPr>
          <a:lstStyle/>
          <a:p>
            <a:pPr algn="l">
              <a:lnSpc>
                <a:spcPct val="105000"/>
              </a:lnSpc>
              <a:spcBef>
                <a:spcPts val="0"/>
              </a:spcBef>
              <a:spcAft>
                <a:spcPts val="500"/>
              </a:spcAft>
              <a:defRPr sz="1000" b="0">
                <a:solidFill>
                  <a:srgbClr val="A8C6BE"/>
                </a:solidFill>
                <a:latin typeface="DejaVu Sans"/>
              </a:defRPr>
            </a:pPr>
            <a:r>
              <a:t>Reservas: 100 + 80 + 60 + 40 m²; ver desglose en notas.</a:t>
            </a:r>
          </a:p>
        </p:txBody>
      </p:sp>
      <p:sp>
        <p:nvSpPr>
          <p:cNvPr id="21" name="Rounded Rectangle 20"/>
          <p:cNvSpPr/>
          <p:nvPr/>
        </p:nvSpPr>
        <p:spPr>
          <a:xfrm>
            <a:off x="6693408" y="2414016"/>
            <a:ext cx="4892040" cy="3639312"/>
          </a:xfrm>
          <a:prstGeom prst="roundRect">
            <a:avLst>
              <a:gd name="adj" fmla="val 9000"/>
            </a:avLst>
          </a:prstGeom>
          <a:solidFill>
            <a:srgbClr val="193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04304" y="2724912"/>
            <a:ext cx="1792224" cy="987552"/>
          </a:xfrm>
          <a:prstGeom prst="rect">
            <a:avLst/>
          </a:prstGeom>
          <a:noFill/>
        </p:spPr>
        <p:txBody>
          <a:bodyPr wrap="square" lIns="0" rIns="0" tIns="0" bIns="0">
            <a:spAutoFit/>
          </a:bodyPr>
          <a:lstStyle/>
          <a:p>
            <a:pPr algn="l">
              <a:lnSpc>
                <a:spcPct val="105000"/>
              </a:lnSpc>
              <a:spcBef>
                <a:spcPts val="0"/>
              </a:spcBef>
              <a:spcAft>
                <a:spcPts val="500"/>
              </a:spcAft>
              <a:defRPr sz="6500" b="1">
                <a:solidFill>
                  <a:srgbClr val="BCEE7B"/>
                </a:solidFill>
                <a:latin typeface="DejaVu Sans"/>
              </a:defRPr>
            </a:pPr>
            <a:r>
              <a:t>16</a:t>
            </a:r>
          </a:p>
        </p:txBody>
      </p:sp>
      <p:sp>
        <p:nvSpPr>
          <p:cNvPr id="23" name="TextBox 22"/>
          <p:cNvSpPr txBox="1"/>
          <p:nvPr/>
        </p:nvSpPr>
        <p:spPr>
          <a:xfrm>
            <a:off x="8887968" y="2971800"/>
            <a:ext cx="2286000" cy="777240"/>
          </a:xfrm>
          <a:prstGeom prst="rect">
            <a:avLst/>
          </a:prstGeom>
          <a:noFill/>
        </p:spPr>
        <p:txBody>
          <a:bodyPr wrap="square" lIns="0" rIns="0" tIns="0" bIns="0">
            <a:spAutoFit/>
          </a:bodyPr>
          <a:lstStyle/>
          <a:p>
            <a:pPr algn="l">
              <a:lnSpc>
                <a:spcPct val="105000"/>
              </a:lnSpc>
              <a:spcBef>
                <a:spcPts val="0"/>
              </a:spcBef>
              <a:spcAft>
                <a:spcPts val="500"/>
              </a:spcAft>
              <a:defRPr sz="1900" b="1">
                <a:solidFill>
                  <a:srgbClr val="FFFFFF"/>
                </a:solidFill>
                <a:latin typeface="DejaVu Sans"/>
              </a:defRPr>
            </a:pPr>
            <a:r>
              <a:t>módulos</a:t>
            </a:r>
          </a:p>
          <a:p>
            <a:pPr algn="l">
              <a:lnSpc>
                <a:spcPct val="105000"/>
              </a:lnSpc>
              <a:spcBef>
                <a:spcPts val="0"/>
              </a:spcBef>
              <a:spcAft>
                <a:spcPts val="500"/>
              </a:spcAft>
              <a:defRPr sz="1900" b="1">
                <a:solidFill>
                  <a:srgbClr val="FFFFFF"/>
                </a:solidFill>
                <a:latin typeface="DejaVu Sans"/>
              </a:defRPr>
            </a:pPr>
            <a:r>
              <a:t>máximo teórico</a:t>
            </a:r>
          </a:p>
        </p:txBody>
      </p:sp>
      <p:sp>
        <p:nvSpPr>
          <p:cNvPr id="24" name="Rounded Rectangle 23"/>
          <p:cNvSpPr/>
          <p:nvPr/>
        </p:nvSpPr>
        <p:spPr>
          <a:xfrm>
            <a:off x="7031736"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4072"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836408"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38744"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641080"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43416"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445752"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48088"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250424"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652760" y="40050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31736" y="44622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434072" y="44622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836408" y="44622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38744" y="44622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41080" y="44622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043416" y="4462272"/>
            <a:ext cx="292608" cy="292608"/>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445752" y="4462272"/>
            <a:ext cx="292608" cy="292608"/>
          </a:xfrm>
          <a:prstGeom prst="roundRect">
            <a:avLst>
              <a:gd name="adj" fmla="val 9000"/>
            </a:avLst>
          </a:prstGeom>
          <a:solidFill>
            <a:srgbClr val="D87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848088" y="4462272"/>
            <a:ext cx="292608" cy="292608"/>
          </a:xfrm>
          <a:prstGeom prst="roundRect">
            <a:avLst>
              <a:gd name="adj" fmla="val 9000"/>
            </a:avLst>
          </a:prstGeom>
          <a:solidFill>
            <a:srgbClr val="D87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0250424" y="4462272"/>
            <a:ext cx="292608" cy="292608"/>
          </a:xfrm>
          <a:prstGeom prst="roundRect">
            <a:avLst>
              <a:gd name="adj" fmla="val 9000"/>
            </a:avLst>
          </a:prstGeom>
          <a:solidFill>
            <a:srgbClr val="D87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652760" y="4462272"/>
            <a:ext cx="292608" cy="292608"/>
          </a:xfrm>
          <a:prstGeom prst="roundRect">
            <a:avLst>
              <a:gd name="adj" fmla="val 9000"/>
            </a:avLst>
          </a:prstGeom>
          <a:solidFill>
            <a:srgbClr val="D87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13448" y="5157216"/>
            <a:ext cx="4123944" cy="329184"/>
          </a:xfrm>
          <a:prstGeom prst="rect">
            <a:avLst/>
          </a:prstGeom>
          <a:noFill/>
        </p:spPr>
        <p:txBody>
          <a:bodyPr wrap="square" lIns="0" rIns="0" tIns="0" bIns="0">
            <a:spAutoFit/>
          </a:bodyPr>
          <a:lstStyle/>
          <a:p>
            <a:pPr algn="l">
              <a:lnSpc>
                <a:spcPct val="105000"/>
              </a:lnSpc>
              <a:spcBef>
                <a:spcPts val="0"/>
              </a:spcBef>
              <a:spcAft>
                <a:spcPts val="500"/>
              </a:spcAft>
              <a:defRPr sz="2000" b="1">
                <a:solidFill>
                  <a:srgbClr val="FFFFFF"/>
                </a:solidFill>
                <a:latin typeface="DejaVu Sans"/>
              </a:defRPr>
            </a:pPr>
            <a:r>
              <a:t>20 exceden → ajustar a 16</a:t>
            </a:r>
          </a:p>
        </p:txBody>
      </p:sp>
      <p:sp>
        <p:nvSpPr>
          <p:cNvPr id="45" name="TextBox 44"/>
          <p:cNvSpPr txBox="1"/>
          <p:nvPr/>
        </p:nvSpPr>
        <p:spPr>
          <a:xfrm>
            <a:off x="7013448" y="5641848"/>
            <a:ext cx="4114800" cy="274320"/>
          </a:xfrm>
          <a:prstGeom prst="rect">
            <a:avLst/>
          </a:prstGeom>
          <a:noFill/>
        </p:spPr>
        <p:txBody>
          <a:bodyPr wrap="square" lIns="0" rIns="0" tIns="0" bIns="0">
            <a:spAutoFit/>
          </a:bodyPr>
          <a:lstStyle/>
          <a:p>
            <a:pPr algn="l">
              <a:lnSpc>
                <a:spcPct val="105000"/>
              </a:lnSpc>
              <a:spcBef>
                <a:spcPts val="0"/>
              </a:spcBef>
              <a:spcAft>
                <a:spcPts val="500"/>
              </a:spcAft>
              <a:defRPr sz="1100" b="0">
                <a:solidFill>
                  <a:srgbClr val="C4D7D0"/>
                </a:solidFill>
                <a:latin typeface="DejaVu Sans"/>
              </a:defRPr>
            </a:pPr>
            <a:r>
              <a:t>Balance de área; no aforo ni encaje físico.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NECESIDADES Y COORDINACIÓN</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De contar personas</a:t>
            </a:r>
          </a:p>
          <a:p>
            <a:pPr algn="l">
              <a:lnSpc>
                <a:spcPct val="105000"/>
              </a:lnSpc>
              <a:spcBef>
                <a:spcPts val="0"/>
              </a:spcBef>
              <a:spcAft>
                <a:spcPts val="500"/>
              </a:spcAft>
              <a:defRPr sz="3200" b="1">
                <a:solidFill>
                  <a:srgbClr val="173A3E"/>
                </a:solidFill>
                <a:latin typeface="DejaVu Sans"/>
              </a:defRPr>
            </a:pPr>
            <a:r>
              <a:t>a preparar servicios.</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Referencias de planificación: Manual Esfera 2018 · contextualizar; no certifican cumplimiento</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07</a:t>
            </a:r>
          </a:p>
        </p:txBody>
      </p:sp>
      <p:sp>
        <p:nvSpPr>
          <p:cNvPr id="10" name="Rounded Rectangle 9"/>
          <p:cNvSpPr/>
          <p:nvPr/>
        </p:nvSpPr>
        <p:spPr>
          <a:xfrm>
            <a:off x="557784" y="2377440"/>
            <a:ext cx="4142232"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27732"/>
            <a:ext cx="3959352"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ESCENARIO SIMULADO · 300 PERSONAS</a:t>
            </a:r>
          </a:p>
        </p:txBody>
      </p:sp>
      <p:sp>
        <p:nvSpPr>
          <p:cNvPr id="12" name="Rounded Rectangle 11"/>
          <p:cNvSpPr/>
          <p:nvPr/>
        </p:nvSpPr>
        <p:spPr>
          <a:xfrm>
            <a:off x="548640" y="2971800"/>
            <a:ext cx="3483864" cy="23225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3246120"/>
            <a:ext cx="3063240" cy="676656"/>
          </a:xfrm>
          <a:prstGeom prst="rect">
            <a:avLst/>
          </a:prstGeom>
          <a:noFill/>
        </p:spPr>
        <p:txBody>
          <a:bodyPr wrap="square" lIns="0" rIns="0" tIns="0" bIns="0">
            <a:spAutoFit/>
          </a:bodyPr>
          <a:lstStyle/>
          <a:p>
            <a:pPr algn="l">
              <a:lnSpc>
                <a:spcPct val="105000"/>
              </a:lnSpc>
              <a:spcBef>
                <a:spcPts val="0"/>
              </a:spcBef>
              <a:spcAft>
                <a:spcPts val="500"/>
              </a:spcAft>
              <a:defRPr sz="4400" b="1">
                <a:solidFill>
                  <a:srgbClr val="176E63"/>
                </a:solidFill>
                <a:latin typeface="DejaVu Sans"/>
              </a:defRPr>
            </a:pPr>
            <a:r>
              <a:t>4.500</a:t>
            </a:r>
          </a:p>
        </p:txBody>
      </p:sp>
      <p:sp>
        <p:nvSpPr>
          <p:cNvPr id="14" name="TextBox 13"/>
          <p:cNvSpPr txBox="1"/>
          <p:nvPr/>
        </p:nvSpPr>
        <p:spPr>
          <a:xfrm>
            <a:off x="777240" y="4050791"/>
            <a:ext cx="2990088" cy="347472"/>
          </a:xfrm>
          <a:prstGeom prst="rect">
            <a:avLst/>
          </a:prstGeom>
          <a:noFill/>
        </p:spPr>
        <p:txBody>
          <a:bodyPr wrap="square" lIns="0" rIns="0" tIns="0" bIns="0">
            <a:spAutoFit/>
          </a:bodyPr>
          <a:lstStyle/>
          <a:p>
            <a:pPr algn="l">
              <a:lnSpc>
                <a:spcPct val="105000"/>
              </a:lnSpc>
              <a:spcBef>
                <a:spcPts val="0"/>
              </a:spcBef>
              <a:spcAft>
                <a:spcPts val="500"/>
              </a:spcAft>
              <a:defRPr sz="2200" b="1">
                <a:solidFill>
                  <a:srgbClr val="173A3E"/>
                </a:solidFill>
                <a:latin typeface="DejaVu Sans"/>
              </a:defRPr>
            </a:pPr>
            <a:r>
              <a:t>L de agua / día</a:t>
            </a:r>
          </a:p>
        </p:txBody>
      </p:sp>
      <p:sp>
        <p:nvSpPr>
          <p:cNvPr id="15" name="TextBox 14"/>
          <p:cNvSpPr txBox="1"/>
          <p:nvPr/>
        </p:nvSpPr>
        <p:spPr>
          <a:xfrm>
            <a:off x="777240" y="4690872"/>
            <a:ext cx="2944368"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300 × 15 L</a:t>
            </a:r>
          </a:p>
        </p:txBody>
      </p:sp>
      <p:sp>
        <p:nvSpPr>
          <p:cNvPr id="16" name="TextBox 15"/>
          <p:cNvSpPr txBox="1"/>
          <p:nvPr/>
        </p:nvSpPr>
        <p:spPr>
          <a:xfrm>
            <a:off x="548640" y="5504688"/>
            <a:ext cx="3529584" cy="283464"/>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173A3E"/>
                </a:solidFill>
                <a:latin typeface="DejaVu Sans"/>
              </a:defRPr>
            </a:pPr>
            <a:r>
              <a:t>EMCALI</a:t>
            </a:r>
          </a:p>
        </p:txBody>
      </p:sp>
      <p:sp>
        <p:nvSpPr>
          <p:cNvPr id="17" name="Rounded Rectangle 16"/>
          <p:cNvSpPr/>
          <p:nvPr/>
        </p:nvSpPr>
        <p:spPr>
          <a:xfrm>
            <a:off x="4343400" y="2971800"/>
            <a:ext cx="3483864" cy="23225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3246120"/>
            <a:ext cx="3063240" cy="676656"/>
          </a:xfrm>
          <a:prstGeom prst="rect">
            <a:avLst/>
          </a:prstGeom>
          <a:noFill/>
        </p:spPr>
        <p:txBody>
          <a:bodyPr wrap="square" lIns="0" rIns="0" tIns="0" bIns="0">
            <a:spAutoFit/>
          </a:bodyPr>
          <a:lstStyle/>
          <a:p>
            <a:pPr algn="l">
              <a:lnSpc>
                <a:spcPct val="105000"/>
              </a:lnSpc>
              <a:spcBef>
                <a:spcPts val="0"/>
              </a:spcBef>
              <a:spcAft>
                <a:spcPts val="500"/>
              </a:spcAft>
              <a:defRPr sz="4400" b="1">
                <a:solidFill>
                  <a:srgbClr val="176E63"/>
                </a:solidFill>
                <a:latin typeface="DejaVu Sans"/>
              </a:defRPr>
            </a:pPr>
            <a:r>
              <a:t>15</a:t>
            </a:r>
          </a:p>
        </p:txBody>
      </p:sp>
      <p:sp>
        <p:nvSpPr>
          <p:cNvPr id="19" name="TextBox 18"/>
          <p:cNvSpPr txBox="1"/>
          <p:nvPr/>
        </p:nvSpPr>
        <p:spPr>
          <a:xfrm>
            <a:off x="4572000" y="4050791"/>
            <a:ext cx="2990088" cy="347472"/>
          </a:xfrm>
          <a:prstGeom prst="rect">
            <a:avLst/>
          </a:prstGeom>
          <a:noFill/>
        </p:spPr>
        <p:txBody>
          <a:bodyPr wrap="square" lIns="0" rIns="0" tIns="0" bIns="0">
            <a:spAutoFit/>
          </a:bodyPr>
          <a:lstStyle/>
          <a:p>
            <a:pPr algn="l">
              <a:lnSpc>
                <a:spcPct val="105000"/>
              </a:lnSpc>
              <a:spcBef>
                <a:spcPts val="0"/>
              </a:spcBef>
              <a:spcAft>
                <a:spcPts val="500"/>
              </a:spcAft>
              <a:defRPr sz="2200" b="1">
                <a:solidFill>
                  <a:srgbClr val="173A3E"/>
                </a:solidFill>
                <a:latin typeface="DejaVu Sans"/>
              </a:defRPr>
            </a:pPr>
            <a:r>
              <a:t>baños</a:t>
            </a:r>
          </a:p>
        </p:txBody>
      </p:sp>
      <p:sp>
        <p:nvSpPr>
          <p:cNvPr id="20" name="TextBox 19"/>
          <p:cNvSpPr txBox="1"/>
          <p:nvPr/>
        </p:nvSpPr>
        <p:spPr>
          <a:xfrm>
            <a:off x="4572000" y="4690872"/>
            <a:ext cx="2944368"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redondeo de 300 / 20</a:t>
            </a:r>
          </a:p>
        </p:txBody>
      </p:sp>
      <p:sp>
        <p:nvSpPr>
          <p:cNvPr id="21" name="TextBox 20"/>
          <p:cNvSpPr txBox="1"/>
          <p:nvPr/>
        </p:nvSpPr>
        <p:spPr>
          <a:xfrm>
            <a:off x="4343400" y="5504688"/>
            <a:ext cx="3529584" cy="283464"/>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173A3E"/>
                </a:solidFill>
                <a:latin typeface="DejaVu Sans"/>
              </a:defRPr>
            </a:pPr>
            <a:r>
              <a:t>UAESP</a:t>
            </a:r>
          </a:p>
        </p:txBody>
      </p:sp>
      <p:sp>
        <p:nvSpPr>
          <p:cNvPr id="22" name="Rounded Rectangle 21"/>
          <p:cNvSpPr/>
          <p:nvPr/>
        </p:nvSpPr>
        <p:spPr>
          <a:xfrm>
            <a:off x="8138160" y="2971800"/>
            <a:ext cx="3483864" cy="23225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3246120"/>
            <a:ext cx="3063240" cy="676656"/>
          </a:xfrm>
          <a:prstGeom prst="rect">
            <a:avLst/>
          </a:prstGeom>
          <a:noFill/>
        </p:spPr>
        <p:txBody>
          <a:bodyPr wrap="square" lIns="0" rIns="0" tIns="0" bIns="0">
            <a:spAutoFit/>
          </a:bodyPr>
          <a:lstStyle/>
          <a:p>
            <a:pPr algn="l">
              <a:lnSpc>
                <a:spcPct val="105000"/>
              </a:lnSpc>
              <a:spcBef>
                <a:spcPts val="0"/>
              </a:spcBef>
              <a:spcAft>
                <a:spcPts val="500"/>
              </a:spcAft>
              <a:defRPr sz="4400" b="1">
                <a:solidFill>
                  <a:srgbClr val="176E63"/>
                </a:solidFill>
                <a:latin typeface="DejaVu Sans"/>
              </a:defRPr>
            </a:pPr>
            <a:r>
              <a:t>1.050</a:t>
            </a:r>
          </a:p>
        </p:txBody>
      </p:sp>
      <p:sp>
        <p:nvSpPr>
          <p:cNvPr id="24" name="TextBox 23"/>
          <p:cNvSpPr txBox="1"/>
          <p:nvPr/>
        </p:nvSpPr>
        <p:spPr>
          <a:xfrm>
            <a:off x="8366760" y="4050791"/>
            <a:ext cx="2990088" cy="347472"/>
          </a:xfrm>
          <a:prstGeom prst="rect">
            <a:avLst/>
          </a:prstGeom>
          <a:noFill/>
        </p:spPr>
        <p:txBody>
          <a:bodyPr wrap="square" lIns="0" rIns="0" tIns="0" bIns="0">
            <a:spAutoFit/>
          </a:bodyPr>
          <a:lstStyle/>
          <a:p>
            <a:pPr algn="l">
              <a:lnSpc>
                <a:spcPct val="105000"/>
              </a:lnSpc>
              <a:spcBef>
                <a:spcPts val="0"/>
              </a:spcBef>
              <a:spcAft>
                <a:spcPts val="500"/>
              </a:spcAft>
              <a:defRPr sz="2200" b="1">
                <a:solidFill>
                  <a:srgbClr val="173A3E"/>
                </a:solidFill>
                <a:latin typeface="DejaVu Sans"/>
              </a:defRPr>
            </a:pPr>
            <a:r>
              <a:t>m² cubiertos</a:t>
            </a:r>
          </a:p>
        </p:txBody>
      </p:sp>
      <p:sp>
        <p:nvSpPr>
          <p:cNvPr id="25" name="TextBox 24"/>
          <p:cNvSpPr txBox="1"/>
          <p:nvPr/>
        </p:nvSpPr>
        <p:spPr>
          <a:xfrm>
            <a:off x="8366760" y="4690872"/>
            <a:ext cx="2944368" cy="274320"/>
          </a:xfrm>
          <a:prstGeom prst="rect">
            <a:avLst/>
          </a:prstGeom>
          <a:noFill/>
        </p:spPr>
        <p:txBody>
          <a:bodyPr wrap="square" lIns="0" rIns="0" tIns="0" bIns="0">
            <a:spAutoFit/>
          </a:bodyPr>
          <a:lstStyle/>
          <a:p>
            <a:pPr algn="l">
              <a:lnSpc>
                <a:spcPct val="105000"/>
              </a:lnSpc>
              <a:spcBef>
                <a:spcPts val="0"/>
              </a:spcBef>
              <a:spcAft>
                <a:spcPts val="500"/>
              </a:spcAft>
              <a:defRPr sz="1300" b="0">
                <a:solidFill>
                  <a:srgbClr val="536D70"/>
                </a:solidFill>
                <a:latin typeface="DejaVu Sans"/>
              </a:defRPr>
            </a:pPr>
            <a:r>
              <a:t>300 × 3,5 m²</a:t>
            </a:r>
          </a:p>
        </p:txBody>
      </p:sp>
      <p:sp>
        <p:nvSpPr>
          <p:cNvPr id="26" name="TextBox 25"/>
          <p:cNvSpPr txBox="1"/>
          <p:nvPr/>
        </p:nvSpPr>
        <p:spPr>
          <a:xfrm>
            <a:off x="8138160" y="5504688"/>
            <a:ext cx="3529584" cy="283464"/>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173A3E"/>
                </a:solidFill>
                <a:latin typeface="DejaVu Sans"/>
              </a:defRPr>
            </a:pPr>
            <a:r>
              <a:t>Gestión del Riesgo</a:t>
            </a:r>
          </a:p>
        </p:txBody>
      </p:sp>
      <p:sp>
        <p:nvSpPr>
          <p:cNvPr id="27" name="TextBox 26"/>
          <p:cNvSpPr txBox="1"/>
          <p:nvPr/>
        </p:nvSpPr>
        <p:spPr>
          <a:xfrm>
            <a:off x="576072" y="5934456"/>
            <a:ext cx="10972800" cy="256032"/>
          </a:xfrm>
          <a:prstGeom prst="rect">
            <a:avLst/>
          </a:prstGeom>
          <a:noFill/>
        </p:spPr>
        <p:txBody>
          <a:bodyPr wrap="square" lIns="0" rIns="0" tIns="0" bIns="0">
            <a:spAutoFit/>
          </a:bodyPr>
          <a:lstStyle/>
          <a:p>
            <a:pPr algn="l">
              <a:lnSpc>
                <a:spcPct val="105000"/>
              </a:lnSpc>
              <a:spcBef>
                <a:spcPts val="0"/>
              </a:spcBef>
              <a:spcAft>
                <a:spcPts val="500"/>
              </a:spcAft>
              <a:defRPr sz="1600" b="1">
                <a:solidFill>
                  <a:srgbClr val="176E63"/>
                </a:solidFill>
                <a:latin typeface="DejaVu Sans"/>
              </a:defRPr>
            </a:pPr>
            <a:r>
              <a:t>Responsables propuestos. Servicios existentes sin dato → brechas por medir.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PREVENCIÓN Y COMUNICACIÓN</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La población también necesita</a:t>
            </a:r>
          </a:p>
          <a:p>
            <a:pPr algn="l">
              <a:lnSpc>
                <a:spcPct val="105000"/>
              </a:lnSpc>
              <a:spcBef>
                <a:spcPts val="0"/>
              </a:spcBef>
              <a:spcAft>
                <a:spcPts val="500"/>
              </a:spcAft>
              <a:defRPr sz="3200" b="1">
                <a:solidFill>
                  <a:srgbClr val="173A3E"/>
                </a:solidFill>
                <a:latin typeface="DejaVu Sans"/>
              </a:defRPr>
            </a:pPr>
            <a:r>
              <a:t>saber cómo actuar.</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RETO-01 · Cali Activa · Hackathon Smart City Expo Cali 2026</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08</a:t>
            </a:r>
          </a:p>
        </p:txBody>
      </p:sp>
      <p:sp>
        <p:nvSpPr>
          <p:cNvPr id="10" name="TextBox 9"/>
          <p:cNvSpPr txBox="1"/>
          <p:nvPr/>
        </p:nvSpPr>
        <p:spPr>
          <a:xfrm>
            <a:off x="576072" y="2542032"/>
            <a:ext cx="5852160" cy="384048"/>
          </a:xfrm>
          <a:prstGeom prst="rect">
            <a:avLst/>
          </a:prstGeom>
          <a:noFill/>
        </p:spPr>
        <p:txBody>
          <a:bodyPr wrap="square" lIns="0" rIns="0" tIns="0" bIns="0">
            <a:spAutoFit/>
          </a:bodyPr>
          <a:lstStyle/>
          <a:p>
            <a:pPr algn="l">
              <a:lnSpc>
                <a:spcPct val="105000"/>
              </a:lnSpc>
              <a:spcBef>
                <a:spcPts val="0"/>
              </a:spcBef>
              <a:spcAft>
                <a:spcPts val="500"/>
              </a:spcAft>
              <a:defRPr sz="1500" b="1">
                <a:solidFill>
                  <a:srgbClr val="176E63"/>
                </a:solidFill>
                <a:latin typeface="DejaVu Sans"/>
              </a:defRPr>
            </a:pPr>
            <a:r>
              <a:t>ANTES: PREPARAR A LA COMUNIDAD</a:t>
            </a:r>
          </a:p>
        </p:txBody>
      </p:sp>
      <p:sp>
        <p:nvSpPr>
          <p:cNvPr id="11" name="TextBox 10"/>
          <p:cNvSpPr txBox="1"/>
          <p:nvPr/>
        </p:nvSpPr>
        <p:spPr>
          <a:xfrm>
            <a:off x="576072" y="3127248"/>
            <a:ext cx="5532120" cy="1399032"/>
          </a:xfrm>
          <a:prstGeom prst="rect">
            <a:avLst/>
          </a:prstGeom>
          <a:noFill/>
        </p:spPr>
        <p:txBody>
          <a:bodyPr wrap="square" lIns="0" rIns="0" tIns="0" bIns="0">
            <a:spAutoFit/>
          </a:bodyPr>
          <a:lstStyle/>
          <a:p>
            <a:pPr algn="l">
              <a:lnSpc>
                <a:spcPct val="105000"/>
              </a:lnSpc>
              <a:spcBef>
                <a:spcPts val="0"/>
              </a:spcBef>
              <a:spcAft>
                <a:spcPts val="500"/>
              </a:spcAft>
              <a:defRPr sz="2400" b="1">
                <a:solidFill>
                  <a:srgbClr val="173A3E"/>
                </a:solidFill>
                <a:latin typeface="DejaVu Sans"/>
              </a:defRPr>
            </a:pPr>
            <a:r>
              <a:t>Aprender por amenaza.</a:t>
            </a:r>
          </a:p>
          <a:p>
            <a:pPr algn="l">
              <a:lnSpc>
                <a:spcPct val="105000"/>
              </a:lnSpc>
              <a:spcBef>
                <a:spcPts val="0"/>
              </a:spcBef>
              <a:spcAft>
                <a:spcPts val="500"/>
              </a:spcAft>
              <a:defRPr sz="2400" b="1">
                <a:solidFill>
                  <a:srgbClr val="173A3E"/>
                </a:solidFill>
                <a:latin typeface="DejaVu Sans"/>
              </a:defRPr>
            </a:pPr>
            <a:r>
              <a:t>Consultar fuentes oficiales.</a:t>
            </a:r>
          </a:p>
          <a:p>
            <a:pPr algn="l">
              <a:lnSpc>
                <a:spcPct val="105000"/>
              </a:lnSpc>
              <a:spcBef>
                <a:spcPts val="0"/>
              </a:spcBef>
              <a:spcAft>
                <a:spcPts val="500"/>
              </a:spcAft>
              <a:defRPr sz="2400" b="1">
                <a:solidFill>
                  <a:srgbClr val="173A3E"/>
                </a:solidFill>
                <a:latin typeface="DejaVu Sans"/>
              </a:defRPr>
            </a:pPr>
            <a:r>
              <a:t>Confirmar destino y apertura.</a:t>
            </a:r>
          </a:p>
        </p:txBody>
      </p:sp>
      <p:sp>
        <p:nvSpPr>
          <p:cNvPr id="12" name="Rectangle 11"/>
          <p:cNvSpPr/>
          <p:nvPr/>
        </p:nvSpPr>
        <p:spPr>
          <a:xfrm>
            <a:off x="585216" y="4855464"/>
            <a:ext cx="5102352"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5120640"/>
            <a:ext cx="5184648" cy="786384"/>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536D70"/>
                </a:solidFill>
                <a:latin typeface="DejaVu Sans"/>
              </a:defRPr>
            </a:pPr>
            <a:r>
              <a:t>Encuentro, acopio y alojamiento cumplen funciones diferentes.</a:t>
            </a:r>
          </a:p>
        </p:txBody>
      </p:sp>
      <p:sp>
        <p:nvSpPr>
          <p:cNvPr id="14" name="Rounded Rectangle 13"/>
          <p:cNvSpPr/>
          <p:nvPr/>
        </p:nvSpPr>
        <p:spPr>
          <a:xfrm>
            <a:off x="6739128" y="2395728"/>
            <a:ext cx="4114800" cy="3648456"/>
          </a:xfrm>
          <a:prstGeom prst="roundRect">
            <a:avLst>
              <a:gd name="adj" fmla="val 9000"/>
            </a:avLst>
          </a:prstGeom>
          <a:solidFill>
            <a:srgbClr val="1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0296" y="2624328"/>
            <a:ext cx="3712463" cy="3182112"/>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50608" y="2816352"/>
            <a:ext cx="1920240"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0336" y="2866644"/>
            <a:ext cx="1737360"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SMS SIMULADO</a:t>
            </a:r>
          </a:p>
        </p:txBody>
      </p:sp>
      <p:sp>
        <p:nvSpPr>
          <p:cNvPr id="18" name="TextBox 17"/>
          <p:cNvSpPr txBox="1"/>
          <p:nvPr/>
        </p:nvSpPr>
        <p:spPr>
          <a:xfrm>
            <a:off x="7150608" y="3401568"/>
            <a:ext cx="3255264" cy="411480"/>
          </a:xfrm>
          <a:prstGeom prst="rect">
            <a:avLst/>
          </a:prstGeom>
          <a:noFill/>
        </p:spPr>
        <p:txBody>
          <a:bodyPr wrap="square" lIns="0" rIns="0" tIns="0" bIns="0">
            <a:spAutoFit/>
          </a:bodyPr>
          <a:lstStyle/>
          <a:p>
            <a:pPr algn="l">
              <a:lnSpc>
                <a:spcPct val="105000"/>
              </a:lnSpc>
              <a:spcBef>
                <a:spcPts val="0"/>
              </a:spcBef>
              <a:spcAft>
                <a:spcPts val="500"/>
              </a:spcAft>
              <a:defRPr sz="1700" b="1">
                <a:solidFill>
                  <a:srgbClr val="173A3E"/>
                </a:solidFill>
                <a:latin typeface="DejaVu Sans"/>
              </a:defRPr>
            </a:pPr>
            <a:r>
              <a:t>Punto de acopio propuesto</a:t>
            </a:r>
          </a:p>
        </p:txBody>
      </p:sp>
      <p:sp>
        <p:nvSpPr>
          <p:cNvPr id="19" name="TextBox 18"/>
          <p:cNvSpPr txBox="1"/>
          <p:nvPr/>
        </p:nvSpPr>
        <p:spPr>
          <a:xfrm>
            <a:off x="7150608" y="3977639"/>
            <a:ext cx="3163824" cy="67665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536D70"/>
                </a:solidFill>
                <a:latin typeface="DejaVu Sans"/>
              </a:defRPr>
            </a:pPr>
            <a:r>
              <a:t>Ubicación + horario</a:t>
            </a:r>
          </a:p>
          <a:p>
            <a:pPr algn="l">
              <a:lnSpc>
                <a:spcPct val="105000"/>
              </a:lnSpc>
              <a:spcBef>
                <a:spcPts val="0"/>
              </a:spcBef>
              <a:spcAft>
                <a:spcPts val="500"/>
              </a:spcAft>
              <a:defRPr sz="1700" b="0">
                <a:solidFill>
                  <a:srgbClr val="536D70"/>
                </a:solidFill>
                <a:latin typeface="DejaVu Sans"/>
              </a:defRPr>
            </a:pPr>
            <a:r>
              <a:t>Información de ayudas</a:t>
            </a:r>
          </a:p>
        </p:txBody>
      </p:sp>
      <p:sp>
        <p:nvSpPr>
          <p:cNvPr id="20" name="Rounded Rectangle 19"/>
          <p:cNvSpPr/>
          <p:nvPr/>
        </p:nvSpPr>
        <p:spPr>
          <a:xfrm>
            <a:off x="7132320" y="4864608"/>
            <a:ext cx="3319272" cy="612648"/>
          </a:xfrm>
          <a:prstGeom prst="roundRect">
            <a:avLst>
              <a:gd name="adj" fmla="val 9000"/>
            </a:avLst>
          </a:prstGeom>
          <a:solidFill>
            <a:srgbClr val="F6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5010912"/>
            <a:ext cx="2926080" cy="310896"/>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AE4237"/>
                </a:solidFill>
                <a:latin typeface="DejaVu Sans"/>
              </a:defRPr>
            </a:pPr>
            <a:r>
              <a:t>Sin apertura: no acudir todavía.</a:t>
            </a:r>
          </a:p>
        </p:txBody>
      </p:sp>
      <p:sp>
        <p:nvSpPr>
          <p:cNvPr id="22" name="TextBox 21"/>
          <p:cNvSpPr txBox="1"/>
          <p:nvPr/>
        </p:nvSpPr>
        <p:spPr>
          <a:xfrm>
            <a:off x="6858000" y="6080760"/>
            <a:ext cx="4297680" cy="228600"/>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A toda la población · cero envíos reales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LA DEMOSTRACIÓN</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El recorrido ya se puede probar.</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Captura real del prototipo · datos IDESC y © OpenStreetMap · no confirma disponibilidad</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09</a:t>
            </a:r>
          </a:p>
        </p:txBody>
      </p:sp>
      <p:sp>
        <p:nvSpPr>
          <p:cNvPr id="10" name="Rounded Rectangle 9"/>
          <p:cNvSpPr/>
          <p:nvPr/>
        </p:nvSpPr>
        <p:spPr>
          <a:xfrm>
            <a:off x="548640" y="2267712"/>
            <a:ext cx="7388352" cy="383133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pa-app.png"/>
          <p:cNvPicPr>
            <a:picLocks noChangeAspect="1"/>
          </p:cNvPicPr>
          <p:nvPr/>
        </p:nvPicPr>
        <p:blipFill>
          <a:blip r:embed="rId2"/>
          <a:stretch>
            <a:fillRect/>
          </a:stretch>
        </p:blipFill>
        <p:spPr>
          <a:xfrm>
            <a:off x="1503438" y="2377440"/>
            <a:ext cx="5478755" cy="3593592"/>
          </a:xfrm>
          <a:prstGeom prst="rect">
            <a:avLst/>
          </a:prstGeom>
        </p:spPr>
      </p:pic>
      <p:sp>
        <p:nvSpPr>
          <p:cNvPr id="12" name="Oval 11"/>
          <p:cNvSpPr/>
          <p:nvPr/>
        </p:nvSpPr>
        <p:spPr>
          <a:xfrm>
            <a:off x="8366760" y="2404872"/>
            <a:ext cx="420624" cy="420624"/>
          </a:xfrm>
          <a:prstGeom prst="ellipse">
            <a:avLst/>
          </a:prstGeom>
          <a:solidFill>
            <a:srgbClr val="17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03336" y="2500884"/>
            <a:ext cx="347472" cy="210312"/>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01</a:t>
            </a:r>
          </a:p>
        </p:txBody>
      </p:sp>
      <p:sp>
        <p:nvSpPr>
          <p:cNvPr id="14" name="TextBox 13"/>
          <p:cNvSpPr txBox="1"/>
          <p:nvPr/>
        </p:nvSpPr>
        <p:spPr>
          <a:xfrm>
            <a:off x="8979408" y="2391156"/>
            <a:ext cx="2587752" cy="347472"/>
          </a:xfrm>
          <a:prstGeom prst="rect">
            <a:avLst/>
          </a:prstGeom>
          <a:noFill/>
        </p:spPr>
        <p:txBody>
          <a:bodyPr wrap="square" lIns="0" rIns="0" tIns="0" bIns="0">
            <a:spAutoFit/>
          </a:bodyPr>
          <a:lstStyle/>
          <a:p>
            <a:pPr algn="l">
              <a:lnSpc>
                <a:spcPct val="105000"/>
              </a:lnSpc>
              <a:spcBef>
                <a:spcPts val="0"/>
              </a:spcBef>
              <a:spcAft>
                <a:spcPts val="500"/>
              </a:spcAft>
              <a:defRPr sz="2200" b="1">
                <a:solidFill>
                  <a:srgbClr val="173A3E"/>
                </a:solidFill>
                <a:latin typeface="DejaVu Sans"/>
              </a:defRPr>
            </a:pPr>
            <a:r>
              <a:t>Seleccionar</a:t>
            </a:r>
          </a:p>
        </p:txBody>
      </p:sp>
      <p:sp>
        <p:nvSpPr>
          <p:cNvPr id="15" name="TextBox 14"/>
          <p:cNvSpPr txBox="1"/>
          <p:nvPr/>
        </p:nvSpPr>
        <p:spPr>
          <a:xfrm>
            <a:off x="8979408" y="2834639"/>
            <a:ext cx="2532888" cy="649224"/>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Un espacio real del mapa.</a:t>
            </a:r>
          </a:p>
        </p:txBody>
      </p:sp>
      <p:sp>
        <p:nvSpPr>
          <p:cNvPr id="16" name="Oval 15"/>
          <p:cNvSpPr/>
          <p:nvPr/>
        </p:nvSpPr>
        <p:spPr>
          <a:xfrm>
            <a:off x="8366760" y="3593591"/>
            <a:ext cx="420624" cy="420624"/>
          </a:xfrm>
          <a:prstGeom prst="ellipse">
            <a:avLst/>
          </a:prstGeom>
          <a:solidFill>
            <a:srgbClr val="17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3336" y="3689604"/>
            <a:ext cx="347472" cy="210312"/>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02</a:t>
            </a:r>
          </a:p>
        </p:txBody>
      </p:sp>
      <p:sp>
        <p:nvSpPr>
          <p:cNvPr id="18" name="TextBox 17"/>
          <p:cNvSpPr txBox="1"/>
          <p:nvPr/>
        </p:nvSpPr>
        <p:spPr>
          <a:xfrm>
            <a:off x="8979408" y="3579875"/>
            <a:ext cx="2587752" cy="347472"/>
          </a:xfrm>
          <a:prstGeom prst="rect">
            <a:avLst/>
          </a:prstGeom>
          <a:noFill/>
        </p:spPr>
        <p:txBody>
          <a:bodyPr wrap="square" lIns="0" rIns="0" tIns="0" bIns="0">
            <a:spAutoFit/>
          </a:bodyPr>
          <a:lstStyle/>
          <a:p>
            <a:pPr algn="l">
              <a:lnSpc>
                <a:spcPct val="105000"/>
              </a:lnSpc>
              <a:spcBef>
                <a:spcPts val="0"/>
              </a:spcBef>
              <a:spcAft>
                <a:spcPts val="500"/>
              </a:spcAft>
              <a:defRPr sz="2200" b="1">
                <a:solidFill>
                  <a:srgbClr val="173A3E"/>
                </a:solidFill>
                <a:latin typeface="DejaVu Sans"/>
              </a:defRPr>
            </a:pPr>
            <a:r>
              <a:t>Dimensionar</a:t>
            </a:r>
          </a:p>
        </p:txBody>
      </p:sp>
      <p:sp>
        <p:nvSpPr>
          <p:cNvPr id="19" name="TextBox 18"/>
          <p:cNvSpPr txBox="1"/>
          <p:nvPr/>
        </p:nvSpPr>
        <p:spPr>
          <a:xfrm>
            <a:off x="8979408" y="4023359"/>
            <a:ext cx="2532888" cy="649224"/>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Reservas + carga propuesta.</a:t>
            </a:r>
          </a:p>
        </p:txBody>
      </p:sp>
      <p:sp>
        <p:nvSpPr>
          <p:cNvPr id="20" name="Oval 19"/>
          <p:cNvSpPr/>
          <p:nvPr/>
        </p:nvSpPr>
        <p:spPr>
          <a:xfrm>
            <a:off x="8366760" y="4782312"/>
            <a:ext cx="420624" cy="420624"/>
          </a:xfrm>
          <a:prstGeom prst="ellipse">
            <a:avLst/>
          </a:prstGeom>
          <a:solidFill>
            <a:srgbClr val="176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3336" y="4878324"/>
            <a:ext cx="347472" cy="210312"/>
          </a:xfrm>
          <a:prstGeom prst="rect">
            <a:avLst/>
          </a:prstGeom>
          <a:noFill/>
        </p:spPr>
        <p:txBody>
          <a:bodyPr wrap="square" lIns="0" rIns="0" tIns="0" bIns="0">
            <a:spAutoFit/>
          </a:bodyPr>
          <a:lstStyle/>
          <a:p>
            <a:pPr algn="ctr">
              <a:lnSpc>
                <a:spcPct val="105000"/>
              </a:lnSpc>
              <a:spcBef>
                <a:spcPts val="0"/>
              </a:spcBef>
              <a:spcAft>
                <a:spcPts val="500"/>
              </a:spcAft>
              <a:defRPr sz="1100" b="1">
                <a:solidFill>
                  <a:srgbClr val="FFFFFF"/>
                </a:solidFill>
                <a:latin typeface="DejaVu Sans"/>
              </a:defRPr>
            </a:pPr>
            <a:r>
              <a:t>03</a:t>
            </a:r>
          </a:p>
        </p:txBody>
      </p:sp>
      <p:sp>
        <p:nvSpPr>
          <p:cNvPr id="22" name="TextBox 21"/>
          <p:cNvSpPr txBox="1"/>
          <p:nvPr/>
        </p:nvSpPr>
        <p:spPr>
          <a:xfrm>
            <a:off x="8979408" y="4768596"/>
            <a:ext cx="2587752" cy="347472"/>
          </a:xfrm>
          <a:prstGeom prst="rect">
            <a:avLst/>
          </a:prstGeom>
          <a:noFill/>
        </p:spPr>
        <p:txBody>
          <a:bodyPr wrap="square" lIns="0" rIns="0" tIns="0" bIns="0">
            <a:spAutoFit/>
          </a:bodyPr>
          <a:lstStyle/>
          <a:p>
            <a:pPr algn="l">
              <a:lnSpc>
                <a:spcPct val="105000"/>
              </a:lnSpc>
              <a:spcBef>
                <a:spcPts val="0"/>
              </a:spcBef>
              <a:spcAft>
                <a:spcPts val="500"/>
              </a:spcAft>
              <a:defRPr sz="2200" b="1">
                <a:solidFill>
                  <a:srgbClr val="173A3E"/>
                </a:solidFill>
                <a:latin typeface="DejaVu Sans"/>
              </a:defRPr>
            </a:pPr>
            <a:r>
              <a:t>Revisar</a:t>
            </a:r>
          </a:p>
        </p:txBody>
      </p:sp>
      <p:sp>
        <p:nvSpPr>
          <p:cNvPr id="23" name="TextBox 22"/>
          <p:cNvSpPr txBox="1"/>
          <p:nvPr/>
        </p:nvSpPr>
        <p:spPr>
          <a:xfrm>
            <a:off x="8979408" y="5212080"/>
            <a:ext cx="2532888" cy="649224"/>
          </a:xfrm>
          <a:prstGeom prst="rect">
            <a:avLst/>
          </a:prstGeom>
          <a:noFill/>
        </p:spPr>
        <p:txBody>
          <a:bodyPr wrap="square" lIns="0" rIns="0" tIns="0" bIns="0">
            <a:spAutoFit/>
          </a:bodyPr>
          <a:lstStyle/>
          <a:p>
            <a:pPr algn="l">
              <a:lnSpc>
                <a:spcPct val="105000"/>
              </a:lnSpc>
              <a:spcBef>
                <a:spcPts val="0"/>
              </a:spcBef>
              <a:spcAft>
                <a:spcPts val="500"/>
              </a:spcAft>
              <a:defRPr sz="1600" b="0">
                <a:solidFill>
                  <a:srgbClr val="536D70"/>
                </a:solidFill>
                <a:latin typeface="DejaVu Sans"/>
              </a:defRPr>
            </a:pPr>
            <a:r>
              <a:t>Brechas, borrador y SMS simulado.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B30"/>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BCE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173A3E"/>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FFFFFF"/>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A8C6BE"/>
                </a:solidFill>
                <a:latin typeface="DejaVu Sans"/>
              </a:defRPr>
            </a:pPr>
            <a:r>
              <a:t>EL VALOR PÚBLICO</a:t>
            </a:r>
          </a:p>
        </p:txBody>
      </p:sp>
      <p:sp>
        <p:nvSpPr>
          <p:cNvPr id="6" name="Rectangle 5"/>
          <p:cNvSpPr/>
          <p:nvPr/>
        </p:nvSpPr>
        <p:spPr>
          <a:xfrm>
            <a:off x="548640" y="6419088"/>
            <a:ext cx="11064240" cy="10972"/>
          </a:xfrm>
          <a:prstGeom prst="rect">
            <a:avLst/>
          </a:prstGeom>
          <a:solidFill>
            <a:srgbClr val="3150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RETO-01 · Cali Activa · Hackathon Smart City Expo Cali 2026</a:t>
            </a:r>
          </a:p>
        </p:txBody>
      </p:sp>
      <p:sp>
        <p:nvSpPr>
          <p:cNvPr id="8" name="TextBox 7"/>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FFFFFF"/>
                </a:solidFill>
                <a:latin typeface="DejaVu Sans"/>
              </a:defRPr>
            </a:pPr>
            <a:r>
              <a:t>10</a:t>
            </a:r>
          </a:p>
        </p:txBody>
      </p:sp>
      <p:sp>
        <p:nvSpPr>
          <p:cNvPr id="9" name="TextBox 8"/>
          <p:cNvSpPr txBox="1"/>
          <p:nvPr/>
        </p:nvSpPr>
        <p:spPr>
          <a:xfrm>
            <a:off x="585216" y="1371600"/>
            <a:ext cx="10881360" cy="1773936"/>
          </a:xfrm>
          <a:prstGeom prst="rect">
            <a:avLst/>
          </a:prstGeom>
          <a:noFill/>
        </p:spPr>
        <p:txBody>
          <a:bodyPr wrap="square" lIns="0" rIns="0" tIns="0" bIns="0">
            <a:spAutoFit/>
          </a:bodyPr>
          <a:lstStyle/>
          <a:p>
            <a:pPr algn="l">
              <a:lnSpc>
                <a:spcPct val="105000"/>
              </a:lnSpc>
              <a:spcBef>
                <a:spcPts val="0"/>
              </a:spcBef>
              <a:spcAft>
                <a:spcPts val="500"/>
              </a:spcAft>
              <a:defRPr sz="4000" b="1">
                <a:solidFill>
                  <a:srgbClr val="FFFFFF"/>
                </a:solidFill>
                <a:latin typeface="DejaVu Sans"/>
              </a:defRPr>
            </a:pPr>
            <a:r>
              <a:t>Un espacio preparado.</a:t>
            </a:r>
          </a:p>
          <a:p>
            <a:pPr algn="l">
              <a:lnSpc>
                <a:spcPct val="105000"/>
              </a:lnSpc>
              <a:spcBef>
                <a:spcPts val="0"/>
              </a:spcBef>
              <a:spcAft>
                <a:spcPts val="500"/>
              </a:spcAft>
              <a:defRPr sz="4000" b="1">
                <a:solidFill>
                  <a:srgbClr val="FFFFFF"/>
                </a:solidFill>
                <a:latin typeface="DejaVu Sans"/>
              </a:defRPr>
            </a:pPr>
            <a:r>
              <a:t>Una comunidad informada.</a:t>
            </a:r>
          </a:p>
        </p:txBody>
      </p:sp>
      <p:sp>
        <p:nvSpPr>
          <p:cNvPr id="10" name="Rectangle 9"/>
          <p:cNvSpPr/>
          <p:nvPr/>
        </p:nvSpPr>
        <p:spPr>
          <a:xfrm>
            <a:off x="594360" y="3694176"/>
            <a:ext cx="3337560" cy="10972"/>
          </a:xfrm>
          <a:prstGeom prst="rect">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959352"/>
            <a:ext cx="3474720" cy="292608"/>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BCEE7B"/>
                </a:solidFill>
                <a:latin typeface="DejaVu Sans"/>
              </a:defRPr>
            </a:pPr>
            <a:r>
              <a:t>EXPLICABLE</a:t>
            </a:r>
          </a:p>
        </p:txBody>
      </p:sp>
      <p:sp>
        <p:nvSpPr>
          <p:cNvPr id="12" name="TextBox 11"/>
          <p:cNvSpPr txBox="1"/>
          <p:nvPr/>
        </p:nvSpPr>
        <p:spPr>
          <a:xfrm>
            <a:off x="594360" y="4480560"/>
            <a:ext cx="3337560" cy="777240"/>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FFFFFF"/>
                </a:solidFill>
                <a:latin typeface="DejaVu Sans"/>
              </a:defRPr>
            </a:pPr>
            <a:r>
              <a:t>Cada propuesta muestra sus criterios.</a:t>
            </a:r>
          </a:p>
        </p:txBody>
      </p:sp>
      <p:sp>
        <p:nvSpPr>
          <p:cNvPr id="13" name="Rectangle 12"/>
          <p:cNvSpPr/>
          <p:nvPr/>
        </p:nvSpPr>
        <p:spPr>
          <a:xfrm>
            <a:off x="4407408" y="3694176"/>
            <a:ext cx="3337560" cy="10972"/>
          </a:xfrm>
          <a:prstGeom prst="rect">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3959352"/>
            <a:ext cx="3474720" cy="292608"/>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BCEE7B"/>
                </a:solidFill>
                <a:latin typeface="DejaVu Sans"/>
              </a:defRPr>
            </a:pPr>
            <a:r>
              <a:t>COORDINADO</a:t>
            </a:r>
          </a:p>
        </p:txBody>
      </p:sp>
      <p:sp>
        <p:nvSpPr>
          <p:cNvPr id="15" name="TextBox 14"/>
          <p:cNvSpPr txBox="1"/>
          <p:nvPr/>
        </p:nvSpPr>
        <p:spPr>
          <a:xfrm>
            <a:off x="4407408" y="4480560"/>
            <a:ext cx="3337560" cy="777240"/>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FFFFFF"/>
                </a:solidFill>
                <a:latin typeface="DejaVu Sans"/>
              </a:defRPr>
            </a:pPr>
            <a:r>
              <a:t>Necesidad, tarea y responsable propuesto.</a:t>
            </a:r>
          </a:p>
        </p:txBody>
      </p:sp>
      <p:sp>
        <p:nvSpPr>
          <p:cNvPr id="16" name="Rectangle 15"/>
          <p:cNvSpPr/>
          <p:nvPr/>
        </p:nvSpPr>
        <p:spPr>
          <a:xfrm>
            <a:off x="8220456" y="3694176"/>
            <a:ext cx="3337560" cy="10972"/>
          </a:xfrm>
          <a:prstGeom prst="rect">
            <a:avLst/>
          </a:prstGeom>
          <a:solidFill>
            <a:srgbClr val="527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3959352"/>
            <a:ext cx="3474720" cy="292608"/>
          </a:xfrm>
          <a:prstGeom prst="rect">
            <a:avLst/>
          </a:prstGeom>
          <a:noFill/>
        </p:spPr>
        <p:txBody>
          <a:bodyPr wrap="square" lIns="0" rIns="0" tIns="0" bIns="0">
            <a:spAutoFit/>
          </a:bodyPr>
          <a:lstStyle/>
          <a:p>
            <a:pPr algn="l">
              <a:lnSpc>
                <a:spcPct val="105000"/>
              </a:lnSpc>
              <a:spcBef>
                <a:spcPts val="0"/>
              </a:spcBef>
              <a:spcAft>
                <a:spcPts val="500"/>
              </a:spcAft>
              <a:defRPr sz="1300" b="1">
                <a:solidFill>
                  <a:srgbClr val="BCEE7B"/>
                </a:solidFill>
                <a:latin typeface="DejaVu Sans"/>
              </a:defRPr>
            </a:pPr>
            <a:r>
              <a:t>REVERSIBLE</a:t>
            </a:r>
          </a:p>
        </p:txBody>
      </p:sp>
      <p:sp>
        <p:nvSpPr>
          <p:cNvPr id="18" name="TextBox 17"/>
          <p:cNvSpPr txBox="1"/>
          <p:nvPr/>
        </p:nvSpPr>
        <p:spPr>
          <a:xfrm>
            <a:off x="8220456" y="4480560"/>
            <a:ext cx="3337560" cy="777240"/>
          </a:xfrm>
          <a:prstGeom prst="rect">
            <a:avLst/>
          </a:prstGeom>
          <a:noFill/>
        </p:spPr>
        <p:txBody>
          <a:bodyPr wrap="square" lIns="0" rIns="0" tIns="0" bIns="0">
            <a:spAutoFit/>
          </a:bodyPr>
          <a:lstStyle/>
          <a:p>
            <a:pPr algn="l">
              <a:lnSpc>
                <a:spcPct val="105000"/>
              </a:lnSpc>
              <a:spcBef>
                <a:spcPts val="0"/>
              </a:spcBef>
              <a:spcAft>
                <a:spcPts val="500"/>
              </a:spcAft>
              <a:defRPr sz="1800" b="0">
                <a:solidFill>
                  <a:srgbClr val="FFFFFF"/>
                </a:solidFill>
                <a:latin typeface="DejaVu Sans"/>
              </a:defRPr>
            </a:pPr>
            <a:r>
              <a:t>Revisión y retorno al uso cotidiano.</a:t>
            </a:r>
          </a:p>
        </p:txBody>
      </p:sp>
      <p:sp>
        <p:nvSpPr>
          <p:cNvPr id="19" name="TextBox 18"/>
          <p:cNvSpPr txBox="1"/>
          <p:nvPr/>
        </p:nvSpPr>
        <p:spPr>
          <a:xfrm>
            <a:off x="594360" y="5586984"/>
            <a:ext cx="10698480" cy="393192"/>
          </a:xfrm>
          <a:prstGeom prst="rect">
            <a:avLst/>
          </a:prstGeom>
          <a:noFill/>
        </p:spPr>
        <p:txBody>
          <a:bodyPr wrap="square" lIns="0" rIns="0" tIns="0" bIns="0">
            <a:spAutoFit/>
          </a:bodyPr>
          <a:lstStyle/>
          <a:p>
            <a:pPr algn="l">
              <a:lnSpc>
                <a:spcPct val="105000"/>
              </a:lnSpc>
              <a:spcBef>
                <a:spcPts val="0"/>
              </a:spcBef>
              <a:spcAft>
                <a:spcPts val="500"/>
              </a:spcAft>
              <a:defRPr sz="1800" b="1">
                <a:solidFill>
                  <a:srgbClr val="BCEE7B"/>
                </a:solidFill>
                <a:latin typeface="DejaVu Sans"/>
              </a:defRPr>
            </a:pPr>
            <a:r>
              <a:t>Siguiente paso: medir área útil, accesos y servicios de los espacios.</a:t>
            </a:r>
          </a:p>
        </p:txBody>
      </p:sp>
      <p:sp>
        <p:nvSpPr>
          <p:cNvPr id="20" name="TextBox 19"/>
          <p:cNvSpPr txBox="1"/>
          <p:nvPr/>
        </p:nvSpPr>
        <p:spPr>
          <a:xfrm>
            <a:off x="594360" y="6108192"/>
            <a:ext cx="1097280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A8C6BE"/>
                </a:solidFill>
                <a:latin typeface="DejaVu Sans"/>
              </a:defRPr>
            </a:pPr>
            <a:r>
              <a:t>Equipo: William Ortiz · Herlin Echeverry · Pablo Arango · Bryan Martínez Villamarín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ANEXO · ALCANCE</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Qué demuestra hoy</a:t>
            </a:r>
          </a:p>
          <a:p>
            <a:pPr algn="l">
              <a:lnSpc>
                <a:spcPct val="105000"/>
              </a:lnSpc>
              <a:spcBef>
                <a:spcPts val="0"/>
              </a:spcBef>
              <a:spcAft>
                <a:spcPts val="500"/>
              </a:spcAft>
              <a:defRPr sz="3200" b="1">
                <a:solidFill>
                  <a:srgbClr val="173A3E"/>
                </a:solidFill>
                <a:latin typeface="DejaVu Sans"/>
              </a:defRPr>
            </a:pPr>
            <a:r>
              <a:t>y qué sigue por verificar.</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RETO-01 · Cali Activa · Hackathon Smart City Expo Cali 2026</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11</a:t>
            </a:r>
          </a:p>
        </p:txBody>
      </p:sp>
      <p:sp>
        <p:nvSpPr>
          <p:cNvPr id="10" name="Rounded Rectangle 9"/>
          <p:cNvSpPr/>
          <p:nvPr/>
        </p:nvSpPr>
        <p:spPr>
          <a:xfrm>
            <a:off x="548640" y="2459736"/>
            <a:ext cx="5358384"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9632" y="2459736"/>
            <a:ext cx="5385816" cy="356616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2688336"/>
            <a:ext cx="2011680"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38628"/>
            <a:ext cx="1828800"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IMPLEMENTADO</a:t>
            </a:r>
          </a:p>
        </p:txBody>
      </p:sp>
      <p:sp>
        <p:nvSpPr>
          <p:cNvPr id="14" name="Rounded Rectangle 13"/>
          <p:cNvSpPr/>
          <p:nvPr/>
        </p:nvSpPr>
        <p:spPr>
          <a:xfrm>
            <a:off x="6446520" y="2688336"/>
            <a:ext cx="4151376" cy="292608"/>
          </a:xfrm>
          <a:prstGeom prst="roundRect">
            <a:avLst>
              <a:gd name="adj" fmla="val 9000"/>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6248" y="2738628"/>
            <a:ext cx="3968496" cy="192024"/>
          </a:xfrm>
          <a:prstGeom prst="rect">
            <a:avLst/>
          </a:prstGeom>
          <a:noFill/>
        </p:spPr>
        <p:txBody>
          <a:bodyPr wrap="square" lIns="0" rIns="0" tIns="0" bIns="0">
            <a:spAutoFit/>
          </a:bodyPr>
          <a:lstStyle/>
          <a:p>
            <a:pPr algn="l">
              <a:lnSpc>
                <a:spcPct val="105000"/>
              </a:lnSpc>
              <a:spcBef>
                <a:spcPts val="0"/>
              </a:spcBef>
              <a:spcAft>
                <a:spcPts val="500"/>
              </a:spcAft>
              <a:defRPr sz="900" b="1">
                <a:solidFill>
                  <a:srgbClr val="173A3E"/>
                </a:solidFill>
                <a:latin typeface="DejaVu Sans"/>
              </a:defRPr>
            </a:pPr>
            <a:r>
              <a:t>PENDIENTE / FUERA DE ESTA ETAPA</a:t>
            </a:r>
          </a:p>
        </p:txBody>
      </p:sp>
      <p:sp>
        <p:nvSpPr>
          <p:cNvPr id="16" name="TextBox 15"/>
          <p:cNvSpPr txBox="1"/>
          <p:nvPr/>
        </p:nvSpPr>
        <p:spPr>
          <a:xfrm>
            <a:off x="832104" y="3374136"/>
            <a:ext cx="462686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Inventario real y filtros por amenaza.</a:t>
            </a:r>
          </a:p>
        </p:txBody>
      </p:sp>
      <p:sp>
        <p:nvSpPr>
          <p:cNvPr id="17" name="TextBox 16"/>
          <p:cNvSpPr txBox="1"/>
          <p:nvPr/>
        </p:nvSpPr>
        <p:spPr>
          <a:xfrm>
            <a:off x="832104" y="3913632"/>
            <a:ext cx="462686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Balance de superficie y bloqueo por exceso.</a:t>
            </a:r>
          </a:p>
        </p:txBody>
      </p:sp>
      <p:sp>
        <p:nvSpPr>
          <p:cNvPr id="18" name="TextBox 17"/>
          <p:cNvSpPr txBox="1"/>
          <p:nvPr/>
        </p:nvSpPr>
        <p:spPr>
          <a:xfrm>
            <a:off x="832104" y="4453128"/>
            <a:ext cx="462686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Necesidades, brechas y exportación.</a:t>
            </a:r>
          </a:p>
        </p:txBody>
      </p:sp>
      <p:sp>
        <p:nvSpPr>
          <p:cNvPr id="19" name="TextBox 18"/>
          <p:cNvSpPr txBox="1"/>
          <p:nvPr/>
        </p:nvSpPr>
        <p:spPr>
          <a:xfrm>
            <a:off x="832104" y="4992624"/>
            <a:ext cx="462686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Educación y difusión SMS simulada.</a:t>
            </a:r>
          </a:p>
        </p:txBody>
      </p:sp>
      <p:sp>
        <p:nvSpPr>
          <p:cNvPr id="20" name="TextBox 19"/>
          <p:cNvSpPr txBox="1"/>
          <p:nvPr/>
        </p:nvSpPr>
        <p:spPr>
          <a:xfrm>
            <a:off x="6455664" y="3374136"/>
            <a:ext cx="467258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Área útil, accesos, aforos y servicios.</a:t>
            </a:r>
          </a:p>
        </p:txBody>
      </p:sp>
      <p:sp>
        <p:nvSpPr>
          <p:cNvPr id="21" name="TextBox 20"/>
          <p:cNvSpPr txBox="1"/>
          <p:nvPr/>
        </p:nvSpPr>
        <p:spPr>
          <a:xfrm>
            <a:off x="6455664" y="3913632"/>
            <a:ext cx="467258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Encaje de módulos y condiciones de carga.</a:t>
            </a:r>
          </a:p>
        </p:txBody>
      </p:sp>
      <p:sp>
        <p:nvSpPr>
          <p:cNvPr id="22" name="TextBox 21"/>
          <p:cNvSpPr txBox="1"/>
          <p:nvPr/>
        </p:nvSpPr>
        <p:spPr>
          <a:xfrm>
            <a:off x="6455664" y="4453128"/>
            <a:ext cx="467258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Disponibilidad y habilitación confirmadas.</a:t>
            </a:r>
          </a:p>
        </p:txBody>
      </p:sp>
      <p:sp>
        <p:nvSpPr>
          <p:cNvPr id="23" name="TextBox 22"/>
          <p:cNvSpPr txBox="1"/>
          <p:nvPr/>
        </p:nvSpPr>
        <p:spPr>
          <a:xfrm>
            <a:off x="6455664" y="4992624"/>
            <a:ext cx="4672584" cy="493776"/>
          </a:xfrm>
          <a:prstGeom prst="rect">
            <a:avLst/>
          </a:prstGeom>
          <a:noFill/>
        </p:spPr>
        <p:txBody>
          <a:bodyPr wrap="square" lIns="0" rIns="0" tIns="0" bIns="0">
            <a:spAutoFit/>
          </a:bodyPr>
          <a:lstStyle/>
          <a:p>
            <a:pPr algn="l">
              <a:lnSpc>
                <a:spcPct val="105000"/>
              </a:lnSpc>
              <a:spcBef>
                <a:spcPts val="0"/>
              </a:spcBef>
              <a:spcAft>
                <a:spcPts val="500"/>
              </a:spcAft>
              <a:defRPr sz="1700" b="0">
                <a:solidFill>
                  <a:srgbClr val="173A3E"/>
                </a:solidFill>
                <a:latin typeface="DejaVu Sans"/>
              </a:defRPr>
            </a:pPr>
            <a:r>
              <a:t>Envío SMS real e integración operativa.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Rounded Rectangle 1"/>
          <p:cNvSpPr/>
          <p:nvPr/>
        </p:nvSpPr>
        <p:spPr>
          <a:xfrm>
            <a:off x="502920" y="365760"/>
            <a:ext cx="310896" cy="310896"/>
          </a:xfrm>
          <a:prstGeom prst="roundRect">
            <a:avLst>
              <a:gd name="adj" fmla="val 9000"/>
            </a:avLst>
          </a:prstGeom>
          <a:solidFill>
            <a:srgbClr val="173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4068" y="438912"/>
            <a:ext cx="237744" cy="146304"/>
          </a:xfrm>
          <a:prstGeom prst="rect">
            <a:avLst/>
          </a:prstGeom>
          <a:noFill/>
        </p:spPr>
        <p:txBody>
          <a:bodyPr wrap="square" lIns="0" rIns="0" tIns="0" bIns="0">
            <a:spAutoFit/>
          </a:bodyPr>
          <a:lstStyle/>
          <a:p>
            <a:pPr algn="l">
              <a:lnSpc>
                <a:spcPct val="105000"/>
              </a:lnSpc>
              <a:spcBef>
                <a:spcPts val="0"/>
              </a:spcBef>
              <a:spcAft>
                <a:spcPts val="500"/>
              </a:spcAft>
              <a:defRPr sz="800" b="1">
                <a:solidFill>
                  <a:srgbClr val="FFFFFF"/>
                </a:solidFill>
                <a:latin typeface="DejaVu Sans"/>
              </a:defRPr>
            </a:pPr>
            <a:r>
              <a:t>CA</a:t>
            </a:r>
          </a:p>
        </p:txBody>
      </p:sp>
      <p:sp>
        <p:nvSpPr>
          <p:cNvPr id="4" name="TextBox 3"/>
          <p:cNvSpPr txBox="1"/>
          <p:nvPr/>
        </p:nvSpPr>
        <p:spPr>
          <a:xfrm>
            <a:off x="914400" y="406908"/>
            <a:ext cx="2743200" cy="182880"/>
          </a:xfrm>
          <a:prstGeom prst="rect">
            <a:avLst/>
          </a:prstGeom>
          <a:noFill/>
        </p:spPr>
        <p:txBody>
          <a:bodyPr wrap="square" lIns="0" rIns="0" tIns="0" bIns="0">
            <a:spAutoFit/>
          </a:bodyPr>
          <a:lstStyle/>
          <a:p>
            <a:pPr algn="l">
              <a:lnSpc>
                <a:spcPct val="105000"/>
              </a:lnSpc>
              <a:spcBef>
                <a:spcPts val="0"/>
              </a:spcBef>
              <a:spcAft>
                <a:spcPts val="500"/>
              </a:spcAft>
              <a:defRPr sz="1000" b="1">
                <a:solidFill>
                  <a:srgbClr val="173A3E"/>
                </a:solidFill>
                <a:latin typeface="DejaVu Sans"/>
              </a:defRPr>
            </a:pPr>
            <a:r>
              <a:t>CALI ACTIVA</a:t>
            </a:r>
          </a:p>
        </p:txBody>
      </p:sp>
      <p:sp>
        <p:nvSpPr>
          <p:cNvPr id="5" name="TextBox 4"/>
          <p:cNvSpPr txBox="1"/>
          <p:nvPr/>
        </p:nvSpPr>
        <p:spPr>
          <a:xfrm>
            <a:off x="7406640" y="406908"/>
            <a:ext cx="4206240" cy="182880"/>
          </a:xfrm>
          <a:prstGeom prst="rect">
            <a:avLst/>
          </a:prstGeom>
          <a:noFill/>
        </p:spPr>
        <p:txBody>
          <a:bodyPr wrap="square" lIns="0" rIns="0" tIns="0" bIns="0">
            <a:spAutoFit/>
          </a:bodyPr>
          <a:lstStyle/>
          <a:p>
            <a:pPr algn="r">
              <a:lnSpc>
                <a:spcPct val="105000"/>
              </a:lnSpc>
              <a:spcBef>
                <a:spcPts val="0"/>
              </a:spcBef>
              <a:spcAft>
                <a:spcPts val="500"/>
              </a:spcAft>
              <a:defRPr sz="900" b="0">
                <a:solidFill>
                  <a:srgbClr val="536D70"/>
                </a:solidFill>
                <a:latin typeface="DejaVu Sans"/>
              </a:defRPr>
            </a:pPr>
            <a:r>
              <a:t>ANEXO · FUENTES</a:t>
            </a:r>
          </a:p>
        </p:txBody>
      </p:sp>
      <p:sp>
        <p:nvSpPr>
          <p:cNvPr id="6" name="TextBox 5"/>
          <p:cNvSpPr txBox="1"/>
          <p:nvPr/>
        </p:nvSpPr>
        <p:spPr>
          <a:xfrm>
            <a:off x="548640" y="1033271"/>
            <a:ext cx="11064240" cy="1188720"/>
          </a:xfrm>
          <a:prstGeom prst="rect">
            <a:avLst/>
          </a:prstGeom>
          <a:noFill/>
        </p:spPr>
        <p:txBody>
          <a:bodyPr wrap="square" lIns="0" rIns="0" tIns="0" bIns="0">
            <a:spAutoFit/>
          </a:bodyPr>
          <a:lstStyle/>
          <a:p>
            <a:pPr algn="l">
              <a:lnSpc>
                <a:spcPct val="105000"/>
              </a:lnSpc>
              <a:spcBef>
                <a:spcPts val="0"/>
              </a:spcBef>
              <a:spcAft>
                <a:spcPts val="500"/>
              </a:spcAft>
              <a:defRPr sz="3200" b="1">
                <a:solidFill>
                  <a:srgbClr val="173A3E"/>
                </a:solidFill>
                <a:latin typeface="DejaVu Sans"/>
              </a:defRPr>
            </a:pPr>
            <a:r>
              <a:t>Datos, reglas y evidencia del prototipo.</a:t>
            </a:r>
          </a:p>
        </p:txBody>
      </p:sp>
      <p:sp>
        <p:nvSpPr>
          <p:cNvPr id="7" name="Rectangle 6"/>
          <p:cNvSpPr/>
          <p:nvPr/>
        </p:nvSpPr>
        <p:spPr>
          <a:xfrm>
            <a:off x="548640" y="6419088"/>
            <a:ext cx="11064240" cy="10972"/>
          </a:xfrm>
          <a:prstGeom prst="rect">
            <a:avLst/>
          </a:prstGeom>
          <a:solidFill>
            <a:srgbClr val="D4D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10241280" cy="25603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536D70"/>
                </a:solidFill>
                <a:latin typeface="DejaVu Sans"/>
              </a:defRPr>
            </a:pPr>
            <a:r>
              <a:t>RETO-01 · Cali Activa · Hackathon Smart City Expo Cali 2026</a:t>
            </a:r>
          </a:p>
        </p:txBody>
      </p:sp>
      <p:sp>
        <p:nvSpPr>
          <p:cNvPr id="9" name="TextBox 8"/>
          <p:cNvSpPr txBox="1"/>
          <p:nvPr/>
        </p:nvSpPr>
        <p:spPr>
          <a:xfrm>
            <a:off x="11045952" y="6510528"/>
            <a:ext cx="548640" cy="228600"/>
          </a:xfrm>
          <a:prstGeom prst="rect">
            <a:avLst/>
          </a:prstGeom>
          <a:noFill/>
        </p:spPr>
        <p:txBody>
          <a:bodyPr wrap="square" lIns="0" rIns="0" tIns="0" bIns="0">
            <a:spAutoFit/>
          </a:bodyPr>
          <a:lstStyle/>
          <a:p>
            <a:pPr algn="r">
              <a:lnSpc>
                <a:spcPct val="105000"/>
              </a:lnSpc>
              <a:spcBef>
                <a:spcPts val="0"/>
              </a:spcBef>
              <a:spcAft>
                <a:spcPts val="500"/>
              </a:spcAft>
              <a:defRPr sz="1000" b="1">
                <a:solidFill>
                  <a:srgbClr val="173A3E"/>
                </a:solidFill>
                <a:latin typeface="DejaVu Sans"/>
              </a:defRPr>
            </a:pPr>
            <a:r>
              <a:t>12</a:t>
            </a:r>
          </a:p>
        </p:txBody>
      </p:sp>
      <p:sp>
        <p:nvSpPr>
          <p:cNvPr id="10" name="TextBox 9"/>
          <p:cNvSpPr txBox="1"/>
          <p:nvPr/>
        </p:nvSpPr>
        <p:spPr>
          <a:xfrm>
            <a:off x="576072" y="2377440"/>
            <a:ext cx="457200" cy="274320"/>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01</a:t>
            </a:r>
          </a:p>
        </p:txBody>
      </p:sp>
      <p:sp>
        <p:nvSpPr>
          <p:cNvPr id="11" name="TextBox 10"/>
          <p:cNvSpPr txBox="1"/>
          <p:nvPr/>
        </p:nvSpPr>
        <p:spPr>
          <a:xfrm>
            <a:off x="1179576" y="2377440"/>
            <a:ext cx="9692640" cy="274320"/>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73A3E"/>
                </a:solidFill>
                <a:latin typeface="DejaVu Sans"/>
              </a:defRPr>
            </a:pPr>
            <a:r>
              <a:t>ESPACIO PÚBLICO EFECTIVO</a:t>
            </a:r>
          </a:p>
        </p:txBody>
      </p:sp>
      <p:sp>
        <p:nvSpPr>
          <p:cNvPr id="12" name="TextBox 11"/>
          <p:cNvSpPr txBox="1"/>
          <p:nvPr/>
        </p:nvSpPr>
        <p:spPr>
          <a:xfrm>
            <a:off x="1179576" y="2688336"/>
            <a:ext cx="9784080" cy="246888"/>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536D70"/>
                </a:solidFill>
                <a:latin typeface="DejaVu Sans"/>
              </a:defRPr>
            </a:pPr>
            <a:r>
              <a:t>Alcaldía de Cali · DAPM / IDESC · CC BY-SA</a:t>
            </a:r>
          </a:p>
        </p:txBody>
      </p:sp>
      <p:sp>
        <p:nvSpPr>
          <p:cNvPr id="13" name="TextBox 12"/>
          <p:cNvSpPr txBox="1"/>
          <p:nvPr/>
        </p:nvSpPr>
        <p:spPr>
          <a:xfrm>
            <a:off x="1179576" y="2944368"/>
            <a:ext cx="9875520" cy="21031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176E63"/>
                </a:solidFill>
                <a:latin typeface="DejaVu Sans"/>
              </a:defRPr>
            </a:pPr>
            <a:r>
              <a:rPr>
                <a:hlinkClick r:id="rId2"/>
              </a:rPr>
              <a:t>https://datos.cali.gov.co/dataset/epou-espacio-publico-efectivo</a:t>
            </a:r>
          </a:p>
        </p:txBody>
      </p:sp>
      <p:sp>
        <p:nvSpPr>
          <p:cNvPr id="14" name="TextBox 13"/>
          <p:cNvSpPr txBox="1"/>
          <p:nvPr/>
        </p:nvSpPr>
        <p:spPr>
          <a:xfrm>
            <a:off x="576072" y="3209544"/>
            <a:ext cx="457200" cy="274320"/>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02</a:t>
            </a:r>
          </a:p>
        </p:txBody>
      </p:sp>
      <p:sp>
        <p:nvSpPr>
          <p:cNvPr id="15" name="TextBox 14"/>
          <p:cNvSpPr txBox="1"/>
          <p:nvPr/>
        </p:nvSpPr>
        <p:spPr>
          <a:xfrm>
            <a:off x="1179576" y="3209544"/>
            <a:ext cx="9692640" cy="274320"/>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73A3E"/>
                </a:solidFill>
                <a:latin typeface="DejaVu Sans"/>
              </a:defRPr>
            </a:pPr>
            <a:r>
              <a:t>COMUNAS DE SANTIAGO DE CALI</a:t>
            </a:r>
          </a:p>
        </p:txBody>
      </p:sp>
      <p:sp>
        <p:nvSpPr>
          <p:cNvPr id="16" name="TextBox 15"/>
          <p:cNvSpPr txBox="1"/>
          <p:nvPr/>
        </p:nvSpPr>
        <p:spPr>
          <a:xfrm>
            <a:off x="1179576" y="3520440"/>
            <a:ext cx="9784080" cy="246888"/>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536D70"/>
                </a:solidFill>
                <a:latin typeface="DejaVu Sans"/>
              </a:defRPr>
            </a:pPr>
            <a:r>
              <a:t>DAPM / IDESC · CC BY</a:t>
            </a:r>
          </a:p>
        </p:txBody>
      </p:sp>
      <p:sp>
        <p:nvSpPr>
          <p:cNvPr id="17" name="TextBox 16"/>
          <p:cNvSpPr txBox="1"/>
          <p:nvPr/>
        </p:nvSpPr>
        <p:spPr>
          <a:xfrm>
            <a:off x="1179576" y="3776472"/>
            <a:ext cx="9875520" cy="21031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176E63"/>
                </a:solidFill>
                <a:latin typeface="DejaVu Sans"/>
              </a:defRPr>
            </a:pPr>
            <a:r>
              <a:rPr>
                <a:hlinkClick r:id="rId3"/>
              </a:rPr>
              <a:t>https://www.datos.gov.co/dataset/Comunas-de-Santiago-de-Cali/dx2g-2mhm</a:t>
            </a:r>
          </a:p>
        </p:txBody>
      </p:sp>
      <p:sp>
        <p:nvSpPr>
          <p:cNvPr id="18" name="TextBox 17"/>
          <p:cNvSpPr txBox="1"/>
          <p:nvPr/>
        </p:nvSpPr>
        <p:spPr>
          <a:xfrm>
            <a:off x="576072" y="4041648"/>
            <a:ext cx="457200" cy="274320"/>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03</a:t>
            </a:r>
          </a:p>
        </p:txBody>
      </p:sp>
      <p:sp>
        <p:nvSpPr>
          <p:cNvPr id="19" name="TextBox 18"/>
          <p:cNvSpPr txBox="1"/>
          <p:nvPr/>
        </p:nvSpPr>
        <p:spPr>
          <a:xfrm>
            <a:off x="1179576" y="4041648"/>
            <a:ext cx="9692640" cy="274320"/>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73A3E"/>
                </a:solidFill>
                <a:latin typeface="DejaVu Sans"/>
              </a:defRPr>
            </a:pPr>
            <a:r>
              <a:t>REFERENCIAS HUMANITARIAS</a:t>
            </a:r>
          </a:p>
        </p:txBody>
      </p:sp>
      <p:sp>
        <p:nvSpPr>
          <p:cNvPr id="20" name="TextBox 19"/>
          <p:cNvSpPr txBox="1"/>
          <p:nvPr/>
        </p:nvSpPr>
        <p:spPr>
          <a:xfrm>
            <a:off x="1179576" y="4352544"/>
            <a:ext cx="9784080" cy="246888"/>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536D70"/>
                </a:solidFill>
                <a:latin typeface="DejaVu Sans"/>
              </a:defRPr>
            </a:pPr>
            <a:r>
              <a:t>Manual Esfera 2018 · agua, saneamiento y alojamiento</a:t>
            </a:r>
          </a:p>
        </p:txBody>
      </p:sp>
      <p:sp>
        <p:nvSpPr>
          <p:cNvPr id="21" name="TextBox 20"/>
          <p:cNvSpPr txBox="1"/>
          <p:nvPr/>
        </p:nvSpPr>
        <p:spPr>
          <a:xfrm>
            <a:off x="1179576" y="4608576"/>
            <a:ext cx="9875520" cy="21031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176E63"/>
                </a:solidFill>
                <a:latin typeface="DejaVu Sans"/>
              </a:defRPr>
            </a:pPr>
            <a:r>
              <a:rPr>
                <a:hlinkClick r:id="rId4"/>
              </a:rPr>
              <a:t>https://spherestandards.org/wp-content/uploads/Sphere-Handbook-2018-EN.pdf</a:t>
            </a:r>
          </a:p>
        </p:txBody>
      </p:sp>
      <p:sp>
        <p:nvSpPr>
          <p:cNvPr id="22" name="TextBox 21"/>
          <p:cNvSpPr txBox="1"/>
          <p:nvPr/>
        </p:nvSpPr>
        <p:spPr>
          <a:xfrm>
            <a:off x="576072" y="4873752"/>
            <a:ext cx="457200" cy="274320"/>
          </a:xfrm>
          <a:prstGeom prst="rect">
            <a:avLst/>
          </a:prstGeom>
          <a:noFill/>
        </p:spPr>
        <p:txBody>
          <a:bodyPr wrap="square" lIns="0" rIns="0" tIns="0" bIns="0">
            <a:spAutoFit/>
          </a:bodyPr>
          <a:lstStyle/>
          <a:p>
            <a:pPr algn="l">
              <a:lnSpc>
                <a:spcPct val="105000"/>
              </a:lnSpc>
              <a:spcBef>
                <a:spcPts val="0"/>
              </a:spcBef>
              <a:spcAft>
                <a:spcPts val="500"/>
              </a:spcAft>
              <a:defRPr sz="1200" b="1">
                <a:solidFill>
                  <a:srgbClr val="176E63"/>
                </a:solidFill>
                <a:latin typeface="DejaVu Sans"/>
              </a:defRPr>
            </a:pPr>
            <a:r>
              <a:t>04</a:t>
            </a:r>
          </a:p>
        </p:txBody>
      </p:sp>
      <p:sp>
        <p:nvSpPr>
          <p:cNvPr id="23" name="TextBox 22"/>
          <p:cNvSpPr txBox="1"/>
          <p:nvPr/>
        </p:nvSpPr>
        <p:spPr>
          <a:xfrm>
            <a:off x="1179576" y="4873752"/>
            <a:ext cx="9692640" cy="274320"/>
          </a:xfrm>
          <a:prstGeom prst="rect">
            <a:avLst/>
          </a:prstGeom>
          <a:noFill/>
        </p:spPr>
        <p:txBody>
          <a:bodyPr wrap="square" lIns="0" rIns="0" tIns="0" bIns="0">
            <a:spAutoFit/>
          </a:bodyPr>
          <a:lstStyle/>
          <a:p>
            <a:pPr algn="l">
              <a:lnSpc>
                <a:spcPct val="105000"/>
              </a:lnSpc>
              <a:spcBef>
                <a:spcPts val="0"/>
              </a:spcBef>
              <a:spcAft>
                <a:spcPts val="500"/>
              </a:spcAft>
              <a:defRPr sz="1400" b="1">
                <a:solidFill>
                  <a:srgbClr val="173A3E"/>
                </a:solidFill>
                <a:latin typeface="DejaVu Sans"/>
              </a:defRPr>
            </a:pPr>
            <a:r>
              <a:t>BITÁCORA Y CATÁLOGO DEL PROYECTO</a:t>
            </a:r>
          </a:p>
        </p:txBody>
      </p:sp>
      <p:sp>
        <p:nvSpPr>
          <p:cNvPr id="24" name="TextBox 23"/>
          <p:cNvSpPr txBox="1"/>
          <p:nvPr/>
        </p:nvSpPr>
        <p:spPr>
          <a:xfrm>
            <a:off x="1179576" y="5184648"/>
            <a:ext cx="9784080" cy="246888"/>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536D70"/>
                </a:solidFill>
                <a:latin typeface="DejaVu Sans"/>
              </a:defRPr>
            </a:pPr>
            <a:r>
              <a:t>docs/PROYECTO.md · prototipo/datos/FUENTES.md</a:t>
            </a:r>
          </a:p>
        </p:txBody>
      </p:sp>
      <p:sp>
        <p:nvSpPr>
          <p:cNvPr id="25" name="TextBox 24"/>
          <p:cNvSpPr txBox="1"/>
          <p:nvPr/>
        </p:nvSpPr>
        <p:spPr>
          <a:xfrm>
            <a:off x="1179576" y="5440680"/>
            <a:ext cx="9875520" cy="210312"/>
          </a:xfrm>
          <a:prstGeom prst="rect">
            <a:avLst/>
          </a:prstGeom>
          <a:noFill/>
        </p:spPr>
        <p:txBody>
          <a:bodyPr wrap="square" lIns="0" rIns="0" tIns="0" bIns="0">
            <a:spAutoFit/>
          </a:bodyPr>
          <a:lstStyle/>
          <a:p>
            <a:pPr algn="l">
              <a:lnSpc>
                <a:spcPct val="105000"/>
              </a:lnSpc>
              <a:spcBef>
                <a:spcPts val="0"/>
              </a:spcBef>
              <a:spcAft>
                <a:spcPts val="500"/>
              </a:spcAft>
              <a:defRPr sz="900" b="0">
                <a:solidFill>
                  <a:srgbClr val="176E63"/>
                </a:solidFill>
                <a:latin typeface="DejaVu Sans"/>
              </a:defRPr>
            </a:pPr>
            <a:r>
              <a:rPr>
                <a:hlinkClick r:id="rId5"/>
              </a:rPr>
              <a:t>https://github.com/leonidas452528/hackaton-camaracomercio2026</a:t>
            </a:r>
          </a:p>
        </p:txBody>
      </p:sp>
      <p:sp>
        <p:nvSpPr>
          <p:cNvPr id="26" name="TextBox 25"/>
          <p:cNvSpPr txBox="1"/>
          <p:nvPr/>
        </p:nvSpPr>
        <p:spPr>
          <a:xfrm>
            <a:off x="576072" y="5980176"/>
            <a:ext cx="10972800" cy="228600"/>
          </a:xfrm>
          <a:prstGeom prst="rect">
            <a:avLst/>
          </a:prstGeom>
          <a:noFill/>
        </p:spPr>
        <p:txBody>
          <a:bodyPr wrap="square" lIns="0" rIns="0" tIns="0" bIns="0">
            <a:spAutoFit/>
          </a:bodyPr>
          <a:lstStyle/>
          <a:p>
            <a:pPr algn="l">
              <a:lnSpc>
                <a:spcPct val="105000"/>
              </a:lnSpc>
              <a:spcBef>
                <a:spcPts val="0"/>
              </a:spcBef>
              <a:spcAft>
                <a:spcPts val="500"/>
              </a:spcAft>
              <a:defRPr sz="1200" b="0">
                <a:solidFill>
                  <a:srgbClr val="536D70"/>
                </a:solidFill>
                <a:latin typeface="DejaVu Sans"/>
              </a:defRPr>
            </a:pPr>
            <a:r>
              <a:t>Corte del inventario: 25 sep 2026 · Adaptaciones cartográficas: CC BY-SA 4.0 · Sin datos personales.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 Activa — Del espacio público al cuidado</dc:title>
  <dc:subject>Pitch del prototipo multiamenaza de Cali Activa</dc:subject>
  <dc:creator>Equipo Cali Activa</dc:creator>
  <cp:keywords>Cali, espacio público, acopio, prevención, prototipo</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